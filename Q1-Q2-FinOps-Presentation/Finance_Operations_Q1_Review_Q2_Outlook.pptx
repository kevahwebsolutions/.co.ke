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b35ff0-944e-83f7-fe77-5727e61f998b}">
          <p14:sldIdLst>
            <p14:sldId id="256"/>
            <p14:sldId id="257"/>
          </p14:sldIdLst>
        </p14:section>
        <p14:section name="Q1 review" id="{6e0ca945-eb0f-0c0b-b8c5-fe2937e5689f}">
          <p14:sldIdLst>
            <p14:sldId id="258"/>
            <p14:sldId id="259"/>
          </p14:sldIdLst>
        </p14:section>
        <p14:section name="Finance" id="{efb5c043-039c-1c78-dcca-37927bf45555}">
          <p14:sldIdLst>
            <p14:sldId id="260"/>
            <p14:sldId id="261"/>
            <p14:sldId id="262"/>
            <p14:sldId id="263"/>
          </p14:sldIdLst>
        </p14:section>
        <p14:section name="Operations and people" id="{a6af1913-b0c8-a248-ba9b-de0c38d8ce14}">
          <p14:sldIdLst>
            <p14:sldId id="264"/>
            <p14:sldId id="265"/>
            <p14:sldId id="266"/>
          </p14:sldIdLst>
        </p14:section>
        <p14:section name="Q2 outlook" id="{14cf850d-0424-750a-5740-8ffb9895f78f}">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7C8A"/>
                </a:solidFill>
                <a:latin typeface="+mn-lt"/>
              </a:defRPr>
            </a:pPr>
            <a:r>
              <a:rPr sz="1200" b="0" i="0" u="none" strike="noStrike">
                <a:solidFill>
                  <a:srgbClr val="5C7C8A"/>
                </a:solidFill>
                <a:latin typeface="+mn-lt"/>
              </a:rPr>
              <a:t>KES millions</a:t>
            </a:r>
          </a:p>
        </c:rich>
      </c:tx>
      <c:layout/>
      <c:overlay val="0"/>
    </c:title>
    <c:autoTitleDeleted val="0"/>
    <c:plotArea>
      <c:layout/>
      <c:barChart>
        <c:barDir val="col"/>
        <c:grouping val="clustered"/>
        <c:varyColors val="0"/>
        <c:ser>
          <c:idx val="0"/>
          <c:order val="0"/>
          <c:tx>
            <c:strRef>
              <c:f>Sheet1!$B$1</c:f>
              <c:strCache>
                <c:ptCount val="1"/>
                <c:pt idx="0">
                  <c:v>Q1 target</c:v>
                </c:pt>
              </c:strCache>
            </c:strRef>
          </c:tx>
          <c:spPr>
            <a:solidFill>
              <a:srgbClr val="A8C5C0"/>
            </a:solidFill>
            <a:effectLst/>
          </c:spPr>
          <c:invertIfNegative val="0"/>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CaaS eBooks</c:v>
                  </c:pt>
                  <c:pt idx="1">
                    <c:v>Elimu Pepe</c:v>
                  </c:pt>
                  <c:pt idx="2">
                    <c:v>LoHo Devices</c:v>
                  </c:pt>
                  <c:pt idx="3">
                    <c:v>MTN Academy (Ug)</c:v>
                  </c:pt>
                </c:lvl>
              </c:multiLvlStrCache>
            </c:multiLvlStrRef>
          </c:cat>
          <c:val>
            <c:numRef>
              <c:f>Sheet1!$B$2:$B$5</c:f>
              <c:numCache>
                <c:formatCode>General</c:formatCode>
                <c:ptCount val="4"/>
                <c:pt idx="0">
                  <c:v>0.923</c:v>
                </c:pt>
                <c:pt idx="1">
                  <c:v>3.85</c:v>
                </c:pt>
                <c:pt idx="2">
                  <c:v>1.2005</c:v>
                </c:pt>
                <c:pt idx="3">
                  <c:v>0</c:v>
                </c:pt>
              </c:numCache>
            </c:numRef>
          </c:val>
        </c:ser>
        <c:ser>
          <c:idx val="1"/>
          <c:order val="1"/>
          <c:tx>
            <c:strRef>
              <c:f>Sheet1!$C$1</c:f>
              <c:strCache>
                <c:ptCount val="1"/>
                <c:pt idx="0">
                  <c:v>Q1 achieved</c:v>
                </c:pt>
              </c:strCache>
            </c:strRef>
          </c:tx>
          <c:spPr>
            <a:solidFill>
              <a:srgbClr val="1B7F79"/>
            </a:solidFill>
            <a:effectLst/>
          </c:spPr>
          <c:invertIfNegative val="0"/>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CaaS eBooks</c:v>
                  </c:pt>
                  <c:pt idx="1">
                    <c:v>Elimu Pepe</c:v>
                  </c:pt>
                  <c:pt idx="2">
                    <c:v>LoHo Devices</c:v>
                  </c:pt>
                  <c:pt idx="3">
                    <c:v>MTN Academy (Ug)</c:v>
                  </c:pt>
                </c:lvl>
              </c:multiLvlStrCache>
            </c:multiLvlStrRef>
          </c:cat>
          <c:val>
            <c:numRef>
              <c:f>Sheet1!$C$2:$C$5</c:f>
              <c:numCache>
                <c:formatCode>General</c:formatCode>
                <c:ptCount val="4"/>
                <c:pt idx="0">
                  <c:v>1.359</c:v>
                </c:pt>
                <c:pt idx="1">
                  <c:v>0.82</c:v>
                </c:pt>
                <c:pt idx="2">
                  <c:v>0.107</c:v>
                </c:pt>
                <c:pt idx="3">
                  <c:v>1.5</c:v>
                </c:pt>
              </c:numCache>
            </c:numRef>
          </c:val>
        </c:ser>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D9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C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7C8A"/>
                </a:solidFill>
                <a:latin typeface="+mn-lt"/>
              </a:defRPr>
            </a:pPr>
            <a:r>
              <a:rPr sz="1200" b="0" i="0" u="none" strike="noStrike">
                <a:solidFill>
                  <a:srgbClr val="5C7C8A"/>
                </a:solidFill>
                <a:latin typeface="+mn-lt"/>
              </a:rPr>
              <a:t>Share of KES 3.79M Q1 sales</a:t>
            </a:r>
          </a:p>
        </c:rich>
      </c:tx>
      <c:layout/>
      <c:overlay val="0"/>
    </c:title>
    <c:autoTitleDeleted val="0"/>
    <c:plotArea>
      <c:layout/>
      <c:doughnutChart>
        <c:varyColors val="1"/>
        <c:ser>
          <c:idx val="0"/>
          <c:order val="0"/>
          <c:tx>
            <c:strRef>
              <c:f>Sheet1!$B$1</c:f>
              <c:strCache>
                <c:ptCount val="1"/>
                <c:pt idx="0">
                  <c:v>Q1 sales mix</c:v>
                </c:pt>
              </c:strCache>
            </c:strRef>
          </c:tx>
          <c:spPr>
            <a:solidFill>
              <a:schemeClr val="accent1"/>
            </a:solidFill>
            <a:ln w="9525" cap="flat">
              <a:solidFill>
                <a:srgbClr val="F9F9F9"/>
              </a:solidFill>
              <a:prstDash val="solid"/>
              <a:round/>
            </a:ln>
            <a:effectLst/>
          </c:spPr>
          <c:dPt>
            <c:idx val="0"/>
            <c:bubble3D val="0"/>
            <c:spPr>
              <a:solidFill>
                <a:srgbClr val="0B3C49"/>
              </a:solidFill>
              <a:effectLst/>
            </c:spPr>
          </c:dPt>
          <c:dPt>
            <c:idx val="1"/>
            <c:bubble3D val="0"/>
            <c:spPr>
              <a:solidFill>
                <a:srgbClr val="1B7F79"/>
              </a:solidFill>
              <a:effectLst/>
            </c:spPr>
          </c:dPt>
          <c:dPt>
            <c:idx val="2"/>
            <c:bubble3D val="0"/>
            <c:spPr>
              <a:solidFill>
                <a:srgbClr val="5C7C8A"/>
              </a:solidFill>
              <a:effectLst/>
            </c:spPr>
          </c:dPt>
          <c:dPt>
            <c:idx val="3"/>
            <c:bubble3D val="0"/>
            <c:spPr>
              <a:solidFill>
                <a:srgbClr val="D1495B"/>
              </a:solidFill>
              <a:effectLst/>
            </c:spPr>
          </c:dPt>
          <c:dLbls>
            <c:dLbl>
              <c:idx val="0"/>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MTN Academy (Ug)</c:v>
                </c:pt>
                <c:pt idx="1">
                  <c:v>CaaS eBooks</c:v>
                </c:pt>
                <c:pt idx="2">
                  <c:v>Elimu Pepe</c:v>
                </c:pt>
                <c:pt idx="3">
                  <c:v>LoHo Devices</c:v>
                </c:pt>
              </c:strCache>
            </c:strRef>
          </c:cat>
          <c:val>
            <c:numRef>
              <c:f>Sheet1!$B$2:$B$5</c:f>
              <c:numCache>
                <c:ptCount val="4"/>
                <c:pt idx="0">
                  <c:v>1500000</c:v>
                </c:pt>
                <c:pt idx="1">
                  <c:v>1359161</c:v>
                </c:pt>
                <c:pt idx="2">
                  <c:v>819797</c:v>
                </c:pt>
                <c:pt idx="3">
                  <c:v>107390</c:v>
                </c:pt>
              </c:numCache>
            </c:numRef>
          </c:val>
        </c:ser>
        <c:firstSliceAng val="0"/>
        <c:holeSize val="55"/>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7C8A"/>
                </a:solidFill>
                <a:latin typeface="+mn-lt"/>
              </a:defRPr>
            </a:pPr>
            <a:r>
              <a:rPr sz="1200" b="0" i="0" u="none" strike="noStrike">
                <a:solidFill>
                  <a:srgbClr val="5C7C8A"/>
                </a:solidFill>
                <a:latin typeface="+mn-lt"/>
              </a:rPr>
              <a:t>KES millions</a:t>
            </a:r>
          </a:p>
        </c:rich>
      </c:tx>
      <c:layout/>
      <c:overlay val="0"/>
    </c:title>
    <c:autoTitleDeleted val="0"/>
    <c:plotArea>
      <c:layout/>
      <c:barChart>
        <c:barDir val="bar"/>
        <c:grouping val="clustered"/>
        <c:varyColors val="0"/>
        <c:ser>
          <c:idx val="0"/>
          <c:order val="0"/>
          <c:tx>
            <c:strRef>
              <c:f>Sheet1!$B$1</c:f>
              <c:strCache>
                <c:ptCount val="1"/>
                <c:pt idx="0">
                  <c:v>Q1 operating costs</c:v>
                </c:pt>
              </c:strCache>
            </c:strRef>
          </c:tx>
          <c:spPr>
            <a:solidFill>
              <a:srgbClr val="1B7F79"/>
            </a:solidFill>
            <a:effectLst/>
          </c:spPr>
          <c:invertIfNegative val="0"/>
          <c:dLbls>
            <c:numFmt formatCode="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Staff costs</c:v>
                  </c:pt>
                  <c:pt idx="1">
                    <c:v>Amortisation (software)</c:v>
                  </c:pt>
                  <c:pt idx="2">
                    <c:v>Other admin</c:v>
                  </c:pt>
                  <c:pt idx="3">
                    <c:v>Sales &amp; marketing</c:v>
                  </c:pt>
                  <c:pt idx="4">
                    <c:v>Telephone &amp; internet</c:v>
                  </c:pt>
                  <c:pt idx="5">
                    <c:v>Depreciation &amp; repairs</c:v>
                  </c:pt>
                </c:lvl>
              </c:multiLvlStrCache>
            </c:multiLvlStrRef>
          </c:cat>
          <c:val>
            <c:numRef>
              <c:f>Sheet1!$B$2:$B$7</c:f>
              <c:numCache>
                <c:formatCode>General</c:formatCode>
                <c:ptCount val="6"/>
                <c:pt idx="0">
                  <c:v>2.106</c:v>
                </c:pt>
                <c:pt idx="1">
                  <c:v>1.882</c:v>
                </c:pt>
                <c:pt idx="2">
                  <c:v>0.903</c:v>
                </c:pt>
                <c:pt idx="3">
                  <c:v>0.262</c:v>
                </c:pt>
                <c:pt idx="4">
                  <c:v>0.035</c:v>
                </c:pt>
                <c:pt idx="5">
                  <c:v>0.015</c:v>
                </c:pt>
              </c:numCache>
            </c:numRef>
          </c:val>
        </c:ser>
        <c:dLbls>
          <c:numFmt formatCode="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noMultiLvlLbl val="1"/>
      </c:catAx>
      <c:valAx>
        <c:axId val="2094734552"/>
        <c:scaling>
          <c:orientation val="minMax"/>
          <c:max val="2.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7C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7C8A"/>
                </a:solidFill>
                <a:latin typeface="+mn-lt"/>
              </a:defRPr>
            </a:pPr>
            <a:r>
              <a:rPr sz="1200" b="0" i="0" u="none" strike="noStrike">
                <a:solidFill>
                  <a:srgbClr val="5C7C8A"/>
                </a:solidFill>
                <a:latin typeface="+mn-lt"/>
              </a:rPr>
              <a:t>Headcount by month</a:t>
            </a:r>
          </a:p>
        </c:rich>
      </c:tx>
      <c:layout/>
      <c:overlay val="0"/>
    </c:title>
    <c:autoTitleDeleted val="0"/>
    <c:plotArea>
      <c:layout/>
      <c:barChart>
        <c:barDir val="col"/>
        <c:grouping val="stacked"/>
        <c:varyColors val="0"/>
        <c:ser>
          <c:idx val="0"/>
          <c:order val="0"/>
          <c:tx>
            <c:strRef>
              <c:f>Sheet1!$B$1</c:f>
              <c:strCache>
                <c:ptCount val="1"/>
                <c:pt idx="0">
                  <c:v>Permanent</c:v>
                </c:pt>
              </c:strCache>
            </c:strRef>
          </c:tx>
          <c:spPr>
            <a:solidFill>
              <a:srgbClr val="0B3C49"/>
            </a:solidFill>
            <a:effectLst/>
          </c:spPr>
          <c:invertIfNegative val="0"/>
          <c:dLbls>
            <c:numFmt formatCode="#,##0"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July</c:v>
                  </c:pt>
                  <c:pt idx="1">
                    <c:v>August</c:v>
                  </c:pt>
                  <c:pt idx="2">
                    <c:v>September</c:v>
                  </c:pt>
                </c:lvl>
              </c:multiLvlStrCache>
            </c:multiLvlStrRef>
          </c:cat>
          <c:val>
            <c:numRef>
              <c:f>Sheet1!$B$2:$B$4</c:f>
              <c:numCache>
                <c:formatCode>General</c:formatCode>
                <c:ptCount val="3"/>
                <c:pt idx="0">
                  <c:v>12</c:v>
                </c:pt>
                <c:pt idx="1">
                  <c:v>12</c:v>
                </c:pt>
                <c:pt idx="2">
                  <c:v>12</c:v>
                </c:pt>
              </c:numCache>
            </c:numRef>
          </c:val>
        </c:ser>
        <c:ser>
          <c:idx val="1"/>
          <c:order val="1"/>
          <c:tx>
            <c:strRef>
              <c:f>Sheet1!$C$1</c:f>
              <c:strCache>
                <c:ptCount val="1"/>
                <c:pt idx="0">
                  <c:v>Consultants</c:v>
                </c:pt>
              </c:strCache>
            </c:strRef>
          </c:tx>
          <c:spPr>
            <a:solidFill>
              <a:srgbClr val="5C7C8A"/>
            </a:solidFill>
            <a:effectLst/>
          </c:spPr>
          <c:invertIfNegative val="0"/>
          <c:dLbls>
            <c:numFmt formatCode="#,##0"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July</c:v>
                  </c:pt>
                  <c:pt idx="1">
                    <c:v>August</c:v>
                  </c:pt>
                  <c:pt idx="2">
                    <c:v>September</c:v>
                  </c:pt>
                </c:lvl>
              </c:multiLvlStrCache>
            </c:multiLvlStrRef>
          </c:cat>
          <c:val>
            <c:numRef>
              <c:f>Sheet1!$C$2:$C$4</c:f>
              <c:numCache>
                <c:formatCode>General</c:formatCode>
                <c:ptCount val="3"/>
                <c:pt idx="0">
                  <c:v>3</c:v>
                </c:pt>
                <c:pt idx="1">
                  <c:v>4</c:v>
                </c:pt>
                <c:pt idx="2">
                  <c:v>5</c:v>
                </c:pt>
              </c:numCache>
            </c:numRef>
          </c:val>
        </c:ser>
        <c:dLbls>
          <c:numFmt formatCode="#,##0"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noMultiLvlLbl val="1"/>
      </c:catAx>
      <c:valAx>
        <c:axId val="2094734552"/>
        <c:scaling>
          <c:orientation val="minMax"/>
          <c:max val="20"/>
        </c:scaling>
        <c:delete val="0"/>
        <c:axPos val="l"/>
        <c:majorGridlines>
          <c:spPr>
            <a:ln w="9525" cap="flat">
              <a:solidFill>
                <a:srgbClr val="D9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C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review Q1 results across sales, finance and people operations, then agree Q2 priorities and the decisions needed. Allow about 25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63.4% of target, KES 2.19M short. Be clear that the operating result is a management view from the chart of accounts, unaudited and before tax. The point to land: revenue is concentrated in two lines, and the two lines that missed are the ones with the largest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Elimu Pepe carried 64% of the total target (KES 3.85M of 5.97M), so its miss explains most of the gap. MTN Academy had no target; without it the quarter would have been KES 2.29M, or 38% of target. Do not name individual staff on screen; keep staff-level results for the sales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risk: one unbudgeted contract is the largest line. Ask Sales whether MTN Academy is a contract with further billing in Q2 or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Q1 net changes from the chart of accounts. Amortisation: KES 1.88M in administration plus KES 0.13M in cost of sales (software). The cash-basis loss is an approximation to show the operating gap excluding non-cash charges. Check: 3,786,384 - 1,647,622 = 2,138,762; opex 5,202,977.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shares of KES 5,202,977 operating costs. Bank charges of KES 83K in a quarter are high relative to cash held; worth a check on tariffs and the number of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what the payroll payables of KES 19.3M are made of: net salary control 3.33M, payroll payables 11.68M and statutory control accounts about 4.2M. Several statutory accounts show no Q1 movement, so check with payroll whether remittances were posted. Do not present these as arrears until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time before the meeting, resolve item 1 and replace the wording with the outcome. Item 2: this is a compliance exposure if remittances are late, so frame it as a plan, not a blame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additions are consultants, so the permanent headcount is unchanged at 12. Point out that consultant spend sits in general consultancy (KES 345K in Q1), so the cost impact shows up there, not in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needed in Q2: resume BA recruitment to 5 of 5 or close at 3. Tie it to the Safaricom outlet sales contribution before deciding. Confirm the developer headcount target with the technical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BEFORE PRESENTING: the HR report summary says eNPS of 40, while the metrics table and the conclusion say -75%. This slide uses -75 (table). Confirm with HR which is correct, and fix this slide if needed. With a 50% response rate, treat the scores as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HR's own plan for Q2 is the performance reviews and the engagement calendar. The other items are proposals from Finance and Operations for discussion. Edit the list to match what you can actually commit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Q2 targets were in the pack, so none are invented here. Fill the last column once agreed with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inside each month are not fixed in the source documents. Add owners and dates once the team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each decision in turn and recording the owner and date.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840480"/>
            <a:ext cx="1069848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LoHo Learning  |  Finance &amp; Operations  |  Q1 FY2026/27 review, Q2 outlook</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Finance &amp; Operations: Q1 review and Q2 outlook</a:t>
            </a:r>
            <a:endParaRPr lang="en-US" sz="4400" dirty="0"/>
          </a:p>
        </p:txBody>
      </p:sp>
      <p:sp>
        <p:nvSpPr>
          <p:cNvPr id="3" name="Text 0"/>
          <p:cNvSpPr/>
          <p:nvPr>
            <p:ph idx="101" type="body" hasCustomPrompt="1"/>
          </p:nvPr>
        </p:nvSpPr>
        <p:spPr>
          <a:xfrm>
            <a:off x="731520" y="384048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Q1 FY2026/27 (July to September 2026)  |  Outlook: October to December 2026</a:t>
            </a:r>
            <a:endParaRPr lang="en-US" sz="2000" dirty="0"/>
          </a:p>
          <a:p>
            <a:pPr indent="0" marL="0">
              <a:buNone/>
            </a:pPr>
            <a:r>
              <a:rPr lang="en-US" sz="2000" dirty="0">
                <a:solidFill>
                  <a:schemeClr val="accent6"/>
                </a:solidFill>
              </a:rPr>
              <a:t>LoHo Learning Limited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Q1 at a glance: sales reached 63% of target</a:t>
            </a:r>
            <a:endParaRPr lang="en-US" sz="3200" dirty="0"/>
          </a:p>
        </p:txBody>
      </p:sp>
      <p:sp>
        <p:nvSpPr>
          <p:cNvPr id="3" name="Sales card"/>
          <p:cNvSpPr/>
          <p:nvPr/>
        </p:nvSpPr>
        <p:spPr>
          <a:xfrm>
            <a:off x="548640" y="1463040"/>
            <a:ext cx="2651760" cy="1828800"/>
          </a:xfrm>
          <a:prstGeom prst="roundRect">
            <a:avLst>
              <a:gd name="adj" fmla="val 6000"/>
            </a:avLst>
          </a:prstGeom>
          <a:solidFill>
            <a:schemeClr val="bg2"/>
          </a:solidFill>
          <a:ln w="12700">
            <a:solidFill>
              <a:schemeClr val="bg2"/>
            </a:solidFill>
            <a:prstDash val="solid"/>
          </a:ln>
        </p:spPr>
      </p:sp>
      <p:sp>
        <p:nvSpPr>
          <p:cNvPr id="4" name="Sales value"/>
          <p:cNvSpPr txBox="1"/>
          <p:nvPr/>
        </p:nvSpPr>
        <p:spPr>
          <a:xfrm>
            <a:off x="777240" y="1645920"/>
            <a:ext cx="219456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KES 3.79M</a:t>
            </a:r>
            <a:endParaRPr lang="en-US" sz="3200" dirty="0"/>
          </a:p>
        </p:txBody>
      </p:sp>
      <p:sp>
        <p:nvSpPr>
          <p:cNvPr id="5" name="Sales label"/>
          <p:cNvSpPr txBox="1"/>
          <p:nvPr/>
        </p:nvSpPr>
        <p:spPr>
          <a:xfrm>
            <a:off x="777240" y="246888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Q1 sales</a:t>
            </a:r>
            <a:endParaRPr lang="en-US" sz="1600" dirty="0"/>
          </a:p>
        </p:txBody>
      </p:sp>
      <p:sp>
        <p:nvSpPr>
          <p:cNvPr id="6" name="Sales note"/>
          <p:cNvSpPr txBox="1"/>
          <p:nvPr/>
        </p:nvSpPr>
        <p:spPr>
          <a:xfrm>
            <a:off x="777240" y="2761488"/>
            <a:ext cx="2194560" cy="411480"/>
          </a:xfrm>
          <a:prstGeom prst="rect">
            <a:avLst/>
          </a:prstGeom>
          <a:noFill/>
          <a:ln/>
        </p:spPr>
        <p:txBody>
          <a:bodyPr wrap="square" lIns="0" tIns="0" rIns="0" bIns="0" rtlCol="0" anchor="t"/>
          <a:lstStyle/>
          <a:p>
            <a:pPr indent="0" marL="0">
              <a:buNone/>
            </a:pPr>
            <a:r>
              <a:rPr lang="en-US" sz="1200" dirty="0">
                <a:solidFill>
                  <a:schemeClr val="accent5"/>
                </a:solidFill>
              </a:rPr>
              <a:t>Target KES 5.97M (63.4%)</a:t>
            </a:r>
            <a:endParaRPr lang="en-US" sz="1200" dirty="0"/>
          </a:p>
        </p:txBody>
      </p:sp>
      <p:sp>
        <p:nvSpPr>
          <p:cNvPr id="7" name="Shortfall card"/>
          <p:cNvSpPr/>
          <p:nvPr/>
        </p:nvSpPr>
        <p:spPr>
          <a:xfrm>
            <a:off x="3383280" y="1463040"/>
            <a:ext cx="2651760" cy="1828800"/>
          </a:xfrm>
          <a:prstGeom prst="roundRect">
            <a:avLst>
              <a:gd name="adj" fmla="val 6000"/>
            </a:avLst>
          </a:prstGeom>
          <a:solidFill>
            <a:schemeClr val="bg2"/>
          </a:solidFill>
          <a:ln w="12700">
            <a:solidFill>
              <a:schemeClr val="bg2"/>
            </a:solidFill>
            <a:prstDash val="solid"/>
          </a:ln>
        </p:spPr>
      </p:sp>
      <p:sp>
        <p:nvSpPr>
          <p:cNvPr id="8" name="Shortfall value"/>
          <p:cNvSpPr txBox="1"/>
          <p:nvPr/>
        </p:nvSpPr>
        <p:spPr>
          <a:xfrm>
            <a:off x="3611880" y="1645920"/>
            <a:ext cx="2194560"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KES 2.19M</a:t>
            </a:r>
            <a:endParaRPr lang="en-US" sz="3200" dirty="0"/>
          </a:p>
        </p:txBody>
      </p:sp>
      <p:sp>
        <p:nvSpPr>
          <p:cNvPr id="9" name="Shortfall label"/>
          <p:cNvSpPr txBox="1"/>
          <p:nvPr/>
        </p:nvSpPr>
        <p:spPr>
          <a:xfrm>
            <a:off x="3611880" y="246888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Shortfall to target</a:t>
            </a:r>
            <a:endParaRPr lang="en-US" sz="1600" dirty="0"/>
          </a:p>
        </p:txBody>
      </p:sp>
      <p:sp>
        <p:nvSpPr>
          <p:cNvPr id="10" name="Shortfall note"/>
          <p:cNvSpPr txBox="1"/>
          <p:nvPr/>
        </p:nvSpPr>
        <p:spPr>
          <a:xfrm>
            <a:off x="3611880" y="2761488"/>
            <a:ext cx="2194560" cy="411480"/>
          </a:xfrm>
          <a:prstGeom prst="rect">
            <a:avLst/>
          </a:prstGeom>
          <a:noFill/>
          <a:ln/>
        </p:spPr>
        <p:txBody>
          <a:bodyPr wrap="square" lIns="0" tIns="0" rIns="0" bIns="0" rtlCol="0" anchor="t"/>
          <a:lstStyle/>
          <a:p>
            <a:pPr indent="0" marL="0">
              <a:buNone/>
            </a:pPr>
            <a:r>
              <a:rPr lang="en-US" sz="1200" dirty="0">
                <a:solidFill>
                  <a:schemeClr val="accent5"/>
                </a:solidFill>
              </a:rPr>
              <a:t>Elimu Pepe and Devices: KES 4.12M short</a:t>
            </a:r>
            <a:endParaRPr lang="en-US" sz="1200" dirty="0"/>
          </a:p>
        </p:txBody>
      </p:sp>
      <p:sp>
        <p:nvSpPr>
          <p:cNvPr id="11" name="Headcount card"/>
          <p:cNvSpPr/>
          <p:nvPr/>
        </p:nvSpPr>
        <p:spPr>
          <a:xfrm>
            <a:off x="6217920" y="1463040"/>
            <a:ext cx="2651760" cy="1828800"/>
          </a:xfrm>
          <a:prstGeom prst="roundRect">
            <a:avLst>
              <a:gd name="adj" fmla="val 6000"/>
            </a:avLst>
          </a:prstGeom>
          <a:solidFill>
            <a:schemeClr val="bg2"/>
          </a:solidFill>
          <a:ln w="12700">
            <a:solidFill>
              <a:schemeClr val="bg2"/>
            </a:solidFill>
            <a:prstDash val="solid"/>
          </a:ln>
        </p:spPr>
      </p:sp>
      <p:sp>
        <p:nvSpPr>
          <p:cNvPr id="12" name="Headcount value"/>
          <p:cNvSpPr txBox="1"/>
          <p:nvPr/>
        </p:nvSpPr>
        <p:spPr>
          <a:xfrm>
            <a:off x="6446520" y="1645920"/>
            <a:ext cx="219456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17</a:t>
            </a:r>
            <a:endParaRPr lang="en-US" sz="3200" dirty="0"/>
          </a:p>
        </p:txBody>
      </p:sp>
      <p:sp>
        <p:nvSpPr>
          <p:cNvPr id="13" name="Headcount label"/>
          <p:cNvSpPr txBox="1"/>
          <p:nvPr/>
        </p:nvSpPr>
        <p:spPr>
          <a:xfrm>
            <a:off x="6446520" y="246888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Headcount</a:t>
            </a:r>
            <a:endParaRPr lang="en-US" sz="1600" dirty="0"/>
          </a:p>
        </p:txBody>
      </p:sp>
      <p:sp>
        <p:nvSpPr>
          <p:cNvPr id="14" name="Headcount note"/>
          <p:cNvSpPr txBox="1"/>
          <p:nvPr/>
        </p:nvSpPr>
        <p:spPr>
          <a:xfrm>
            <a:off x="6446520" y="2761488"/>
            <a:ext cx="2194560" cy="411480"/>
          </a:xfrm>
          <a:prstGeom prst="rect">
            <a:avLst/>
          </a:prstGeom>
          <a:noFill/>
          <a:ln/>
        </p:spPr>
        <p:txBody>
          <a:bodyPr wrap="square" lIns="0" tIns="0" rIns="0" bIns="0" rtlCol="0" anchor="t"/>
          <a:lstStyle/>
          <a:p>
            <a:pPr indent="0" marL="0">
              <a:buNone/>
            </a:pPr>
            <a:r>
              <a:rPr lang="en-US" sz="1200" dirty="0">
                <a:solidFill>
                  <a:schemeClr val="accent5"/>
                </a:solidFill>
              </a:rPr>
              <a:t>12 permanent, 5 consultants; +2, no exits</a:t>
            </a:r>
            <a:endParaRPr lang="en-US" sz="1200" dirty="0"/>
          </a:p>
        </p:txBody>
      </p:sp>
      <p:sp>
        <p:nvSpPr>
          <p:cNvPr id="15" name="Result card"/>
          <p:cNvSpPr/>
          <p:nvPr/>
        </p:nvSpPr>
        <p:spPr>
          <a:xfrm>
            <a:off x="9052560" y="1463040"/>
            <a:ext cx="2587752" cy="1828800"/>
          </a:xfrm>
          <a:prstGeom prst="roundRect">
            <a:avLst>
              <a:gd name="adj" fmla="val 6000"/>
            </a:avLst>
          </a:prstGeom>
          <a:solidFill>
            <a:schemeClr val="bg2"/>
          </a:solidFill>
          <a:ln w="12700">
            <a:solidFill>
              <a:schemeClr val="bg2"/>
            </a:solidFill>
            <a:prstDash val="solid"/>
          </a:ln>
        </p:spPr>
      </p:sp>
      <p:sp>
        <p:nvSpPr>
          <p:cNvPr id="16" name="Result value"/>
          <p:cNvSpPr txBox="1"/>
          <p:nvPr/>
        </p:nvSpPr>
        <p:spPr>
          <a:xfrm>
            <a:off x="9281160" y="1645920"/>
            <a:ext cx="2130552"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-KES 3.06M</a:t>
            </a:r>
            <a:endParaRPr lang="en-US" sz="3200" dirty="0"/>
          </a:p>
        </p:txBody>
      </p:sp>
      <p:sp>
        <p:nvSpPr>
          <p:cNvPr id="17" name="Result label"/>
          <p:cNvSpPr txBox="1"/>
          <p:nvPr/>
        </p:nvSpPr>
        <p:spPr>
          <a:xfrm>
            <a:off x="9281160" y="2468880"/>
            <a:ext cx="2130552" cy="320040"/>
          </a:xfrm>
          <a:prstGeom prst="rect">
            <a:avLst/>
          </a:prstGeom>
          <a:noFill/>
          <a:ln/>
        </p:spPr>
        <p:txBody>
          <a:bodyPr wrap="square" lIns="0" tIns="0" rIns="0" bIns="0" rtlCol="0" anchor="ctr"/>
          <a:lstStyle/>
          <a:p>
            <a:pPr indent="0" marL="0">
              <a:buNone/>
            </a:pPr>
            <a:r>
              <a:rPr lang="en-US" sz="1600" b="1" dirty="0">
                <a:solidFill>
                  <a:schemeClr val="tx1"/>
                </a:solidFill>
              </a:rPr>
              <a:t>Q1 operating result</a:t>
            </a:r>
            <a:endParaRPr lang="en-US" sz="1600" dirty="0"/>
          </a:p>
        </p:txBody>
      </p:sp>
      <p:sp>
        <p:nvSpPr>
          <p:cNvPr id="18" name="Result note"/>
          <p:cNvSpPr txBox="1"/>
          <p:nvPr/>
        </p:nvSpPr>
        <p:spPr>
          <a:xfrm>
            <a:off x="9281160" y="2761488"/>
            <a:ext cx="2130552" cy="411480"/>
          </a:xfrm>
          <a:prstGeom prst="rect">
            <a:avLst/>
          </a:prstGeom>
          <a:noFill/>
          <a:ln/>
        </p:spPr>
        <p:txBody>
          <a:bodyPr wrap="square" lIns="0" tIns="0" rIns="0" bIns="0" rtlCol="0" anchor="t"/>
          <a:lstStyle/>
          <a:p>
            <a:pPr indent="0" marL="0">
              <a:buNone/>
            </a:pPr>
            <a:r>
              <a:rPr lang="en-US" sz="1200" dirty="0">
                <a:solidFill>
                  <a:schemeClr val="accent5"/>
                </a:solidFill>
              </a:rPr>
              <a:t>Unaudited; 36% of costs are non-cash</a:t>
            </a:r>
            <a:endParaRPr lang="en-US" sz="1200" dirty="0"/>
          </a:p>
        </p:txBody>
      </p:sp>
      <p:sp>
        <p:nvSpPr>
          <p:cNvPr id="19" name="Takeaway panel"/>
          <p:cNvSpPr/>
          <p:nvPr/>
        </p:nvSpPr>
        <p:spPr>
          <a:xfrm>
            <a:off x="548640" y="3657600"/>
            <a:ext cx="11091672" cy="2103120"/>
          </a:xfrm>
          <a:prstGeom prst="roundRect">
            <a:avLst>
              <a:gd name="adj" fmla="val 5217"/>
            </a:avLst>
          </a:prstGeom>
          <a:solidFill>
            <a:schemeClr val="bg2"/>
          </a:solidFill>
          <a:ln w="12700">
            <a:solidFill>
              <a:schemeClr val="bg2"/>
            </a:solidFill>
            <a:prstDash val="solid"/>
          </a:ln>
        </p:spPr>
      </p:sp>
      <p:sp>
        <p:nvSpPr>
          <p:cNvPr id="20" name="Text 18"/>
          <p:cNvSpPr txBox="1"/>
          <p:nvPr/>
        </p:nvSpPr>
        <p:spPr>
          <a:xfrm>
            <a:off x="822960" y="3840480"/>
            <a:ext cx="548640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the numbers say</a:t>
            </a:r>
            <a:endParaRPr lang="en-US" sz="2000" dirty="0"/>
          </a:p>
        </p:txBody>
      </p:sp>
      <p:sp>
        <p:nvSpPr>
          <p:cNvPr id="21" name="Commentary"/>
          <p:cNvSpPr txBox="1"/>
          <p:nvPr/>
        </p:nvSpPr>
        <p:spPr>
          <a:xfrm>
            <a:off x="822960" y="4297680"/>
            <a:ext cx="10515600" cy="1371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CaaS eBooks (147% of target) and MTN Academy (KES 1.5M, unbudgeted) carried the quarter.</a:t>
            </a:r>
            <a:endParaRPr lang="en-US" sz="1600" dirty="0"/>
          </a:p>
          <a:p>
            <a:pPr marL="342900" indent="-342900">
              <a:spcAft>
                <a:spcPts val="1000"/>
              </a:spcAft>
              <a:buSzPct val="100000"/>
              <a:buChar char="•"/>
            </a:pPr>
            <a:r>
              <a:rPr lang="en-US" sz="1600" dirty="0">
                <a:solidFill>
                  <a:schemeClr val="tx1"/>
                </a:solidFill>
              </a:rPr>
              <a:t>Elimu Pepe (21%) and LoHo Devices (9%) are the recovery priority for Q2.</a:t>
            </a:r>
            <a:endParaRPr lang="en-US" sz="1600" dirty="0"/>
          </a:p>
          <a:p>
            <a:pPr marL="342900" indent="-342900">
              <a:spcAft>
                <a:spcPts val="1000"/>
              </a:spcAft>
              <a:buSzPct val="100000"/>
              <a:buChar char="•"/>
            </a:pPr>
            <a:r>
              <a:rPr lang="en-US" sz="1600" dirty="0">
                <a:solidFill>
                  <a:schemeClr val="tx1"/>
                </a:solidFill>
              </a:rPr>
              <a:t>Payroll and statutory liabilities, and the sales-to-ledger split, need closing before Q1 sign-off.</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Sales by line: two beat, two fell far short</a:t>
            </a:r>
            <a:endParaRPr lang="en-US" sz="3200" dirty="0"/>
          </a:p>
        </p:txBody>
      </p:sp>
      <p:graphicFrame>
        <p:nvGraphicFramePr>
          <p:cNvPr id="3" name="Target vs achieved chart" descr=""/>
          <p:cNvGraphicFramePr/>
          <p:nvPr/>
        </p:nvGraphicFramePr>
        <p:xfrm>
          <a:off x="548640" y="128016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Commentary panel"/>
          <p:cNvSpPr/>
          <p:nvPr/>
        </p:nvSpPr>
        <p:spPr>
          <a:xfrm>
            <a:off x="7772400" y="1371600"/>
            <a:ext cx="3867912" cy="4480560"/>
          </a:xfrm>
          <a:prstGeom prst="roundRect">
            <a:avLst>
              <a:gd name="adj" fmla="val 2837"/>
            </a:avLst>
          </a:prstGeom>
          <a:solidFill>
            <a:schemeClr val="bg2"/>
          </a:solidFill>
          <a:ln w="12700">
            <a:solidFill>
              <a:schemeClr val="bg2"/>
            </a:solidFill>
            <a:prstDash val="solid"/>
          </a:ln>
        </p:spPr>
      </p:sp>
      <p:sp>
        <p:nvSpPr>
          <p:cNvPr id="5" name="Text 2"/>
          <p:cNvSpPr txBox="1"/>
          <p:nvPr/>
        </p:nvSpPr>
        <p:spPr>
          <a:xfrm>
            <a:off x="8046720" y="1554480"/>
            <a:ext cx="338328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Variance to target</a:t>
            </a:r>
            <a:endParaRPr lang="en-US" sz="2000" dirty="0"/>
          </a:p>
        </p:txBody>
      </p:sp>
      <p:sp>
        <p:nvSpPr>
          <p:cNvPr id="6" name="Commentary"/>
          <p:cNvSpPr txBox="1"/>
          <p:nvPr/>
        </p:nvSpPr>
        <p:spPr>
          <a:xfrm>
            <a:off x="8046720" y="2103120"/>
            <a:ext cx="33832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eBooks: +KES 436K (147.3%)</a:t>
            </a:r>
            <a:endParaRPr lang="en-US" sz="1500" dirty="0"/>
          </a:p>
          <a:p>
            <a:pPr marL="342900" indent="-342900">
              <a:spcAft>
                <a:spcPts val="1000"/>
              </a:spcAft>
              <a:buSzPct val="100000"/>
              <a:buChar char="•"/>
            </a:pPr>
            <a:r>
              <a:rPr lang="en-US" sz="1500" dirty="0">
                <a:solidFill>
                  <a:schemeClr val="tx1"/>
                </a:solidFill>
              </a:rPr>
              <a:t>Elimu Pepe: -KES 3.03M (21.3%)</a:t>
            </a:r>
            <a:endParaRPr lang="en-US" sz="1500" dirty="0"/>
          </a:p>
          <a:p>
            <a:pPr marL="342900" indent="-342900">
              <a:spcAft>
                <a:spcPts val="1000"/>
              </a:spcAft>
              <a:buSzPct val="100000"/>
              <a:buChar char="•"/>
            </a:pPr>
            <a:r>
              <a:rPr lang="en-US" sz="1500" dirty="0">
                <a:solidFill>
                  <a:schemeClr val="tx1"/>
                </a:solidFill>
              </a:rPr>
              <a:t>Devices: -KES 1.09M (8.9%)</a:t>
            </a:r>
            <a:endParaRPr lang="en-US" sz="1500" dirty="0"/>
          </a:p>
          <a:p>
            <a:pPr marL="342900" indent="-342900">
              <a:spcAft>
                <a:spcPts val="1000"/>
              </a:spcAft>
              <a:buSzPct val="100000"/>
              <a:buChar char="•"/>
            </a:pPr>
            <a:r>
              <a:rPr lang="en-US" sz="1500" dirty="0">
                <a:solidFill>
                  <a:schemeClr val="tx1"/>
                </a:solidFill>
              </a:rPr>
              <a:t>MTN Academy: +KES 1.5M, no target set</a:t>
            </a:r>
            <a:endParaRPr lang="en-US" sz="1500" dirty="0"/>
          </a:p>
          <a:p>
            <a:pPr marL="342900" indent="-342900">
              <a:spcAft>
                <a:spcPts val="1000"/>
              </a:spcAft>
              <a:buSzPct val="100000"/>
              <a:buChar char="•"/>
            </a:pPr>
            <a:r>
              <a:rPr lang="en-US" sz="1500" dirty="0">
                <a:solidFill>
                  <a:schemeClr val="tx1"/>
                </a:solidFill>
              </a:rPr>
              <a:t>LoHo Campus: no target, no sales</a:t>
            </a:r>
            <a:endParaRPr lang="en-US" sz="1500" dirty="0"/>
          </a:p>
        </p:txBody>
      </p:sp>
      <p:sp>
        <p:nvSpPr>
          <p:cNvPr id="7"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Q1 Target vs Achieved Report, quarter ended 30 September 2026. Amounts in KES.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75% of sales came from two lines</a:t>
            </a:r>
            <a:endParaRPr lang="en-US" sz="3200" dirty="0"/>
          </a:p>
        </p:txBody>
      </p:sp>
      <p:graphicFrame>
        <p:nvGraphicFramePr>
          <p:cNvPr id="3" name="Sales mix chart" descr=""/>
          <p:cNvGraphicFramePr/>
          <p:nvPr/>
        </p:nvGraphicFramePr>
        <p:xfrm>
          <a:off x="548640" y="1280160"/>
          <a:ext cx="5852160" cy="4663440"/>
        </p:xfrm>
        <a:graphic xmlns:a="http://schemas.openxmlformats.org/drawingml/2006/main">
          <a:graphicData uri="http://schemas.openxmlformats.org/drawingml/2006/chart">
            <c:chart xmlns:c="http://schemas.openxmlformats.org/drawingml/2006/chart" r:id="rId1"/>
          </a:graphicData>
        </a:graphic>
      </p:graphicFrame>
      <p:sp>
        <p:nvSpPr>
          <p:cNvPr id="4" name="Mix row 1"/>
          <p:cNvSpPr/>
          <p:nvPr/>
        </p:nvSpPr>
        <p:spPr>
          <a:xfrm>
            <a:off x="6766560" y="1463040"/>
            <a:ext cx="4873752" cy="914400"/>
          </a:xfrm>
          <a:prstGeom prst="roundRect">
            <a:avLst>
              <a:gd name="adj" fmla="val 12000"/>
            </a:avLst>
          </a:prstGeom>
          <a:solidFill>
            <a:schemeClr val="bg2"/>
          </a:solidFill>
          <a:ln w="12700">
            <a:solidFill>
              <a:schemeClr val="bg2"/>
            </a:solidFill>
            <a:prstDash val="solid"/>
          </a:ln>
        </p:spPr>
      </p:sp>
      <p:sp>
        <p:nvSpPr>
          <p:cNvPr id="5" name="Text 2"/>
          <p:cNvSpPr txBox="1"/>
          <p:nvPr/>
        </p:nvSpPr>
        <p:spPr>
          <a:xfrm>
            <a:off x="6949440" y="1463040"/>
            <a:ext cx="1280160" cy="9144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39.6%</a:t>
            </a:r>
            <a:endParaRPr lang="en-US" sz="2400" dirty="0"/>
          </a:p>
        </p:txBody>
      </p:sp>
      <p:sp>
        <p:nvSpPr>
          <p:cNvPr id="6" name="Text 3"/>
          <p:cNvSpPr txBox="1"/>
          <p:nvPr/>
        </p:nvSpPr>
        <p:spPr>
          <a:xfrm>
            <a:off x="8229600" y="1463040"/>
            <a:ext cx="3291840" cy="914400"/>
          </a:xfrm>
          <a:prstGeom prst="rect">
            <a:avLst/>
          </a:prstGeom>
          <a:noFill/>
          <a:ln/>
        </p:spPr>
        <p:txBody>
          <a:bodyPr wrap="square" lIns="0" tIns="0" rIns="0" bIns="0" rtlCol="0" anchor="ctr"/>
          <a:lstStyle/>
          <a:p>
            <a:pPr indent="0" marL="0">
              <a:buNone/>
            </a:pPr>
            <a:r>
              <a:rPr lang="en-US" sz="1500" b="1" dirty="0">
                <a:solidFill>
                  <a:schemeClr val="tx1"/>
                </a:solidFill>
              </a:rPr>
              <a:t>MTN Academy (Ug)</a:t>
            </a:r>
            <a:endParaRPr lang="en-US" sz="1500" dirty="0"/>
          </a:p>
          <a:p>
            <a:pPr indent="0" marL="0">
              <a:buNone/>
            </a:pPr>
            <a:r>
              <a:rPr lang="en-US" sz="1200" dirty="0">
                <a:solidFill>
                  <a:schemeClr val="accent5"/>
                </a:solidFill>
              </a:rPr>
              <a:t>KES 1,500,000, not in the Q1 target</a:t>
            </a:r>
            <a:endParaRPr lang="en-US" sz="1500" dirty="0"/>
          </a:p>
        </p:txBody>
      </p:sp>
      <p:sp>
        <p:nvSpPr>
          <p:cNvPr id="7" name="Mix row 2"/>
          <p:cNvSpPr/>
          <p:nvPr/>
        </p:nvSpPr>
        <p:spPr>
          <a:xfrm>
            <a:off x="6766560" y="2514600"/>
            <a:ext cx="4873752" cy="914400"/>
          </a:xfrm>
          <a:prstGeom prst="roundRect">
            <a:avLst>
              <a:gd name="adj" fmla="val 12000"/>
            </a:avLst>
          </a:prstGeom>
          <a:solidFill>
            <a:schemeClr val="bg2"/>
          </a:solidFill>
          <a:ln w="12700">
            <a:solidFill>
              <a:schemeClr val="bg2"/>
            </a:solidFill>
            <a:prstDash val="solid"/>
          </a:ln>
        </p:spPr>
      </p:sp>
      <p:sp>
        <p:nvSpPr>
          <p:cNvPr id="8" name="Text 5"/>
          <p:cNvSpPr txBox="1"/>
          <p:nvPr/>
        </p:nvSpPr>
        <p:spPr>
          <a:xfrm>
            <a:off x="6949440" y="2514600"/>
            <a:ext cx="1280160" cy="9144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35.9%</a:t>
            </a:r>
            <a:endParaRPr lang="en-US" sz="2400" dirty="0"/>
          </a:p>
        </p:txBody>
      </p:sp>
      <p:sp>
        <p:nvSpPr>
          <p:cNvPr id="9" name="Text 6"/>
          <p:cNvSpPr txBox="1"/>
          <p:nvPr/>
        </p:nvSpPr>
        <p:spPr>
          <a:xfrm>
            <a:off x="8229600" y="2514600"/>
            <a:ext cx="3291840" cy="914400"/>
          </a:xfrm>
          <a:prstGeom prst="rect">
            <a:avLst/>
          </a:prstGeom>
          <a:noFill/>
          <a:ln/>
        </p:spPr>
        <p:txBody>
          <a:bodyPr wrap="square" lIns="0" tIns="0" rIns="0" bIns="0" rtlCol="0" anchor="ctr"/>
          <a:lstStyle/>
          <a:p>
            <a:pPr indent="0" marL="0">
              <a:buNone/>
            </a:pPr>
            <a:r>
              <a:rPr lang="en-US" sz="1500" b="1" dirty="0">
                <a:solidFill>
                  <a:schemeClr val="tx1"/>
                </a:solidFill>
              </a:rPr>
              <a:t>CaaS eBooks</a:t>
            </a:r>
            <a:endParaRPr lang="en-US" sz="1500" dirty="0"/>
          </a:p>
          <a:p>
            <a:pPr indent="0" marL="0">
              <a:buNone/>
            </a:pPr>
            <a:r>
              <a:rPr lang="en-US" sz="1200" dirty="0">
                <a:solidFill>
                  <a:schemeClr val="accent5"/>
                </a:solidFill>
              </a:rPr>
              <a:t>KES 1,359,161</a:t>
            </a:r>
            <a:endParaRPr lang="en-US" sz="1500" dirty="0"/>
          </a:p>
        </p:txBody>
      </p:sp>
      <p:sp>
        <p:nvSpPr>
          <p:cNvPr id="10" name="Mix row 3"/>
          <p:cNvSpPr/>
          <p:nvPr/>
        </p:nvSpPr>
        <p:spPr>
          <a:xfrm>
            <a:off x="6766560" y="3566160"/>
            <a:ext cx="4873752" cy="914400"/>
          </a:xfrm>
          <a:prstGeom prst="roundRect">
            <a:avLst>
              <a:gd name="adj" fmla="val 12000"/>
            </a:avLst>
          </a:prstGeom>
          <a:solidFill>
            <a:schemeClr val="bg2"/>
          </a:solidFill>
          <a:ln w="12700">
            <a:solidFill>
              <a:schemeClr val="bg2"/>
            </a:solidFill>
            <a:prstDash val="solid"/>
          </a:ln>
        </p:spPr>
      </p:sp>
      <p:sp>
        <p:nvSpPr>
          <p:cNvPr id="11" name="Text 8"/>
          <p:cNvSpPr txBox="1"/>
          <p:nvPr/>
        </p:nvSpPr>
        <p:spPr>
          <a:xfrm>
            <a:off x="6949440" y="3566160"/>
            <a:ext cx="1280160" cy="9144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21.7%</a:t>
            </a:r>
            <a:endParaRPr lang="en-US" sz="2400" dirty="0"/>
          </a:p>
        </p:txBody>
      </p:sp>
      <p:sp>
        <p:nvSpPr>
          <p:cNvPr id="12" name="Text 9"/>
          <p:cNvSpPr txBox="1"/>
          <p:nvPr/>
        </p:nvSpPr>
        <p:spPr>
          <a:xfrm>
            <a:off x="8229600" y="3566160"/>
            <a:ext cx="3291840" cy="914400"/>
          </a:xfrm>
          <a:prstGeom prst="rect">
            <a:avLst/>
          </a:prstGeom>
          <a:noFill/>
          <a:ln/>
        </p:spPr>
        <p:txBody>
          <a:bodyPr wrap="square" lIns="0" tIns="0" rIns="0" bIns="0" rtlCol="0" anchor="ctr"/>
          <a:lstStyle/>
          <a:p>
            <a:pPr indent="0" marL="0">
              <a:buNone/>
            </a:pPr>
            <a:r>
              <a:rPr lang="en-US" sz="1500" b="1" dirty="0">
                <a:solidFill>
                  <a:schemeClr val="tx1"/>
                </a:solidFill>
              </a:rPr>
              <a:t>Elimu Pepe</a:t>
            </a:r>
            <a:endParaRPr lang="en-US" sz="1500" dirty="0"/>
          </a:p>
          <a:p>
            <a:pPr indent="0" marL="0">
              <a:buNone/>
            </a:pPr>
            <a:r>
              <a:rPr lang="en-US" sz="1200" dirty="0">
                <a:solidFill>
                  <a:schemeClr val="accent5"/>
                </a:solidFill>
              </a:rPr>
              <a:t>KES 819,797</a:t>
            </a:r>
            <a:endParaRPr lang="en-US" sz="1500" dirty="0"/>
          </a:p>
        </p:txBody>
      </p:sp>
      <p:sp>
        <p:nvSpPr>
          <p:cNvPr id="13" name="Mix row 4"/>
          <p:cNvSpPr/>
          <p:nvPr/>
        </p:nvSpPr>
        <p:spPr>
          <a:xfrm>
            <a:off x="6766560" y="4617720"/>
            <a:ext cx="4873752" cy="914400"/>
          </a:xfrm>
          <a:prstGeom prst="roundRect">
            <a:avLst>
              <a:gd name="adj" fmla="val 12000"/>
            </a:avLst>
          </a:prstGeom>
          <a:solidFill>
            <a:schemeClr val="bg2"/>
          </a:solidFill>
          <a:ln w="12700">
            <a:solidFill>
              <a:schemeClr val="bg2"/>
            </a:solidFill>
            <a:prstDash val="solid"/>
          </a:ln>
        </p:spPr>
      </p:sp>
      <p:sp>
        <p:nvSpPr>
          <p:cNvPr id="14" name="Text 11"/>
          <p:cNvSpPr txBox="1"/>
          <p:nvPr/>
        </p:nvSpPr>
        <p:spPr>
          <a:xfrm>
            <a:off x="6949440" y="4617720"/>
            <a:ext cx="1280160" cy="9144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2.8%</a:t>
            </a:r>
            <a:endParaRPr lang="en-US" sz="2400" dirty="0"/>
          </a:p>
        </p:txBody>
      </p:sp>
      <p:sp>
        <p:nvSpPr>
          <p:cNvPr id="15" name="Text 12"/>
          <p:cNvSpPr txBox="1"/>
          <p:nvPr/>
        </p:nvSpPr>
        <p:spPr>
          <a:xfrm>
            <a:off x="8229600" y="4617720"/>
            <a:ext cx="3291840" cy="914400"/>
          </a:xfrm>
          <a:prstGeom prst="rect">
            <a:avLst/>
          </a:prstGeom>
          <a:noFill/>
          <a:ln/>
        </p:spPr>
        <p:txBody>
          <a:bodyPr wrap="square" lIns="0" tIns="0" rIns="0" bIns="0" rtlCol="0" anchor="ctr"/>
          <a:lstStyle/>
          <a:p>
            <a:pPr indent="0" marL="0">
              <a:buNone/>
            </a:pPr>
            <a:r>
              <a:rPr lang="en-US" sz="1500" b="1" dirty="0">
                <a:solidFill>
                  <a:schemeClr val="tx1"/>
                </a:solidFill>
              </a:rPr>
              <a:t>LoHo Devices</a:t>
            </a:r>
            <a:endParaRPr lang="en-US" sz="1500" dirty="0"/>
          </a:p>
          <a:p>
            <a:pPr indent="0" marL="0">
              <a:buNone/>
            </a:pPr>
            <a:r>
              <a:rPr lang="en-US" sz="1200" dirty="0">
                <a:solidFill>
                  <a:schemeClr val="accent5"/>
                </a:solidFill>
              </a:rPr>
              <a:t>KES 107,390</a:t>
            </a:r>
            <a:endParaRPr lang="en-US" sz="1500" dirty="0"/>
          </a:p>
        </p:txBody>
      </p:sp>
      <p:sp>
        <p:nvSpPr>
          <p:cNvPr id="16" name="Text 13"/>
          <p:cNvSpPr txBox="1"/>
          <p:nvPr/>
        </p:nvSpPr>
        <p:spPr>
          <a:xfrm>
            <a:off x="6766560" y="5669280"/>
            <a:ext cx="4873752" cy="365760"/>
          </a:xfrm>
          <a:prstGeom prst="rect">
            <a:avLst/>
          </a:prstGeom>
          <a:noFill/>
          <a:ln/>
        </p:spPr>
        <p:txBody>
          <a:bodyPr wrap="square" lIns="0" tIns="0" rIns="0" bIns="0" rtlCol="0" anchor="ctr"/>
          <a:lstStyle/>
          <a:p>
            <a:pPr indent="0" marL="0">
              <a:buNone/>
            </a:pPr>
            <a:r>
              <a:rPr lang="en-US" sz="1300" b="1" dirty="0">
                <a:solidFill>
                  <a:schemeClr val="accent3"/>
                </a:solidFill>
              </a:rPr>
              <a:t>Confirm whether MTN Academy revenue recurs before building it into Q2 targets.</a:t>
            </a:r>
            <a:endParaRPr lang="en-US" sz="1300" dirty="0"/>
          </a:p>
        </p:txBody>
      </p:sp>
      <p:sp>
        <p:nvSpPr>
          <p:cNvPr id="17"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Q1 Target vs Achieved Report. Shares calculated on achieved sales of KES 3,786,348.</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Q1 result: a gross margin of 57%, a loss after costs</a:t>
            </a:r>
            <a:endParaRPr lang="en-US" sz="3200" dirty="0"/>
          </a:p>
        </p:txBody>
      </p:sp>
      <p:graphicFrame>
        <p:nvGraphicFramePr>
          <p:cNvPr id="6" name="Income statement table"/>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3657600"/>
                <a:gridCol w="1737360"/>
                <a:gridCol w="1371600"/>
              </a:tblGrid>
              <a:tr h="47548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Q1 FY2026/27</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KES</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 of sales</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r>
              <a:tr h="475488">
                <a:tc>
                  <a:txBody>
                    <a:bodyPr/>
                    <a:lstStyle/>
                    <a:p>
                      <a:pPr indent="0" marL="0">
                        <a:buNone/>
                      </a:pPr>
                      <a:r>
                        <a:rPr lang="en-US" sz="1400" dirty="0">
                          <a:solidFill>
                            <a:srgbClr val="13262B"/>
                          </a:solidFill>
                          <a:latin typeface="Calibri" pitchFamily="34" charset="0"/>
                          <a:ea typeface="Calibri" pitchFamily="34" charset="-122"/>
                          <a:cs typeface="Calibri" pitchFamily="34" charset="-120"/>
                        </a:rPr>
                        <a:t>Sales</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3,786,384</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475488">
                <a:tc>
                  <a:txBody>
                    <a:bodyPr/>
                    <a:lstStyle/>
                    <a:p>
                      <a:pPr indent="0" marL="0">
                        <a:buNone/>
                      </a:pPr>
                      <a:r>
                        <a:rPr lang="en-US" sz="1400" dirty="0">
                          <a:solidFill>
                            <a:srgbClr val="13262B"/>
                          </a:solidFill>
                          <a:latin typeface="Calibri" pitchFamily="34" charset="0"/>
                          <a:ea typeface="Calibri" pitchFamily="34" charset="-122"/>
                          <a:cs typeface="Calibri" pitchFamily="34" charset="-120"/>
                        </a:rPr>
                        <a:t>Cost of sales</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(1,647,622)</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475488">
                <a:tc>
                  <a:txBody>
                    <a:bodyPr/>
                    <a:lstStyle/>
                    <a:p>
                      <a:pPr indent="0" marL="0">
                        <a:buNone/>
                      </a:pPr>
                      <a:r>
                        <a:rPr lang="en-US" sz="1400" b="1" dirty="0">
                          <a:solidFill>
                            <a:srgbClr val="13262B"/>
                          </a:solidFill>
                          <a:latin typeface="Calibri" pitchFamily="34" charset="0"/>
                          <a:ea typeface="Calibri" pitchFamily="34" charset="-122"/>
                          <a:cs typeface="Calibri" pitchFamily="34" charset="-120"/>
                        </a:rPr>
                        <a:t>Gross profit</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algn="r" indent="0" marL="0">
                        <a:buNone/>
                      </a:pPr>
                      <a:r>
                        <a:rPr lang="en-US" sz="1400" b="1" dirty="0">
                          <a:solidFill>
                            <a:srgbClr val="13262B"/>
                          </a:solidFill>
                          <a:latin typeface="Calibri" pitchFamily="34" charset="0"/>
                          <a:ea typeface="Calibri" pitchFamily="34" charset="-122"/>
                          <a:cs typeface="Calibri" pitchFamily="34" charset="-120"/>
                        </a:rPr>
                        <a:t>2,138,762</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algn="r" indent="0" marL="0">
                        <a:buNone/>
                      </a:pPr>
                      <a:r>
                        <a:rPr lang="en-US" sz="1400" b="1" dirty="0">
                          <a:solidFill>
                            <a:srgbClr val="13262B"/>
                          </a:solidFill>
                          <a:latin typeface="Calibri" pitchFamily="34" charset="0"/>
                          <a:ea typeface="Calibri" pitchFamily="34" charset="-122"/>
                          <a:cs typeface="Calibri" pitchFamily="34" charset="-120"/>
                        </a:rPr>
                        <a:t>56.5%</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r>
              <a:tr h="475488">
                <a:tc>
                  <a:txBody>
                    <a:bodyPr/>
                    <a:lstStyle/>
                    <a:p>
                      <a:pPr indent="0" marL="0">
                        <a:buNone/>
                      </a:pPr>
                      <a:r>
                        <a:rPr lang="en-US" sz="1400" dirty="0">
                          <a:solidFill>
                            <a:srgbClr val="13262B"/>
                          </a:solidFill>
                          <a:latin typeface="Calibri" pitchFamily="34" charset="0"/>
                          <a:ea typeface="Calibri" pitchFamily="34" charset="-122"/>
                          <a:cs typeface="Calibri" pitchFamily="34" charset="-120"/>
                        </a:rPr>
                        <a:t>Staff costs</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(2,105,859)</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475488">
                <a:tc>
                  <a:txBody>
                    <a:bodyPr/>
                    <a:lstStyle/>
                    <a:p>
                      <a:pPr indent="0" marL="0">
                        <a:buNone/>
                      </a:pPr>
                      <a:r>
                        <a:rPr lang="en-US" sz="1400" dirty="0">
                          <a:solidFill>
                            <a:srgbClr val="13262B"/>
                          </a:solidFill>
                          <a:latin typeface="Calibri" pitchFamily="34" charset="0"/>
                          <a:ea typeface="Calibri" pitchFamily="34" charset="-122"/>
                          <a:cs typeface="Calibri" pitchFamily="34" charset="-120"/>
                        </a:rPr>
                        <a:t>Amortisation and depreciation</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(1,894,031)</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475488">
                <a:tc>
                  <a:txBody>
                    <a:bodyPr/>
                    <a:lstStyle/>
                    <a:p>
                      <a:pPr indent="0" marL="0">
                        <a:buNone/>
                      </a:pPr>
                      <a:r>
                        <a:rPr lang="en-US" sz="1400" dirty="0">
                          <a:solidFill>
                            <a:srgbClr val="13262B"/>
                          </a:solidFill>
                          <a:latin typeface="Calibri" pitchFamily="34" charset="0"/>
                          <a:ea typeface="Calibri" pitchFamily="34" charset="-122"/>
                          <a:cs typeface="Calibri" pitchFamily="34" charset="-120"/>
                        </a:rPr>
                        <a:t>Other admin, sales and telephone</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(1,203,087)</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400" dirty="0">
                          <a:solidFill>
                            <a:srgbClr val="13262B"/>
                          </a:solidFill>
                          <a:latin typeface="Calibri" pitchFamily="34" charset="0"/>
                          <a:ea typeface="Calibri" pitchFamily="34" charset="-122"/>
                          <a:cs typeface="Calibri" pitchFamily="34" charset="-120"/>
                        </a:rPr>
                        <a:t>31.8%</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475488">
                <a:tc>
                  <a:txBody>
                    <a:bodyPr/>
                    <a:lstStyle/>
                    <a:p>
                      <a:pPr indent="0" marL="0">
                        <a:buNone/>
                      </a:pPr>
                      <a:r>
                        <a:rPr lang="en-US" sz="1400" b="1" dirty="0">
                          <a:solidFill>
                            <a:srgbClr val="D1495B"/>
                          </a:solidFill>
                          <a:latin typeface="Calibri" pitchFamily="34" charset="0"/>
                          <a:ea typeface="Calibri" pitchFamily="34" charset="-122"/>
                          <a:cs typeface="Calibri" pitchFamily="34" charset="-120"/>
                        </a:rPr>
                        <a:t>Net operating result</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algn="r" indent="0" marL="0">
                        <a:buNone/>
                      </a:pPr>
                      <a:r>
                        <a:rPr lang="en-US" sz="1400" b="1" dirty="0">
                          <a:solidFill>
                            <a:srgbClr val="D1495B"/>
                          </a:solidFill>
                          <a:latin typeface="Calibri" pitchFamily="34" charset="0"/>
                          <a:ea typeface="Calibri" pitchFamily="34" charset="-122"/>
                          <a:cs typeface="Calibri" pitchFamily="34" charset="-120"/>
                        </a:rPr>
                        <a:t>(3,064,215)</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algn="r" indent="0" marL="0">
                        <a:buNone/>
                      </a:pPr>
                      <a:r>
                        <a:rPr lang="en-US" sz="1400" b="1" dirty="0">
                          <a:solidFill>
                            <a:srgbClr val="D1495B"/>
                          </a:solidFill>
                          <a:latin typeface="Calibri" pitchFamily="34" charset="0"/>
                          <a:ea typeface="Calibri" pitchFamily="34" charset="-122"/>
                          <a:cs typeface="Calibri" pitchFamily="34" charset="-120"/>
                        </a:rPr>
                        <a:t>-80.9%</a:t>
                      </a:r>
                      <a:endParaRPr lang="en-US" sz="14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r>
            </a:tbl>
          </a:graphicData>
        </a:graphic>
      </p:graphicFrame>
      <p:sp>
        <p:nvSpPr>
          <p:cNvPr id="4" name="Cash loss card"/>
          <p:cNvSpPr/>
          <p:nvPr/>
        </p:nvSpPr>
        <p:spPr>
          <a:xfrm>
            <a:off x="7680960" y="1371600"/>
            <a:ext cx="3959352" cy="1828800"/>
          </a:xfrm>
          <a:prstGeom prst="roundRect">
            <a:avLst>
              <a:gd name="adj" fmla="val 6000"/>
            </a:avLst>
          </a:prstGeom>
          <a:solidFill>
            <a:schemeClr val="bg2"/>
          </a:solidFill>
          <a:ln w="12700">
            <a:solidFill>
              <a:schemeClr val="bg2"/>
            </a:solidFill>
            <a:prstDash val="solid"/>
          </a:ln>
        </p:spPr>
      </p:sp>
      <p:sp>
        <p:nvSpPr>
          <p:cNvPr id="5" name="Cash loss value"/>
          <p:cNvSpPr txBox="1"/>
          <p:nvPr/>
        </p:nvSpPr>
        <p:spPr>
          <a:xfrm>
            <a:off x="7909560" y="1554480"/>
            <a:ext cx="3502152"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KES 1.04M</a:t>
            </a:r>
            <a:endParaRPr lang="en-US" sz="3200" dirty="0"/>
          </a:p>
        </p:txBody>
      </p:sp>
      <p:sp>
        <p:nvSpPr>
          <p:cNvPr id="6" name="Cash loss label"/>
          <p:cNvSpPr txBox="1"/>
          <p:nvPr/>
        </p:nvSpPr>
        <p:spPr>
          <a:xfrm>
            <a:off x="7909560" y="2377440"/>
            <a:ext cx="3502152" cy="320040"/>
          </a:xfrm>
          <a:prstGeom prst="rect">
            <a:avLst/>
          </a:prstGeom>
          <a:noFill/>
          <a:ln/>
        </p:spPr>
        <p:txBody>
          <a:bodyPr wrap="square" lIns="0" tIns="0" rIns="0" bIns="0" rtlCol="0" anchor="ctr"/>
          <a:lstStyle/>
          <a:p>
            <a:pPr indent="0" marL="0">
              <a:buNone/>
            </a:pPr>
            <a:r>
              <a:rPr lang="en-US" sz="1600" b="1" dirty="0">
                <a:solidFill>
                  <a:schemeClr val="tx1"/>
                </a:solidFill>
              </a:rPr>
              <a:t>Loss before non-cash items</a:t>
            </a:r>
            <a:endParaRPr lang="en-US" sz="1600" dirty="0"/>
          </a:p>
        </p:txBody>
      </p:sp>
      <p:sp>
        <p:nvSpPr>
          <p:cNvPr id="7" name="Cash loss note"/>
          <p:cNvSpPr txBox="1"/>
          <p:nvPr/>
        </p:nvSpPr>
        <p:spPr>
          <a:xfrm>
            <a:off x="7909560" y="2670048"/>
            <a:ext cx="3502152" cy="411480"/>
          </a:xfrm>
          <a:prstGeom prst="rect">
            <a:avLst/>
          </a:prstGeom>
          <a:noFill/>
          <a:ln/>
        </p:spPr>
        <p:txBody>
          <a:bodyPr wrap="square" lIns="0" tIns="0" rIns="0" bIns="0" rtlCol="0" anchor="t"/>
          <a:lstStyle/>
          <a:p>
            <a:pPr indent="0" marL="0">
              <a:buNone/>
            </a:pPr>
            <a:r>
              <a:rPr lang="en-US" sz="1200" dirty="0">
                <a:solidFill>
                  <a:schemeClr val="accent5"/>
                </a:solidFill>
              </a:rPr>
              <a:t>Excludes amortisation and depreciation of KES 2.03M</a:t>
            </a:r>
            <a:endParaRPr lang="en-US" sz="1200" dirty="0"/>
          </a:p>
        </p:txBody>
      </p:sp>
      <p:sp>
        <p:nvSpPr>
          <p:cNvPr id="8" name="Insight card"/>
          <p:cNvSpPr/>
          <p:nvPr/>
        </p:nvSpPr>
        <p:spPr>
          <a:xfrm>
            <a:off x="7680960" y="3429000"/>
            <a:ext cx="3959352" cy="192024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7909560" y="3611880"/>
            <a:ext cx="3520440" cy="1554480"/>
          </a:xfrm>
          <a:prstGeom prst="rect">
            <a:avLst/>
          </a:prstGeom>
          <a:noFill/>
          <a:ln/>
        </p:spPr>
        <p:txBody>
          <a:bodyPr wrap="square" lIns="0" tIns="0" rIns="0" bIns="0" rtlCol="0" anchor="t"/>
          <a:lstStyle/>
          <a:p>
            <a:pPr indent="0" marL="0">
              <a:buNone/>
            </a:pPr>
            <a:r>
              <a:rPr lang="en-US" sz="1500" dirty="0">
                <a:solidFill>
                  <a:schemeClr val="tx1"/>
                </a:solidFill>
              </a:rPr>
              <a:t>Staff costs are 56% of sales. At a 57% gross margin, sales must roughly double before payroll is covered.</a:t>
            </a:r>
            <a:endParaRPr lang="en-US" sz="1500" dirty="0"/>
          </a:p>
        </p:txBody>
      </p:sp>
      <p:sp>
        <p:nvSpPr>
          <p:cNvPr id="10"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Chart of Accounts, Q1 net change (management view, unaudited, before tax and closing adjustments). Cost of sales includes KES 250K cash discounts.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Where the KES 5.2M of operating costs went</a:t>
            </a:r>
            <a:endParaRPr lang="en-US" sz="3200" dirty="0"/>
          </a:p>
        </p:txBody>
      </p:sp>
      <p:graphicFrame>
        <p:nvGraphicFramePr>
          <p:cNvPr id="3" name="Operating cost chart"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Cost notes panel"/>
          <p:cNvSpPr/>
          <p:nvPr/>
        </p:nvSpPr>
        <p:spPr>
          <a:xfrm>
            <a:off x="7680960" y="1371600"/>
            <a:ext cx="3959352" cy="4480560"/>
          </a:xfrm>
          <a:prstGeom prst="roundRect">
            <a:avLst>
              <a:gd name="adj" fmla="val 2771"/>
            </a:avLst>
          </a:prstGeom>
          <a:solidFill>
            <a:schemeClr val="bg2"/>
          </a:solidFill>
          <a:ln w="12700">
            <a:solidFill>
              <a:schemeClr val="bg2"/>
            </a:solidFill>
            <a:prstDash val="solid"/>
          </a:ln>
        </p:spPr>
      </p:sp>
      <p:sp>
        <p:nvSpPr>
          <p:cNvPr id="5" name="Text 2"/>
          <p:cNvSpPr txBox="1"/>
          <p:nvPr/>
        </p:nvSpPr>
        <p:spPr>
          <a:xfrm>
            <a:off x="7909560" y="1554480"/>
            <a:ext cx="352044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Worth a conversation</a:t>
            </a:r>
            <a:endParaRPr lang="en-US" sz="2000" dirty="0"/>
          </a:p>
        </p:txBody>
      </p:sp>
      <p:sp>
        <p:nvSpPr>
          <p:cNvPr id="6" name="Commentary"/>
          <p:cNvSpPr txBox="1"/>
          <p:nvPr/>
        </p:nvSpPr>
        <p:spPr>
          <a:xfrm>
            <a:off x="7909560" y="2103120"/>
            <a:ext cx="35204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Staff costs: 40% of operating costs</a:t>
            </a:r>
            <a:endParaRPr lang="en-US" sz="1500" dirty="0"/>
          </a:p>
          <a:p>
            <a:pPr marL="342900" indent="-342900">
              <a:spcAft>
                <a:spcPts val="1000"/>
              </a:spcAft>
              <a:buSzPct val="100000"/>
              <a:buChar char="•"/>
            </a:pPr>
            <a:r>
              <a:rPr lang="en-US" sz="1500" dirty="0">
                <a:solidFill>
                  <a:schemeClr val="tx1"/>
                </a:solidFill>
              </a:rPr>
              <a:t>Amortisation: 36%, non-cash</a:t>
            </a:r>
            <a:endParaRPr lang="en-US" sz="1500" dirty="0"/>
          </a:p>
          <a:p>
            <a:pPr marL="342900" indent="-342900">
              <a:spcAft>
                <a:spcPts val="1000"/>
              </a:spcAft>
              <a:buSzPct val="100000"/>
              <a:buChar char="•"/>
            </a:pPr>
            <a:r>
              <a:rPr lang="en-US" sz="1500" dirty="0">
                <a:solidFill>
                  <a:schemeClr val="tx1"/>
                </a:solidFill>
              </a:rPr>
              <a:t>Consultancy KES 345K and software support KES 197K</a:t>
            </a:r>
            <a:endParaRPr lang="en-US" sz="1500" dirty="0"/>
          </a:p>
          <a:p>
            <a:pPr marL="342900" indent="-342900">
              <a:spcAft>
                <a:spcPts val="1000"/>
              </a:spcAft>
              <a:buSzPct val="100000"/>
              <a:buChar char="•"/>
            </a:pPr>
            <a:r>
              <a:rPr lang="en-US" sz="1500" dirty="0">
                <a:solidFill>
                  <a:schemeClr val="tx1"/>
                </a:solidFill>
              </a:rPr>
              <a:t>Local travel KES 167K</a:t>
            </a:r>
            <a:endParaRPr lang="en-US" sz="1500" dirty="0"/>
          </a:p>
          <a:p>
            <a:pPr marL="342900" indent="-342900">
              <a:spcAft>
                <a:spcPts val="1000"/>
              </a:spcAft>
              <a:buSzPct val="100000"/>
              <a:buChar char="•"/>
            </a:pPr>
            <a:r>
              <a:rPr lang="en-US" sz="1500" dirty="0">
                <a:solidFill>
                  <a:schemeClr val="tx1"/>
                </a:solidFill>
              </a:rPr>
              <a:t>Bank charges KES 83K, review account fees</a:t>
            </a:r>
            <a:endParaRPr lang="en-US" sz="1500" dirty="0"/>
          </a:p>
        </p:txBody>
      </p:sp>
      <p:sp>
        <p:nvSpPr>
          <p:cNvPr id="7"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Chart of Accounts, Q1 net change. Other admin includes consultancy, travel, legal, software support and bank charges.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Liquidity: obligations far exceed cash</a:t>
            </a:r>
            <a:endParaRPr lang="en-US" sz="3200" dirty="0"/>
          </a:p>
        </p:txBody>
      </p:sp>
      <p:sp>
        <p:nvSpPr>
          <p:cNvPr id="3" name="Cash card"/>
          <p:cNvSpPr/>
          <p:nvPr/>
        </p:nvSpPr>
        <p:spPr>
          <a:xfrm>
            <a:off x="548640" y="1371600"/>
            <a:ext cx="2651760" cy="1828800"/>
          </a:xfrm>
          <a:prstGeom prst="roundRect">
            <a:avLst>
              <a:gd name="adj" fmla="val 6000"/>
            </a:avLst>
          </a:prstGeom>
          <a:solidFill>
            <a:schemeClr val="bg2"/>
          </a:solidFill>
          <a:ln w="12700">
            <a:solidFill>
              <a:schemeClr val="bg2"/>
            </a:solidFill>
            <a:prstDash val="solid"/>
          </a:ln>
        </p:spPr>
      </p:sp>
      <p:sp>
        <p:nvSpPr>
          <p:cNvPr id="4" name="Cash value"/>
          <p:cNvSpPr txBox="1"/>
          <p:nvPr/>
        </p:nvSpPr>
        <p:spPr>
          <a:xfrm>
            <a:off x="777240" y="1554480"/>
            <a:ext cx="219456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KES 0.77M</a:t>
            </a:r>
            <a:endParaRPr lang="en-US" sz="3200" dirty="0"/>
          </a:p>
        </p:txBody>
      </p:sp>
      <p:sp>
        <p:nvSpPr>
          <p:cNvPr id="5" name="Cash label"/>
          <p:cNvSpPr txBox="1"/>
          <p:nvPr/>
        </p:nvSpPr>
        <p:spPr>
          <a:xfrm>
            <a:off x="777240" y="237744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Cash and bank</a:t>
            </a:r>
            <a:endParaRPr lang="en-US" sz="1600" dirty="0"/>
          </a:p>
        </p:txBody>
      </p:sp>
      <p:sp>
        <p:nvSpPr>
          <p:cNvPr id="6" name="Cash note"/>
          <p:cNvSpPr txBox="1"/>
          <p:nvPr/>
        </p:nvSpPr>
        <p:spPr>
          <a:xfrm>
            <a:off x="777240" y="2670048"/>
            <a:ext cx="2194560" cy="411480"/>
          </a:xfrm>
          <a:prstGeom prst="rect">
            <a:avLst/>
          </a:prstGeom>
          <a:noFill/>
          <a:ln/>
        </p:spPr>
        <p:txBody>
          <a:bodyPr wrap="square" lIns="0" tIns="0" rIns="0" bIns="0" rtlCol="0" anchor="t"/>
          <a:lstStyle/>
          <a:p>
            <a:pPr indent="0" marL="0">
              <a:buNone/>
            </a:pPr>
            <a:r>
              <a:rPr lang="en-US" sz="1200" dirty="0">
                <a:solidFill>
                  <a:schemeClr val="accent5"/>
                </a:solidFill>
              </a:rPr>
              <a:t>Standard Chartered, Sidian, petty cash</a:t>
            </a:r>
            <a:endParaRPr lang="en-US" sz="1200" dirty="0"/>
          </a:p>
        </p:txBody>
      </p:sp>
      <p:sp>
        <p:nvSpPr>
          <p:cNvPr id="7" name="Receivables card"/>
          <p:cNvSpPr/>
          <p:nvPr/>
        </p:nvSpPr>
        <p:spPr>
          <a:xfrm>
            <a:off x="3383280" y="1371600"/>
            <a:ext cx="2651760" cy="1828800"/>
          </a:xfrm>
          <a:prstGeom prst="roundRect">
            <a:avLst>
              <a:gd name="adj" fmla="val 6000"/>
            </a:avLst>
          </a:prstGeom>
          <a:solidFill>
            <a:schemeClr val="bg2"/>
          </a:solidFill>
          <a:ln w="12700">
            <a:solidFill>
              <a:schemeClr val="bg2"/>
            </a:solidFill>
            <a:prstDash val="solid"/>
          </a:ln>
        </p:spPr>
      </p:sp>
      <p:sp>
        <p:nvSpPr>
          <p:cNvPr id="8" name="Receivables value"/>
          <p:cNvSpPr txBox="1"/>
          <p:nvPr/>
        </p:nvSpPr>
        <p:spPr>
          <a:xfrm>
            <a:off x="3611880" y="1554480"/>
            <a:ext cx="219456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KES 4.03M</a:t>
            </a:r>
            <a:endParaRPr lang="en-US" sz="3200" dirty="0"/>
          </a:p>
        </p:txBody>
      </p:sp>
      <p:sp>
        <p:nvSpPr>
          <p:cNvPr id="9" name="Receivables label"/>
          <p:cNvSpPr txBox="1"/>
          <p:nvPr/>
        </p:nvSpPr>
        <p:spPr>
          <a:xfrm>
            <a:off x="3611880" y="237744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Net trade receivables</a:t>
            </a:r>
            <a:endParaRPr lang="en-US" sz="1600" dirty="0"/>
          </a:p>
        </p:txBody>
      </p:sp>
      <p:sp>
        <p:nvSpPr>
          <p:cNvPr id="10" name="Receivables note"/>
          <p:cNvSpPr txBox="1"/>
          <p:nvPr/>
        </p:nvSpPr>
        <p:spPr>
          <a:xfrm>
            <a:off x="3611880" y="2670048"/>
            <a:ext cx="2194560" cy="411480"/>
          </a:xfrm>
          <a:prstGeom prst="rect">
            <a:avLst/>
          </a:prstGeom>
          <a:noFill/>
          <a:ln/>
        </p:spPr>
        <p:txBody>
          <a:bodyPr wrap="square" lIns="0" tIns="0" rIns="0" bIns="0" rtlCol="0" anchor="t"/>
          <a:lstStyle/>
          <a:p>
            <a:pPr indent="0" marL="0">
              <a:buNone/>
            </a:pPr>
            <a:r>
              <a:rPr lang="en-US" sz="1200" dirty="0">
                <a:solidFill>
                  <a:schemeClr val="accent5"/>
                </a:solidFill>
              </a:rPr>
              <a:t>After KES 1.3M provision; gross KES 5.33M</a:t>
            </a:r>
            <a:endParaRPr lang="en-US" sz="1200" dirty="0"/>
          </a:p>
        </p:txBody>
      </p:sp>
      <p:sp>
        <p:nvSpPr>
          <p:cNvPr id="11" name="Payables card"/>
          <p:cNvSpPr/>
          <p:nvPr/>
        </p:nvSpPr>
        <p:spPr>
          <a:xfrm>
            <a:off x="6217920" y="1371600"/>
            <a:ext cx="2651760" cy="1828800"/>
          </a:xfrm>
          <a:prstGeom prst="roundRect">
            <a:avLst>
              <a:gd name="adj" fmla="val 6000"/>
            </a:avLst>
          </a:prstGeom>
          <a:solidFill>
            <a:schemeClr val="bg2"/>
          </a:solidFill>
          <a:ln w="12700">
            <a:solidFill>
              <a:schemeClr val="bg2"/>
            </a:solidFill>
            <a:prstDash val="solid"/>
          </a:ln>
        </p:spPr>
      </p:sp>
      <p:sp>
        <p:nvSpPr>
          <p:cNvPr id="12" name="Payables value"/>
          <p:cNvSpPr txBox="1"/>
          <p:nvPr/>
        </p:nvSpPr>
        <p:spPr>
          <a:xfrm>
            <a:off x="6446520" y="1554480"/>
            <a:ext cx="2194560"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KES 11.77M</a:t>
            </a:r>
            <a:endParaRPr lang="en-US" sz="3200" dirty="0"/>
          </a:p>
        </p:txBody>
      </p:sp>
      <p:sp>
        <p:nvSpPr>
          <p:cNvPr id="13" name="Payables label"/>
          <p:cNvSpPr txBox="1"/>
          <p:nvPr/>
        </p:nvSpPr>
        <p:spPr>
          <a:xfrm>
            <a:off x="6446520" y="2377440"/>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Trade payables</a:t>
            </a:r>
            <a:endParaRPr lang="en-US" sz="1600" dirty="0"/>
          </a:p>
        </p:txBody>
      </p:sp>
      <p:sp>
        <p:nvSpPr>
          <p:cNvPr id="14" name="Payables note"/>
          <p:cNvSpPr txBox="1"/>
          <p:nvPr/>
        </p:nvSpPr>
        <p:spPr>
          <a:xfrm>
            <a:off x="6446520" y="2670048"/>
            <a:ext cx="2194560" cy="411480"/>
          </a:xfrm>
          <a:prstGeom prst="rect">
            <a:avLst/>
          </a:prstGeom>
          <a:noFill/>
          <a:ln/>
        </p:spPr>
        <p:txBody>
          <a:bodyPr wrap="square" lIns="0" tIns="0" rIns="0" bIns="0" rtlCol="0" anchor="t"/>
          <a:lstStyle/>
          <a:p>
            <a:pPr indent="0" marL="0">
              <a:buNone/>
            </a:pPr>
            <a:r>
              <a:rPr lang="en-US" sz="1200" dirty="0">
                <a:solidFill>
                  <a:schemeClr val="accent5"/>
                </a:solidFill>
              </a:rPr>
              <a:t>Supplier balances at 30 September</a:t>
            </a:r>
            <a:endParaRPr lang="en-US" sz="1200" dirty="0"/>
          </a:p>
        </p:txBody>
      </p:sp>
      <p:sp>
        <p:nvSpPr>
          <p:cNvPr id="15" name="Payroll card"/>
          <p:cNvSpPr/>
          <p:nvPr/>
        </p:nvSpPr>
        <p:spPr>
          <a:xfrm>
            <a:off x="9052560" y="1371600"/>
            <a:ext cx="2587752" cy="1828800"/>
          </a:xfrm>
          <a:prstGeom prst="roundRect">
            <a:avLst>
              <a:gd name="adj" fmla="val 6000"/>
            </a:avLst>
          </a:prstGeom>
          <a:solidFill>
            <a:schemeClr val="bg2"/>
          </a:solidFill>
          <a:ln w="12700">
            <a:solidFill>
              <a:schemeClr val="bg2"/>
            </a:solidFill>
            <a:prstDash val="solid"/>
          </a:ln>
        </p:spPr>
      </p:sp>
      <p:sp>
        <p:nvSpPr>
          <p:cNvPr id="16" name="Payroll value"/>
          <p:cNvSpPr txBox="1"/>
          <p:nvPr/>
        </p:nvSpPr>
        <p:spPr>
          <a:xfrm>
            <a:off x="9281160" y="1554480"/>
            <a:ext cx="2130552"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KES 19.30M</a:t>
            </a:r>
            <a:endParaRPr lang="en-US" sz="3200" dirty="0"/>
          </a:p>
        </p:txBody>
      </p:sp>
      <p:sp>
        <p:nvSpPr>
          <p:cNvPr id="17" name="Payroll label"/>
          <p:cNvSpPr txBox="1"/>
          <p:nvPr/>
        </p:nvSpPr>
        <p:spPr>
          <a:xfrm>
            <a:off x="9281160" y="2377440"/>
            <a:ext cx="2130552" cy="320040"/>
          </a:xfrm>
          <a:prstGeom prst="rect">
            <a:avLst/>
          </a:prstGeom>
          <a:noFill/>
          <a:ln/>
        </p:spPr>
        <p:txBody>
          <a:bodyPr wrap="square" lIns="0" tIns="0" rIns="0" bIns="0" rtlCol="0" anchor="ctr"/>
          <a:lstStyle/>
          <a:p>
            <a:pPr indent="0" marL="0">
              <a:buNone/>
            </a:pPr>
            <a:r>
              <a:rPr lang="en-US" sz="1600" b="1" dirty="0">
                <a:solidFill>
                  <a:schemeClr val="tx1"/>
                </a:solidFill>
              </a:rPr>
              <a:t>Payroll-related payables</a:t>
            </a:r>
            <a:endParaRPr lang="en-US" sz="1600" dirty="0"/>
          </a:p>
        </p:txBody>
      </p:sp>
      <p:sp>
        <p:nvSpPr>
          <p:cNvPr id="18" name="Payroll note"/>
          <p:cNvSpPr txBox="1"/>
          <p:nvPr/>
        </p:nvSpPr>
        <p:spPr>
          <a:xfrm>
            <a:off x="9281160" y="2670048"/>
            <a:ext cx="2130552" cy="411480"/>
          </a:xfrm>
          <a:prstGeom prst="rect">
            <a:avLst/>
          </a:prstGeom>
          <a:noFill/>
          <a:ln/>
        </p:spPr>
        <p:txBody>
          <a:bodyPr wrap="square" lIns="0" tIns="0" rIns="0" bIns="0" rtlCol="0" anchor="t"/>
          <a:lstStyle/>
          <a:p>
            <a:pPr indent="0" marL="0">
              <a:buNone/>
            </a:pPr>
            <a:r>
              <a:rPr lang="en-US" sz="1200" dirty="0">
                <a:solidFill>
                  <a:schemeClr val="accent5"/>
                </a:solidFill>
              </a:rPr>
              <a:t>Includes statutory control accounts</a:t>
            </a:r>
            <a:endParaRPr lang="en-US" sz="1200" dirty="0"/>
          </a:p>
        </p:txBody>
      </p:sp>
      <p:sp>
        <p:nvSpPr>
          <p:cNvPr id="19" name="Liquidity insight panel"/>
          <p:cNvSpPr/>
          <p:nvPr/>
        </p:nvSpPr>
        <p:spPr>
          <a:xfrm>
            <a:off x="548640" y="3520440"/>
            <a:ext cx="11091672" cy="233172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822960" y="3703320"/>
            <a:ext cx="548640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matters for Q2</a:t>
            </a:r>
            <a:endParaRPr lang="en-US" sz="2000" dirty="0"/>
          </a:p>
        </p:txBody>
      </p:sp>
      <p:sp>
        <p:nvSpPr>
          <p:cNvPr id="21" name="Commentary"/>
          <p:cNvSpPr txBox="1"/>
          <p:nvPr/>
        </p:nvSpPr>
        <p:spPr>
          <a:xfrm>
            <a:off x="822960" y="4160520"/>
            <a:ext cx="10515600" cy="16459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Collections worked: gross trade receivables fell by KES 4.10M in Q1, more than the KES 3.79M billed.</a:t>
            </a:r>
            <a:endParaRPr lang="en-US" sz="1600" dirty="0"/>
          </a:p>
          <a:p>
            <a:pPr marL="342900" indent="-342900">
              <a:spcAft>
                <a:spcPts val="1000"/>
              </a:spcAft>
              <a:buSzPct val="100000"/>
              <a:buChar char="•"/>
            </a:pPr>
            <a:r>
              <a:rPr lang="en-US" sz="1600" dirty="0">
                <a:solidFill>
                  <a:schemeClr val="tx1"/>
                </a:solidFill>
              </a:rPr>
              <a:t>Current assets of KES 4.99M against current liabilities of KES 31.21M. Cash alone covers about 2% of liabilities.</a:t>
            </a:r>
            <a:endParaRPr lang="en-US" sz="1600" dirty="0"/>
          </a:p>
          <a:p>
            <a:pPr marL="342900" indent="-342900">
              <a:spcAft>
                <a:spcPts val="1000"/>
              </a:spcAft>
              <a:buSzPct val="100000"/>
              <a:buChar char="•"/>
            </a:pPr>
            <a:r>
              <a:rPr lang="en-US" sz="1600" dirty="0">
                <a:solidFill>
                  <a:schemeClr val="tx1"/>
                </a:solidFill>
              </a:rPr>
              <a:t>Statutory balances (PAYE, NSSF, NHIF, Housing Levy, HELB) total about KES 4.2M. Confirm remittance status.</a:t>
            </a:r>
            <a:endParaRPr lang="en-US" sz="1600" dirty="0"/>
          </a:p>
        </p:txBody>
      </p:sp>
      <p:sp>
        <p:nvSpPr>
          <p:cNvPr id="22"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Chart of Accounts, balance at 30 September 2026 (unaudited). Receivables movement is the Q1 net change on local trade receivables.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Three items to close before Q1 sign-off</a:t>
            </a:r>
            <a:endParaRPr lang="en-US" sz="3200" dirty="0"/>
          </a:p>
        </p:txBody>
      </p:sp>
      <p:sp>
        <p:nvSpPr>
          <p:cNvPr id="3" name="Item card 1"/>
          <p:cNvSpPr/>
          <p:nvPr/>
        </p:nvSpPr>
        <p:spPr>
          <a:xfrm>
            <a:off x="548640" y="1371600"/>
            <a:ext cx="11091672" cy="1371600"/>
          </a:xfrm>
          <a:prstGeom prst="roundRect">
            <a:avLst>
              <a:gd name="adj" fmla="val 8000"/>
            </a:avLst>
          </a:prstGeom>
          <a:solidFill>
            <a:schemeClr val="bg2"/>
          </a:solidFill>
          <a:ln w="12700">
            <a:solidFill>
              <a:schemeClr val="bg2"/>
            </a:solidFill>
            <a:prstDash val="solid"/>
          </a:ln>
        </p:spPr>
      </p:sp>
      <p:sp>
        <p:nvSpPr>
          <p:cNvPr id="4" name="Icon circle 1"/>
          <p:cNvSpPr/>
          <p:nvPr/>
        </p:nvSpPr>
        <p:spPr>
          <a:xfrm>
            <a:off x="777240" y="1737360"/>
            <a:ext cx="640080" cy="64008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914400" y="1874520"/>
            <a:ext cx="365760" cy="365760"/>
          </a:xfrm>
          <a:prstGeom prst="rect">
            <a:avLst/>
          </a:prstGeom>
        </p:spPr>
      </p:pic>
      <p:sp>
        <p:nvSpPr>
          <p:cNvPr id="6" name="Text 3"/>
          <p:cNvSpPr txBox="1"/>
          <p:nvPr/>
        </p:nvSpPr>
        <p:spPr>
          <a:xfrm>
            <a:off x="1691640" y="1463040"/>
            <a:ext cx="9784080" cy="1188720"/>
          </a:xfrm>
          <a:prstGeom prst="rect">
            <a:avLst/>
          </a:prstGeom>
          <a:noFill/>
          <a:ln/>
        </p:spPr>
        <p:txBody>
          <a:bodyPr wrap="square" lIns="0" tIns="0" rIns="0" bIns="0" rtlCol="0" anchor="ctr"/>
          <a:lstStyle/>
          <a:p>
            <a:pPr indent="0" marL="0">
              <a:spcAft>
                <a:spcPts val="300"/>
              </a:spcAft>
              <a:buNone/>
            </a:pPr>
            <a:r>
              <a:rPr lang="en-US" sz="1800" b="1" dirty="0">
                <a:solidFill>
                  <a:srgbClr val="0B3C49"/>
                </a:solidFill>
              </a:rPr>
              <a:t>Sales report and ledger split lines differently</a:t>
            </a:r>
            <a:endParaRPr lang="en-US" sz="1800" dirty="0"/>
          </a:p>
          <a:p>
            <a:pPr indent="0" marL="0">
              <a:spcAft>
                <a:spcPts val="300"/>
              </a:spcAft>
              <a:buNone/>
            </a:pPr>
            <a:r>
              <a:rPr lang="en-US" sz="1400" dirty="0">
                <a:solidFill>
                  <a:srgbClr val="13262B"/>
                </a:solidFill>
              </a:rPr>
              <a:t>Totals agree within KES 36. The line split does not: Elimu Pepe KES 0.82M in the sales report vs KES 0.14M in the ledger; Devices KES 0.11M vs KES 0.78M.</a:t>
            </a:r>
            <a:endParaRPr lang="en-US" sz="1800" dirty="0"/>
          </a:p>
          <a:p>
            <a:pPr indent="0" marL="0">
              <a:spcAft>
                <a:spcPts val="300"/>
              </a:spcAft>
              <a:buNone/>
            </a:pPr>
            <a:r>
              <a:rPr lang="en-US" sz="1400" b="1" dirty="0">
                <a:solidFill>
                  <a:srgbClr val="1B7F79"/>
                </a:solidFill>
              </a:rPr>
              <a:t>Action: reconcile postings and align product codes.</a:t>
            </a:r>
            <a:endParaRPr lang="en-US" sz="1800" dirty="0"/>
          </a:p>
        </p:txBody>
      </p:sp>
      <p:sp>
        <p:nvSpPr>
          <p:cNvPr id="7" name="Item card 2"/>
          <p:cNvSpPr/>
          <p:nvPr/>
        </p:nvSpPr>
        <p:spPr>
          <a:xfrm>
            <a:off x="548640" y="2926080"/>
            <a:ext cx="11091672" cy="1371600"/>
          </a:xfrm>
          <a:prstGeom prst="roundRect">
            <a:avLst>
              <a:gd name="adj" fmla="val 8000"/>
            </a:avLst>
          </a:prstGeom>
          <a:solidFill>
            <a:schemeClr val="bg2"/>
          </a:solidFill>
          <a:ln w="12700">
            <a:solidFill>
              <a:schemeClr val="bg2"/>
            </a:solidFill>
            <a:prstDash val="solid"/>
          </a:ln>
        </p:spPr>
      </p:sp>
      <p:sp>
        <p:nvSpPr>
          <p:cNvPr id="8" name="Icon circle 2"/>
          <p:cNvSpPr/>
          <p:nvPr/>
        </p:nvSpPr>
        <p:spPr>
          <a:xfrm>
            <a:off x="777240" y="3291840"/>
            <a:ext cx="640080" cy="640080"/>
          </a:xfrm>
          <a:prstGeom prst="ellipse">
            <a:avLst/>
          </a:prstGeom>
          <a:solidFill>
            <a:schemeClr val="accent1"/>
          </a:solidFill>
          <a:ln w="12700">
            <a:solidFill>
              <a:schemeClr val="accent1"/>
            </a:solidFill>
            <a:prstDash val="solid"/>
          </a:ln>
        </p:spPr>
      </p:sp>
      <p:pic>
        <p:nvPicPr>
          <p:cNvPr id="9" name="Image 1" descr="icon">    </p:cNvPr>
          <p:cNvPicPr>
            <a:picLocks noChangeAspect="1"/>
          </p:cNvPicPr>
          <p:nvPr/>
        </p:nvPicPr>
        <p:blipFill>
          <a:blip r:embed="rId2"/>
          <a:stretch>
            <a:fillRect/>
          </a:stretch>
        </p:blipFill>
        <p:spPr>
          <a:xfrm>
            <a:off x="914400" y="3429000"/>
            <a:ext cx="365760" cy="365760"/>
          </a:xfrm>
          <a:prstGeom prst="rect">
            <a:avLst/>
          </a:prstGeom>
        </p:spPr>
      </p:pic>
      <p:sp>
        <p:nvSpPr>
          <p:cNvPr id="10" name="Text 6"/>
          <p:cNvSpPr txBox="1"/>
          <p:nvPr/>
        </p:nvSpPr>
        <p:spPr>
          <a:xfrm>
            <a:off x="1691640" y="3017520"/>
            <a:ext cx="9784080" cy="1188720"/>
          </a:xfrm>
          <a:prstGeom prst="rect">
            <a:avLst/>
          </a:prstGeom>
          <a:noFill/>
          <a:ln/>
        </p:spPr>
        <p:txBody>
          <a:bodyPr wrap="square" lIns="0" tIns="0" rIns="0" bIns="0" rtlCol="0" anchor="ctr"/>
          <a:lstStyle/>
          <a:p>
            <a:pPr indent="0" marL="0">
              <a:spcAft>
                <a:spcPts val="300"/>
              </a:spcAft>
              <a:buNone/>
            </a:pPr>
            <a:r>
              <a:rPr lang="en-US" sz="1800" b="1" dirty="0">
                <a:solidFill>
                  <a:srgbClr val="0B3C49"/>
                </a:solidFill>
              </a:rPr>
              <a:t>Payroll and statutory control accounts</a:t>
            </a:r>
            <a:endParaRPr lang="en-US" sz="1800" dirty="0"/>
          </a:p>
          <a:p>
            <a:pPr indent="0" marL="0">
              <a:spcAft>
                <a:spcPts val="300"/>
              </a:spcAft>
              <a:buNone/>
            </a:pPr>
            <a:r>
              <a:rPr lang="en-US" sz="1400" dirty="0">
                <a:solidFill>
                  <a:srgbClr val="13262B"/>
                </a:solidFill>
              </a:rPr>
              <a:t>About KES 4.2M sits in PAYE, NSSF, NHIF, Housing Levy and HELB control accounts, with little or no Q1 movement.</a:t>
            </a:r>
            <a:endParaRPr lang="en-US" sz="1800" dirty="0"/>
          </a:p>
          <a:p>
            <a:pPr indent="0" marL="0">
              <a:spcAft>
                <a:spcPts val="300"/>
              </a:spcAft>
              <a:buNone/>
            </a:pPr>
            <a:r>
              <a:rPr lang="en-US" sz="1400" b="1" dirty="0">
                <a:solidFill>
                  <a:srgbClr val="1B7F79"/>
                </a:solidFill>
              </a:rPr>
              <a:t>Action: confirm payment status and agree a remittance schedule.</a:t>
            </a:r>
            <a:endParaRPr lang="en-US" sz="1800" dirty="0"/>
          </a:p>
        </p:txBody>
      </p:sp>
      <p:sp>
        <p:nvSpPr>
          <p:cNvPr id="11" name="Item card 3"/>
          <p:cNvSpPr/>
          <p:nvPr/>
        </p:nvSpPr>
        <p:spPr>
          <a:xfrm>
            <a:off x="548640" y="4480560"/>
            <a:ext cx="11091672" cy="1371600"/>
          </a:xfrm>
          <a:prstGeom prst="roundRect">
            <a:avLst>
              <a:gd name="adj" fmla="val 8000"/>
            </a:avLst>
          </a:prstGeom>
          <a:solidFill>
            <a:schemeClr val="bg2"/>
          </a:solidFill>
          <a:ln w="12700">
            <a:solidFill>
              <a:schemeClr val="bg2"/>
            </a:solidFill>
            <a:prstDash val="solid"/>
          </a:ln>
        </p:spPr>
      </p:sp>
      <p:sp>
        <p:nvSpPr>
          <p:cNvPr id="12" name="Icon circle 3"/>
          <p:cNvSpPr/>
          <p:nvPr/>
        </p:nvSpPr>
        <p:spPr>
          <a:xfrm>
            <a:off x="777240" y="4846320"/>
            <a:ext cx="640080" cy="640080"/>
          </a:xfrm>
          <a:prstGeom prst="ellipse">
            <a:avLst/>
          </a:prstGeom>
          <a:solidFill>
            <a:schemeClr val="accent1"/>
          </a:solidFill>
          <a:ln w="12700">
            <a:solidFill>
              <a:schemeClr val="accent1"/>
            </a:solidFill>
            <a:prstDash val="solid"/>
          </a:ln>
        </p:spPr>
      </p:sp>
      <p:pic>
        <p:nvPicPr>
          <p:cNvPr id="13" name="Image 2" descr="icon">    </p:cNvPr>
          <p:cNvPicPr>
            <a:picLocks noChangeAspect="1"/>
          </p:cNvPicPr>
          <p:nvPr/>
        </p:nvPicPr>
        <p:blipFill>
          <a:blip r:embed="rId3"/>
          <a:stretch>
            <a:fillRect/>
          </a:stretch>
        </p:blipFill>
        <p:spPr>
          <a:xfrm>
            <a:off x="914400" y="4983480"/>
            <a:ext cx="365760" cy="365760"/>
          </a:xfrm>
          <a:prstGeom prst="rect">
            <a:avLst/>
          </a:prstGeom>
        </p:spPr>
      </p:pic>
      <p:sp>
        <p:nvSpPr>
          <p:cNvPr id="14" name="Text 9"/>
          <p:cNvSpPr txBox="1"/>
          <p:nvPr/>
        </p:nvSpPr>
        <p:spPr>
          <a:xfrm>
            <a:off x="1691640" y="4572000"/>
            <a:ext cx="9784080" cy="1188720"/>
          </a:xfrm>
          <a:prstGeom prst="rect">
            <a:avLst/>
          </a:prstGeom>
          <a:noFill/>
          <a:ln/>
        </p:spPr>
        <p:txBody>
          <a:bodyPr wrap="square" lIns="0" tIns="0" rIns="0" bIns="0" rtlCol="0" anchor="ctr"/>
          <a:lstStyle/>
          <a:p>
            <a:pPr indent="0" marL="0">
              <a:spcAft>
                <a:spcPts val="300"/>
              </a:spcAft>
              <a:buNone/>
            </a:pPr>
            <a:r>
              <a:rPr lang="en-US" sz="1800" b="1" dirty="0">
                <a:solidFill>
                  <a:srgbClr val="0B3C49"/>
                </a:solidFill>
              </a:rPr>
              <a:t>Targets do not match how we sell</a:t>
            </a:r>
            <a:endParaRPr lang="en-US" sz="1800" dirty="0"/>
          </a:p>
          <a:p>
            <a:pPr indent="0" marL="0">
              <a:spcAft>
                <a:spcPts val="300"/>
              </a:spcAft>
              <a:buNone/>
            </a:pPr>
            <a:r>
              <a:rPr lang="en-US" sz="1400" dirty="0">
                <a:solidFill>
                  <a:srgbClr val="13262B"/>
                </a:solidFill>
              </a:rPr>
              <a:t>LoHo Campus has no target and no sales. MTN Academy produced KES 1.5M with no target.</a:t>
            </a:r>
            <a:endParaRPr lang="en-US" sz="1800" dirty="0"/>
          </a:p>
          <a:p>
            <a:pPr indent="0" marL="0">
              <a:spcAft>
                <a:spcPts val="300"/>
              </a:spcAft>
              <a:buNone/>
            </a:pPr>
            <a:r>
              <a:rPr lang="en-US" sz="1400" b="1" dirty="0">
                <a:solidFill>
                  <a:srgbClr val="1B7F79"/>
                </a:solidFill>
              </a:rPr>
              <a:t>Action: set Q2 targets for every revenue line.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Headcount grew from 15 to 17, with no exits</a:t>
            </a:r>
            <a:endParaRPr lang="en-US" sz="3200" dirty="0"/>
          </a:p>
        </p:txBody>
      </p:sp>
      <p:graphicFrame>
        <p:nvGraphicFramePr>
          <p:cNvPr id="3" name="Headcount chart" descr=""/>
          <p:cNvGraphicFramePr/>
          <p:nvPr/>
        </p:nvGraphicFramePr>
        <p:xfrm>
          <a:off x="548640" y="128016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4" name="Net change card"/>
          <p:cNvSpPr/>
          <p:nvPr/>
        </p:nvSpPr>
        <p:spPr>
          <a:xfrm>
            <a:off x="7498080" y="1371600"/>
            <a:ext cx="1965960" cy="1828800"/>
          </a:xfrm>
          <a:prstGeom prst="roundRect">
            <a:avLst>
              <a:gd name="adj" fmla="val 6000"/>
            </a:avLst>
          </a:prstGeom>
          <a:solidFill>
            <a:schemeClr val="bg2"/>
          </a:solidFill>
          <a:ln w="12700">
            <a:solidFill>
              <a:schemeClr val="bg2"/>
            </a:solidFill>
            <a:prstDash val="solid"/>
          </a:ln>
        </p:spPr>
      </p:sp>
      <p:sp>
        <p:nvSpPr>
          <p:cNvPr id="5" name="Net change value"/>
          <p:cNvSpPr txBox="1"/>
          <p:nvPr/>
        </p:nvSpPr>
        <p:spPr>
          <a:xfrm>
            <a:off x="7726680" y="1554480"/>
            <a:ext cx="150876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a:t>
            </a:r>
            <a:endParaRPr lang="en-US" sz="3200" dirty="0"/>
          </a:p>
        </p:txBody>
      </p:sp>
      <p:sp>
        <p:nvSpPr>
          <p:cNvPr id="6" name="Net change label"/>
          <p:cNvSpPr txBox="1"/>
          <p:nvPr/>
        </p:nvSpPr>
        <p:spPr>
          <a:xfrm>
            <a:off x="7726680" y="2377440"/>
            <a:ext cx="1508760" cy="320040"/>
          </a:xfrm>
          <a:prstGeom prst="rect">
            <a:avLst/>
          </a:prstGeom>
          <a:noFill/>
          <a:ln/>
        </p:spPr>
        <p:txBody>
          <a:bodyPr wrap="square" lIns="0" tIns="0" rIns="0" bIns="0" rtlCol="0" anchor="ctr"/>
          <a:lstStyle/>
          <a:p>
            <a:pPr indent="0" marL="0">
              <a:buNone/>
            </a:pPr>
            <a:r>
              <a:rPr lang="en-US" sz="1600" b="1" dirty="0">
                <a:solidFill>
                  <a:schemeClr val="tx1"/>
                </a:solidFill>
              </a:rPr>
              <a:t>Net change</a:t>
            </a:r>
            <a:endParaRPr lang="en-US" sz="1600" dirty="0"/>
          </a:p>
        </p:txBody>
      </p:sp>
      <p:sp>
        <p:nvSpPr>
          <p:cNvPr id="7" name="Net change note"/>
          <p:cNvSpPr txBox="1"/>
          <p:nvPr/>
        </p:nvSpPr>
        <p:spPr>
          <a:xfrm>
            <a:off x="7726680" y="2670048"/>
            <a:ext cx="1508760" cy="411480"/>
          </a:xfrm>
          <a:prstGeom prst="rect">
            <a:avLst/>
          </a:prstGeom>
          <a:noFill/>
          <a:ln/>
        </p:spPr>
        <p:txBody>
          <a:bodyPr wrap="square" lIns="0" tIns="0" rIns="0" bIns="0" rtlCol="0" anchor="t"/>
          <a:lstStyle/>
          <a:p>
            <a:pPr indent="0" marL="0">
              <a:buNone/>
            </a:pPr>
            <a:r>
              <a:rPr lang="en-US" sz="1200" dirty="0">
                <a:solidFill>
                  <a:schemeClr val="accent5"/>
                </a:solidFill>
              </a:rPr>
              <a:t>Both consultants</a:t>
            </a:r>
            <a:endParaRPr lang="en-US" sz="1200" dirty="0"/>
          </a:p>
        </p:txBody>
      </p:sp>
      <p:sp>
        <p:nvSpPr>
          <p:cNvPr id="8" name="Exits card"/>
          <p:cNvSpPr/>
          <p:nvPr/>
        </p:nvSpPr>
        <p:spPr>
          <a:xfrm>
            <a:off x="9646920" y="1371600"/>
            <a:ext cx="1993392" cy="1828800"/>
          </a:xfrm>
          <a:prstGeom prst="roundRect">
            <a:avLst>
              <a:gd name="adj" fmla="val 6000"/>
            </a:avLst>
          </a:prstGeom>
          <a:solidFill>
            <a:schemeClr val="bg2"/>
          </a:solidFill>
          <a:ln w="12700">
            <a:solidFill>
              <a:schemeClr val="bg2"/>
            </a:solidFill>
            <a:prstDash val="solid"/>
          </a:ln>
        </p:spPr>
      </p:sp>
      <p:sp>
        <p:nvSpPr>
          <p:cNvPr id="9" name="Exits value"/>
          <p:cNvSpPr txBox="1"/>
          <p:nvPr/>
        </p:nvSpPr>
        <p:spPr>
          <a:xfrm>
            <a:off x="9875520" y="1554480"/>
            <a:ext cx="1536192" cy="8229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a:t>
            </a:r>
            <a:endParaRPr lang="en-US" sz="3200" dirty="0"/>
          </a:p>
        </p:txBody>
      </p:sp>
      <p:sp>
        <p:nvSpPr>
          <p:cNvPr id="10" name="Exits label"/>
          <p:cNvSpPr txBox="1"/>
          <p:nvPr/>
        </p:nvSpPr>
        <p:spPr>
          <a:xfrm>
            <a:off x="9875520" y="2377440"/>
            <a:ext cx="1536192" cy="320040"/>
          </a:xfrm>
          <a:prstGeom prst="rect">
            <a:avLst/>
          </a:prstGeom>
          <a:noFill/>
          <a:ln/>
        </p:spPr>
        <p:txBody>
          <a:bodyPr wrap="square" lIns="0" tIns="0" rIns="0" bIns="0" rtlCol="0" anchor="ctr"/>
          <a:lstStyle/>
          <a:p>
            <a:pPr indent="0" marL="0">
              <a:buNone/>
            </a:pPr>
            <a:r>
              <a:rPr lang="en-US" sz="1600" b="1" dirty="0">
                <a:solidFill>
                  <a:schemeClr val="tx1"/>
                </a:solidFill>
              </a:rPr>
              <a:t>Exits</a:t>
            </a:r>
            <a:endParaRPr lang="en-US" sz="1600" dirty="0"/>
          </a:p>
        </p:txBody>
      </p:sp>
      <p:sp>
        <p:nvSpPr>
          <p:cNvPr id="11" name="Exits note"/>
          <p:cNvSpPr txBox="1"/>
          <p:nvPr/>
        </p:nvSpPr>
        <p:spPr>
          <a:xfrm>
            <a:off x="9875520" y="2670048"/>
            <a:ext cx="1536192" cy="411480"/>
          </a:xfrm>
          <a:prstGeom prst="rect">
            <a:avLst/>
          </a:prstGeom>
          <a:noFill/>
          <a:ln/>
        </p:spPr>
        <p:txBody>
          <a:bodyPr wrap="square" lIns="0" tIns="0" rIns="0" bIns="0" rtlCol="0" anchor="t"/>
          <a:lstStyle/>
          <a:p>
            <a:pPr indent="0" marL="0">
              <a:buNone/>
            </a:pPr>
            <a:r>
              <a:rPr lang="en-US" sz="1200" dirty="0">
                <a:solidFill>
                  <a:schemeClr val="accent5"/>
                </a:solidFill>
              </a:rPr>
              <a:t>None in Q1</a:t>
            </a:r>
            <a:endParaRPr lang="en-US" sz="1200" dirty="0"/>
          </a:p>
        </p:txBody>
      </p:sp>
      <p:sp>
        <p:nvSpPr>
          <p:cNvPr id="12" name="Hires card"/>
          <p:cNvSpPr/>
          <p:nvPr/>
        </p:nvSpPr>
        <p:spPr>
          <a:xfrm>
            <a:off x="7498080" y="3429000"/>
            <a:ext cx="4142232" cy="2423160"/>
          </a:xfrm>
          <a:prstGeom prst="roundRect">
            <a:avLst>
              <a:gd name="adj" fmla="val 4528"/>
            </a:avLst>
          </a:prstGeom>
          <a:solidFill>
            <a:schemeClr val="bg2"/>
          </a:solidFill>
          <a:ln w="12700">
            <a:solidFill>
              <a:schemeClr val="bg2"/>
            </a:solidFill>
            <a:prstDash val="solid"/>
          </a:ln>
        </p:spPr>
      </p:sp>
      <p:sp>
        <p:nvSpPr>
          <p:cNvPr id="13" name="Text 10"/>
          <p:cNvSpPr txBox="1"/>
          <p:nvPr/>
        </p:nvSpPr>
        <p:spPr>
          <a:xfrm>
            <a:off x="7726680" y="3611880"/>
            <a:ext cx="365760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Q1 hires</a:t>
            </a:r>
            <a:endParaRPr lang="en-US" sz="2000" dirty="0"/>
          </a:p>
        </p:txBody>
      </p:sp>
      <p:sp>
        <p:nvSpPr>
          <p:cNvPr id="14" name="Commentary"/>
          <p:cNvSpPr txBox="1"/>
          <p:nvPr/>
        </p:nvSpPr>
        <p:spPr>
          <a:xfrm>
            <a:off x="7726680" y="4114800"/>
            <a:ext cx="3703320" cy="16459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August: one Business Associate</a:t>
            </a:r>
            <a:endParaRPr lang="en-US" sz="1500" dirty="0"/>
          </a:p>
          <a:p>
            <a:pPr marL="342900" indent="-342900">
              <a:spcAft>
                <a:spcPts val="1000"/>
              </a:spcAft>
              <a:buSzPct val="100000"/>
              <a:buChar char="•"/>
            </a:pPr>
            <a:r>
              <a:rPr lang="en-US" sz="1500" dirty="0">
                <a:solidFill>
                  <a:schemeClr val="tx1"/>
                </a:solidFill>
              </a:rPr>
              <a:t>Mid-September: one software developer</a:t>
            </a:r>
            <a:endParaRPr lang="en-US" sz="1500" dirty="0"/>
          </a:p>
          <a:p>
            <a:pPr marL="342900" indent="-342900">
              <a:spcAft>
                <a:spcPts val="1000"/>
              </a:spcAft>
              <a:buSzPct val="100000"/>
              <a:buChar char="•"/>
            </a:pPr>
            <a:r>
              <a:rPr lang="en-US" sz="1500" dirty="0">
                <a:solidFill>
                  <a:schemeClr val="tx1"/>
                </a:solidFill>
              </a:rPr>
              <a:t>Consultants are now 29% of headcount</a:t>
            </a:r>
            <a:endParaRPr lang="en-US" sz="1500" dirty="0"/>
          </a:p>
        </p:txBody>
      </p:sp>
      <p:sp>
        <p:nvSpPr>
          <p:cNvPr id="15"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Q1 HR Report, July to September 2026.</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Recruitment: BA hiring paused at 3 of 5</a:t>
            </a:r>
            <a:endParaRPr lang="en-US" sz="3200" dirty="0"/>
          </a:p>
        </p:txBody>
      </p:sp>
      <p:sp>
        <p:nvSpPr>
          <p:cNvPr id="3" name="BA card"/>
          <p:cNvSpPr/>
          <p:nvPr/>
        </p:nvSpPr>
        <p:spPr>
          <a:xfrm>
            <a:off x="548640" y="1371600"/>
            <a:ext cx="5486400" cy="301752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777240" y="1554480"/>
            <a:ext cx="50292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Business Associates (Safaricom outlets)</a:t>
            </a:r>
            <a:endParaRPr lang="en-US" sz="1800" dirty="0"/>
          </a:p>
        </p:txBody>
      </p:sp>
      <p:sp>
        <p:nvSpPr>
          <p:cNvPr id="5" name="BA slot 1"/>
          <p:cNvSpPr/>
          <p:nvPr/>
        </p:nvSpPr>
        <p:spPr>
          <a:xfrm>
            <a:off x="777240" y="2148840"/>
            <a:ext cx="868680" cy="685800"/>
          </a:xfrm>
          <a:prstGeom prst="roundRect">
            <a:avLst>
              <a:gd name="adj" fmla="val 10667"/>
            </a:avLst>
          </a:prstGeom>
          <a:solidFill>
            <a:schemeClr val="accent1"/>
          </a:solidFill>
          <a:ln w="19050">
            <a:solidFill>
              <a:schemeClr val="accent1"/>
            </a:solidFill>
            <a:prstDash val="solid"/>
          </a:ln>
        </p:spPr>
      </p:sp>
      <p:sp>
        <p:nvSpPr>
          <p:cNvPr id="6" name="BA slot 2"/>
          <p:cNvSpPr/>
          <p:nvPr/>
        </p:nvSpPr>
        <p:spPr>
          <a:xfrm>
            <a:off x="1764792" y="2148840"/>
            <a:ext cx="868680" cy="685800"/>
          </a:xfrm>
          <a:prstGeom prst="roundRect">
            <a:avLst>
              <a:gd name="adj" fmla="val 10667"/>
            </a:avLst>
          </a:prstGeom>
          <a:solidFill>
            <a:schemeClr val="accent1"/>
          </a:solidFill>
          <a:ln w="19050">
            <a:solidFill>
              <a:schemeClr val="accent1"/>
            </a:solidFill>
            <a:prstDash val="solid"/>
          </a:ln>
        </p:spPr>
      </p:sp>
      <p:sp>
        <p:nvSpPr>
          <p:cNvPr id="7" name="BA slot 3"/>
          <p:cNvSpPr/>
          <p:nvPr/>
        </p:nvSpPr>
        <p:spPr>
          <a:xfrm>
            <a:off x="2752344" y="2148840"/>
            <a:ext cx="868680" cy="685800"/>
          </a:xfrm>
          <a:prstGeom prst="roundRect">
            <a:avLst>
              <a:gd name="adj" fmla="val 10667"/>
            </a:avLst>
          </a:prstGeom>
          <a:solidFill>
            <a:schemeClr val="accent1"/>
          </a:solidFill>
          <a:ln w="19050">
            <a:solidFill>
              <a:schemeClr val="accent1"/>
            </a:solidFill>
            <a:prstDash val="solid"/>
          </a:ln>
        </p:spPr>
      </p:sp>
      <p:sp>
        <p:nvSpPr>
          <p:cNvPr id="8" name="BA slot 4"/>
          <p:cNvSpPr/>
          <p:nvPr/>
        </p:nvSpPr>
        <p:spPr>
          <a:xfrm>
            <a:off x="3739896" y="2148840"/>
            <a:ext cx="868680" cy="685800"/>
          </a:xfrm>
          <a:prstGeom prst="roundRect">
            <a:avLst>
              <a:gd name="adj" fmla="val 10667"/>
            </a:avLst>
          </a:prstGeom>
          <a:solidFill>
            <a:schemeClr val="bg1"/>
          </a:solidFill>
          <a:ln w="19050">
            <a:solidFill>
              <a:schemeClr val="accent1"/>
            </a:solidFill>
            <a:prstDash val="solid"/>
          </a:ln>
        </p:spPr>
      </p:sp>
      <p:sp>
        <p:nvSpPr>
          <p:cNvPr id="9" name="BA slot 5"/>
          <p:cNvSpPr/>
          <p:nvPr/>
        </p:nvSpPr>
        <p:spPr>
          <a:xfrm>
            <a:off x="4727448" y="2148840"/>
            <a:ext cx="868680" cy="685800"/>
          </a:xfrm>
          <a:prstGeom prst="roundRect">
            <a:avLst>
              <a:gd name="adj" fmla="val 10667"/>
            </a:avLst>
          </a:prstGeom>
          <a:solidFill>
            <a:schemeClr val="bg1"/>
          </a:solidFill>
          <a:ln w="19050">
            <a:solidFill>
              <a:schemeClr val="accent1"/>
            </a:solidFill>
            <a:prstDash val="solid"/>
          </a:ln>
        </p:spPr>
      </p:sp>
      <p:sp>
        <p:nvSpPr>
          <p:cNvPr id="10" name="Text 8"/>
          <p:cNvSpPr txBox="1"/>
          <p:nvPr/>
        </p:nvSpPr>
        <p:spPr>
          <a:xfrm>
            <a:off x="777240" y="2971800"/>
            <a:ext cx="5029200" cy="365760"/>
          </a:xfrm>
          <a:prstGeom prst="rect">
            <a:avLst/>
          </a:prstGeom>
          <a:noFill/>
          <a:ln/>
        </p:spPr>
        <p:txBody>
          <a:bodyPr wrap="square" lIns="0" tIns="0" rIns="0" bIns="0" rtlCol="0" anchor="ctr"/>
          <a:lstStyle/>
          <a:p>
            <a:pPr indent="0" marL="0">
              <a:buNone/>
            </a:pPr>
            <a:r>
              <a:rPr lang="en-US" sz="1600" b="1" dirty="0">
                <a:solidFill>
                  <a:schemeClr val="tx1"/>
                </a:solidFill>
              </a:rPr>
              <a:t>3 of 5 filled (all consultants)</a:t>
            </a:r>
            <a:endParaRPr lang="en-US" sz="1600" dirty="0"/>
          </a:p>
        </p:txBody>
      </p:sp>
      <p:sp>
        <p:nvSpPr>
          <p:cNvPr id="11" name="Text 9"/>
          <p:cNvSpPr txBox="1"/>
          <p:nvPr/>
        </p:nvSpPr>
        <p:spPr>
          <a:xfrm>
            <a:off x="777240" y="3383280"/>
            <a:ext cx="5029200" cy="822960"/>
          </a:xfrm>
          <a:prstGeom prst="rect">
            <a:avLst/>
          </a:prstGeom>
          <a:noFill/>
          <a:ln/>
        </p:spPr>
        <p:txBody>
          <a:bodyPr wrap="square" lIns="0" tIns="0" rIns="0" bIns="0" rtlCol="0" anchor="t"/>
          <a:lstStyle/>
          <a:p>
            <a:pPr indent="0" marL="0">
              <a:buNone/>
            </a:pPr>
            <a:r>
              <a:rPr lang="en-US" sz="1400" dirty="0">
                <a:solidFill>
                  <a:schemeClr val="tx1"/>
                </a:solidFill>
              </a:rPr>
              <a:t>Recruitment suspended in September. 2 of the 3 filled posts were already in place at the start of the quarter.</a:t>
            </a:r>
            <a:endParaRPr lang="en-US" sz="1400" dirty="0"/>
          </a:p>
        </p:txBody>
      </p:sp>
      <p:sp>
        <p:nvSpPr>
          <p:cNvPr id="12" name="Developer card"/>
          <p:cNvSpPr/>
          <p:nvPr/>
        </p:nvSpPr>
        <p:spPr>
          <a:xfrm>
            <a:off x="6309360" y="1371600"/>
            <a:ext cx="5330952" cy="3017520"/>
          </a:xfrm>
          <a:prstGeom prst="roundRect">
            <a:avLst>
              <a:gd name="adj" fmla="val 3636"/>
            </a:avLst>
          </a:prstGeom>
          <a:solidFill>
            <a:schemeClr val="bg2"/>
          </a:solidFill>
          <a:ln w="12700">
            <a:solidFill>
              <a:schemeClr val="bg2"/>
            </a:solidFill>
            <a:prstDash val="solid"/>
          </a:ln>
        </p:spPr>
      </p:sp>
      <p:sp>
        <p:nvSpPr>
          <p:cNvPr id="13" name="Text 11"/>
          <p:cNvSpPr txBox="1"/>
          <p:nvPr/>
        </p:nvSpPr>
        <p:spPr>
          <a:xfrm>
            <a:off x="6537960" y="1554480"/>
            <a:ext cx="4846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Internal developers</a:t>
            </a:r>
            <a:endParaRPr lang="en-US" sz="1800" dirty="0"/>
          </a:p>
        </p:txBody>
      </p:sp>
      <p:sp>
        <p:nvSpPr>
          <p:cNvPr id="14" name="Text 12"/>
          <p:cNvSpPr txBox="1"/>
          <p:nvPr/>
        </p:nvSpPr>
        <p:spPr>
          <a:xfrm>
            <a:off x="6537960" y="2011680"/>
            <a:ext cx="109728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a:t>
            </a:r>
            <a:endParaRPr lang="en-US" sz="6000" dirty="0"/>
          </a:p>
        </p:txBody>
      </p:sp>
      <p:sp>
        <p:nvSpPr>
          <p:cNvPr id="15" name="Text 13"/>
          <p:cNvSpPr txBox="1"/>
          <p:nvPr/>
        </p:nvSpPr>
        <p:spPr>
          <a:xfrm>
            <a:off x="7680960" y="2011680"/>
            <a:ext cx="3749040" cy="1005840"/>
          </a:xfrm>
          <a:prstGeom prst="rect">
            <a:avLst/>
          </a:prstGeom>
          <a:noFill/>
          <a:ln/>
        </p:spPr>
        <p:txBody>
          <a:bodyPr wrap="square" lIns="0" tIns="0" rIns="0" bIns="0" rtlCol="0" anchor="ctr"/>
          <a:lstStyle/>
          <a:p>
            <a:pPr indent="0" marL="0">
              <a:buNone/>
            </a:pPr>
            <a:r>
              <a:rPr lang="en-US" sz="1500" dirty="0">
                <a:solidFill>
                  <a:schemeClr val="tx1"/>
                </a:solidFill>
              </a:rPr>
              <a:t>software developer hired (consultant), mid-September</a:t>
            </a:r>
            <a:endParaRPr lang="en-US" sz="1500" dirty="0"/>
          </a:p>
        </p:txBody>
      </p:sp>
      <p:sp>
        <p:nvSpPr>
          <p:cNvPr id="16" name="Text 14"/>
          <p:cNvSpPr txBox="1"/>
          <p:nvPr/>
        </p:nvSpPr>
        <p:spPr>
          <a:xfrm>
            <a:off x="6537960" y="3291840"/>
            <a:ext cx="4846320" cy="822960"/>
          </a:xfrm>
          <a:prstGeom prst="rect">
            <a:avLst/>
          </a:prstGeom>
          <a:noFill/>
          <a:ln/>
        </p:spPr>
        <p:txBody>
          <a:bodyPr wrap="square" lIns="0" tIns="0" rIns="0" bIns="0" rtlCol="0" anchor="t"/>
          <a:lstStyle/>
          <a:p>
            <a:pPr indent="0" marL="0">
              <a:buNone/>
            </a:pPr>
            <a:r>
              <a:rPr lang="en-US" sz="1400" dirty="0">
                <a:solidFill>
                  <a:schemeClr val="tx1"/>
                </a:solidFill>
              </a:rPr>
              <a:t>Total positions needed: to be confirmed. Status: in progress.</a:t>
            </a:r>
            <a:endParaRPr lang="en-US" sz="1400" dirty="0"/>
          </a:p>
        </p:txBody>
      </p:sp>
      <p:sp>
        <p:nvSpPr>
          <p:cNvPr id="17" name="Training card"/>
          <p:cNvSpPr/>
          <p:nvPr/>
        </p:nvSpPr>
        <p:spPr>
          <a:xfrm>
            <a:off x="548640" y="4617720"/>
            <a:ext cx="11091672" cy="1280160"/>
          </a:xfrm>
          <a:prstGeom prst="roundRect">
            <a:avLst>
              <a:gd name="adj" fmla="val 8571"/>
            </a:avLst>
          </a:prstGeom>
          <a:solidFill>
            <a:schemeClr val="bg2"/>
          </a:solidFill>
          <a:ln w="12700">
            <a:solidFill>
              <a:schemeClr val="bg2"/>
            </a:solidFill>
            <a:prstDash val="solid"/>
          </a:ln>
        </p:spPr>
      </p:sp>
      <p:sp>
        <p:nvSpPr>
          <p:cNvPr id="18" name="Icon circle"/>
          <p:cNvSpPr/>
          <p:nvPr/>
        </p:nvSpPr>
        <p:spPr>
          <a:xfrm>
            <a:off x="777240" y="4937760"/>
            <a:ext cx="640080" cy="640080"/>
          </a:xfrm>
          <a:prstGeom prst="ellipse">
            <a:avLst/>
          </a:prstGeom>
          <a:solidFill>
            <a:schemeClr val="accent1"/>
          </a:solidFill>
          <a:ln w="12700">
            <a:solidFill>
              <a:schemeClr val="accent1"/>
            </a:solidFill>
            <a:prstDash val="solid"/>
          </a:ln>
        </p:spPr>
      </p:sp>
      <p:pic>
        <p:nvPicPr>
          <p:cNvPr id="19" name="Image 0" descr="icon">    </p:cNvPr>
          <p:cNvPicPr>
            <a:picLocks noChangeAspect="1"/>
          </p:cNvPicPr>
          <p:nvPr/>
        </p:nvPicPr>
        <p:blipFill>
          <a:blip r:embed="rId1"/>
          <a:stretch>
            <a:fillRect/>
          </a:stretch>
        </p:blipFill>
        <p:spPr>
          <a:xfrm>
            <a:off x="914400" y="5074920"/>
            <a:ext cx="365760" cy="365760"/>
          </a:xfrm>
          <a:prstGeom prst="rect">
            <a:avLst/>
          </a:prstGeom>
        </p:spPr>
      </p:pic>
      <p:sp>
        <p:nvSpPr>
          <p:cNvPr id="20" name="Text 17"/>
          <p:cNvSpPr txBox="1"/>
          <p:nvPr/>
        </p:nvSpPr>
        <p:spPr>
          <a:xfrm>
            <a:off x="1691640" y="4709160"/>
            <a:ext cx="9784080" cy="1097280"/>
          </a:xfrm>
          <a:prstGeom prst="rect">
            <a:avLst/>
          </a:prstGeom>
          <a:noFill/>
          <a:ln/>
        </p:spPr>
        <p:txBody>
          <a:bodyPr wrap="square" lIns="0" tIns="0" rIns="0" bIns="0" rtlCol="0" anchor="ctr"/>
          <a:lstStyle/>
          <a:p>
            <a:pPr indent="0" marL="0">
              <a:buNone/>
            </a:pPr>
            <a:r>
              <a:rPr lang="en-US" sz="1600" b="1" dirty="0">
                <a:solidFill>
                  <a:schemeClr val="tx1"/>
                </a:solidFill>
              </a:rPr>
              <a:t>Employee Portal training completed in July</a:t>
            </a:r>
            <a:endParaRPr lang="en-US" sz="1600" dirty="0"/>
          </a:p>
          <a:p>
            <a:pPr indent="0" marL="0">
              <a:buNone/>
            </a:pPr>
            <a:r>
              <a:rPr lang="en-US" sz="1400" dirty="0">
                <a:solidFill>
                  <a:schemeClr val="tx1"/>
                </a:solidFill>
              </a:rPr>
              <a:t>Covered all eligible staff.</a:t>
            </a:r>
            <a:endParaRPr lang="en-US" sz="1600" dirty="0"/>
          </a:p>
        </p:txBody>
      </p:sp>
      <p:sp>
        <p:nvSpPr>
          <p:cNvPr id="21"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Q1 HR Report.</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Staff survey: growth is a strength, pay is the gap</a:t>
            </a:r>
            <a:endParaRPr lang="en-US" sz="3200" dirty="0"/>
          </a:p>
        </p:txBody>
      </p:sp>
      <p:sp>
        <p:nvSpPr>
          <p:cNvPr id="3" name="Response card"/>
          <p:cNvSpPr/>
          <p:nvPr/>
        </p:nvSpPr>
        <p:spPr>
          <a:xfrm>
            <a:off x="548640" y="1371600"/>
            <a:ext cx="3566160" cy="1828800"/>
          </a:xfrm>
          <a:prstGeom prst="roundRect">
            <a:avLst>
              <a:gd name="adj" fmla="val 6000"/>
            </a:avLst>
          </a:prstGeom>
          <a:solidFill>
            <a:schemeClr val="bg2"/>
          </a:solidFill>
          <a:ln w="12700">
            <a:solidFill>
              <a:schemeClr val="bg2"/>
            </a:solidFill>
            <a:prstDash val="solid"/>
          </a:ln>
        </p:spPr>
      </p:sp>
      <p:sp>
        <p:nvSpPr>
          <p:cNvPr id="4" name="Response value"/>
          <p:cNvSpPr txBox="1"/>
          <p:nvPr/>
        </p:nvSpPr>
        <p:spPr>
          <a:xfrm>
            <a:off x="777240" y="1554480"/>
            <a:ext cx="310896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50%</a:t>
            </a:r>
            <a:endParaRPr lang="en-US" sz="3200" dirty="0"/>
          </a:p>
        </p:txBody>
      </p:sp>
      <p:sp>
        <p:nvSpPr>
          <p:cNvPr id="5" name="Response label"/>
          <p:cNvSpPr txBox="1"/>
          <p:nvPr/>
        </p:nvSpPr>
        <p:spPr>
          <a:xfrm>
            <a:off x="777240" y="2377440"/>
            <a:ext cx="3108960" cy="320040"/>
          </a:xfrm>
          <a:prstGeom prst="rect">
            <a:avLst/>
          </a:prstGeom>
          <a:noFill/>
          <a:ln/>
        </p:spPr>
        <p:txBody>
          <a:bodyPr wrap="square" lIns="0" tIns="0" rIns="0" bIns="0" rtlCol="0" anchor="ctr"/>
          <a:lstStyle/>
          <a:p>
            <a:pPr indent="0" marL="0">
              <a:buNone/>
            </a:pPr>
            <a:r>
              <a:rPr lang="en-US" sz="1600" b="1" dirty="0">
                <a:solidFill>
                  <a:schemeClr val="tx1"/>
                </a:solidFill>
              </a:rPr>
              <a:t>Response rate</a:t>
            </a:r>
            <a:endParaRPr lang="en-US" sz="1600" dirty="0"/>
          </a:p>
        </p:txBody>
      </p:sp>
      <p:sp>
        <p:nvSpPr>
          <p:cNvPr id="6" name="Response note"/>
          <p:cNvSpPr txBox="1"/>
          <p:nvPr/>
        </p:nvSpPr>
        <p:spPr>
          <a:xfrm>
            <a:off x="777240" y="2670048"/>
            <a:ext cx="3108960" cy="411480"/>
          </a:xfrm>
          <a:prstGeom prst="rect">
            <a:avLst/>
          </a:prstGeom>
          <a:noFill/>
          <a:ln/>
        </p:spPr>
        <p:txBody>
          <a:bodyPr wrap="square" lIns="0" tIns="0" rIns="0" bIns="0" rtlCol="0" anchor="t"/>
          <a:lstStyle/>
          <a:p>
            <a:pPr indent="0" marL="0">
              <a:buNone/>
            </a:pPr>
            <a:r>
              <a:rPr lang="en-US" sz="1200" dirty="0">
                <a:solidFill>
                  <a:schemeClr val="accent5"/>
                </a:solidFill>
              </a:rPr>
              <a:t>Anonymous, 31 questions, 10 sections</a:t>
            </a:r>
            <a:endParaRPr lang="en-US" sz="1200" dirty="0"/>
          </a:p>
        </p:txBody>
      </p:sp>
      <p:sp>
        <p:nvSpPr>
          <p:cNvPr id="7" name="Satisfaction card"/>
          <p:cNvSpPr/>
          <p:nvPr/>
        </p:nvSpPr>
        <p:spPr>
          <a:xfrm>
            <a:off x="4297680" y="1371600"/>
            <a:ext cx="3566160" cy="1828800"/>
          </a:xfrm>
          <a:prstGeom prst="roundRect">
            <a:avLst>
              <a:gd name="adj" fmla="val 6000"/>
            </a:avLst>
          </a:prstGeom>
          <a:solidFill>
            <a:schemeClr val="bg2"/>
          </a:solidFill>
          <a:ln w="12700">
            <a:solidFill>
              <a:schemeClr val="bg2"/>
            </a:solidFill>
            <a:prstDash val="solid"/>
          </a:ln>
        </p:spPr>
      </p:sp>
      <p:sp>
        <p:nvSpPr>
          <p:cNvPr id="8" name="Satisfaction value"/>
          <p:cNvSpPr txBox="1"/>
          <p:nvPr/>
        </p:nvSpPr>
        <p:spPr>
          <a:xfrm>
            <a:off x="4526280" y="1554480"/>
            <a:ext cx="3108960"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40%</a:t>
            </a:r>
            <a:endParaRPr lang="en-US" sz="3200" dirty="0"/>
          </a:p>
        </p:txBody>
      </p:sp>
      <p:sp>
        <p:nvSpPr>
          <p:cNvPr id="9" name="Satisfaction label"/>
          <p:cNvSpPr txBox="1"/>
          <p:nvPr/>
        </p:nvSpPr>
        <p:spPr>
          <a:xfrm>
            <a:off x="4526280" y="2377440"/>
            <a:ext cx="3108960" cy="320040"/>
          </a:xfrm>
          <a:prstGeom prst="rect">
            <a:avLst/>
          </a:prstGeom>
          <a:noFill/>
          <a:ln/>
        </p:spPr>
        <p:txBody>
          <a:bodyPr wrap="square" lIns="0" tIns="0" rIns="0" bIns="0" rtlCol="0" anchor="ctr"/>
          <a:lstStyle/>
          <a:p>
            <a:pPr indent="0" marL="0">
              <a:buNone/>
            </a:pPr>
            <a:r>
              <a:rPr lang="en-US" sz="1600" b="1" dirty="0">
                <a:solidFill>
                  <a:schemeClr val="tx1"/>
                </a:solidFill>
              </a:rPr>
              <a:t>Overall satisfaction</a:t>
            </a:r>
            <a:endParaRPr lang="en-US" sz="1600" dirty="0"/>
          </a:p>
        </p:txBody>
      </p:sp>
      <p:sp>
        <p:nvSpPr>
          <p:cNvPr id="10" name="Satisfaction note"/>
          <p:cNvSpPr txBox="1"/>
          <p:nvPr/>
        </p:nvSpPr>
        <p:spPr>
          <a:xfrm>
            <a:off x="4526280" y="2670048"/>
            <a:ext cx="3108960" cy="411480"/>
          </a:xfrm>
          <a:prstGeom prst="rect">
            <a:avLst/>
          </a:prstGeom>
          <a:noFill/>
          <a:ln/>
        </p:spPr>
        <p:txBody>
          <a:bodyPr wrap="square" lIns="0" tIns="0" rIns="0" bIns="0" rtlCol="0" anchor="t"/>
          <a:lstStyle/>
          <a:p>
            <a:pPr indent="0" marL="0">
              <a:buNone/>
            </a:pPr>
            <a:r>
              <a:rPr lang="en-US" sz="1200" dirty="0">
                <a:solidFill>
                  <a:schemeClr val="accent5"/>
                </a:solidFill>
              </a:rPr>
              <a:t>Statement 26</a:t>
            </a:r>
            <a:endParaRPr lang="en-US" sz="1200" dirty="0"/>
          </a:p>
        </p:txBody>
      </p:sp>
      <p:sp>
        <p:nvSpPr>
          <p:cNvPr id="11" name="eNPS card"/>
          <p:cNvSpPr/>
          <p:nvPr/>
        </p:nvSpPr>
        <p:spPr>
          <a:xfrm>
            <a:off x="8046720" y="1371600"/>
            <a:ext cx="3593592" cy="1828800"/>
          </a:xfrm>
          <a:prstGeom prst="roundRect">
            <a:avLst>
              <a:gd name="adj" fmla="val 6000"/>
            </a:avLst>
          </a:prstGeom>
          <a:solidFill>
            <a:schemeClr val="bg2"/>
          </a:solidFill>
          <a:ln w="12700">
            <a:solidFill>
              <a:schemeClr val="bg2"/>
            </a:solidFill>
            <a:prstDash val="solid"/>
          </a:ln>
        </p:spPr>
      </p:sp>
      <p:sp>
        <p:nvSpPr>
          <p:cNvPr id="12" name="eNPS value"/>
          <p:cNvSpPr txBox="1"/>
          <p:nvPr/>
        </p:nvSpPr>
        <p:spPr>
          <a:xfrm>
            <a:off x="8275320" y="1554480"/>
            <a:ext cx="3136392" cy="82296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-75</a:t>
            </a:r>
            <a:endParaRPr lang="en-US" sz="3200" dirty="0"/>
          </a:p>
        </p:txBody>
      </p:sp>
      <p:sp>
        <p:nvSpPr>
          <p:cNvPr id="13" name="eNPS label"/>
          <p:cNvSpPr txBox="1"/>
          <p:nvPr/>
        </p:nvSpPr>
        <p:spPr>
          <a:xfrm>
            <a:off x="8275320" y="2377440"/>
            <a:ext cx="3136392" cy="320040"/>
          </a:xfrm>
          <a:prstGeom prst="rect">
            <a:avLst/>
          </a:prstGeom>
          <a:noFill/>
          <a:ln/>
        </p:spPr>
        <p:txBody>
          <a:bodyPr wrap="square" lIns="0" tIns="0" rIns="0" bIns="0" rtlCol="0" anchor="ctr"/>
          <a:lstStyle/>
          <a:p>
            <a:pPr indent="0" marL="0">
              <a:buNone/>
            </a:pPr>
            <a:r>
              <a:rPr lang="en-US" sz="1600" b="1" dirty="0">
                <a:solidFill>
                  <a:schemeClr val="tx1"/>
                </a:solidFill>
              </a:rPr>
              <a:t>eNPS</a:t>
            </a:r>
            <a:endParaRPr lang="en-US" sz="1600" dirty="0"/>
          </a:p>
        </p:txBody>
      </p:sp>
      <p:sp>
        <p:nvSpPr>
          <p:cNvPr id="14" name="eNPS note"/>
          <p:cNvSpPr txBox="1"/>
          <p:nvPr/>
        </p:nvSpPr>
        <p:spPr>
          <a:xfrm>
            <a:off x="8275320" y="2670048"/>
            <a:ext cx="3136392" cy="411480"/>
          </a:xfrm>
          <a:prstGeom prst="rect">
            <a:avLst/>
          </a:prstGeom>
          <a:noFill/>
          <a:ln/>
        </p:spPr>
        <p:txBody>
          <a:bodyPr wrap="square" lIns="0" tIns="0" rIns="0" bIns="0" rtlCol="0" anchor="t"/>
          <a:lstStyle/>
          <a:p>
            <a:pPr indent="0" marL="0">
              <a:buNone/>
            </a:pPr>
            <a:r>
              <a:rPr lang="en-US" sz="1200" dirty="0">
                <a:solidFill>
                  <a:schemeClr val="accent5"/>
                </a:solidFill>
              </a:rPr>
              <a:t>Likelihood to recommend, 0 to 10 scale</a:t>
            </a:r>
            <a:endParaRPr lang="en-US" sz="1200" dirty="0"/>
          </a:p>
        </p:txBody>
      </p:sp>
      <p:sp>
        <p:nvSpPr>
          <p:cNvPr id="15" name="Strength card"/>
          <p:cNvSpPr/>
          <p:nvPr/>
        </p:nvSpPr>
        <p:spPr>
          <a:xfrm>
            <a:off x="548640" y="3520440"/>
            <a:ext cx="5440680" cy="2331720"/>
          </a:xfrm>
          <a:prstGeom prst="roundRect">
            <a:avLst>
              <a:gd name="adj" fmla="val 4706"/>
            </a:avLst>
          </a:prstGeom>
          <a:solidFill>
            <a:schemeClr val="bg2"/>
          </a:solidFill>
          <a:ln w="12700">
            <a:solidFill>
              <a:schemeClr val="bg2"/>
            </a:solidFill>
            <a:prstDash val="solid"/>
          </a:ln>
        </p:spPr>
      </p:sp>
      <p:sp>
        <p:nvSpPr>
          <p:cNvPr id="16" name="Text 14"/>
          <p:cNvSpPr txBox="1"/>
          <p:nvPr/>
        </p:nvSpPr>
        <p:spPr>
          <a:xfrm>
            <a:off x="777240" y="3703320"/>
            <a:ext cx="4937760" cy="365760"/>
          </a:xfrm>
          <a:prstGeom prst="rect">
            <a:avLst/>
          </a:prstGeom>
          <a:noFill/>
          <a:ln/>
        </p:spPr>
        <p:txBody>
          <a:bodyPr wrap="square" lIns="0" tIns="0" rIns="0" bIns="0" rtlCol="0" anchor="ctr"/>
          <a:lstStyle/>
          <a:p>
            <a:pPr indent="0" marL="0">
              <a:buNone/>
            </a:pPr>
            <a:r>
              <a:rPr lang="en-US" sz="1400" b="1" dirty="0">
                <a:solidFill>
                  <a:schemeClr val="accent1"/>
                </a:solidFill>
              </a:rPr>
              <a:t>Top-rated area</a:t>
            </a:r>
            <a:endParaRPr lang="en-US" sz="1400" dirty="0"/>
          </a:p>
        </p:txBody>
      </p:sp>
      <p:sp>
        <p:nvSpPr>
          <p:cNvPr id="17" name="Text 15"/>
          <p:cNvSpPr txBox="1"/>
          <p:nvPr/>
        </p:nvSpPr>
        <p:spPr>
          <a:xfrm>
            <a:off x="777240" y="4114800"/>
            <a:ext cx="493776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Growth and development</a:t>
            </a:r>
            <a:endParaRPr lang="en-US" sz="2400" dirty="0"/>
          </a:p>
        </p:txBody>
      </p:sp>
      <p:sp>
        <p:nvSpPr>
          <p:cNvPr id="18" name="Text 16"/>
          <p:cNvSpPr txBox="1"/>
          <p:nvPr/>
        </p:nvSpPr>
        <p:spPr>
          <a:xfrm>
            <a:off x="777240" y="4754880"/>
            <a:ext cx="4937760" cy="822960"/>
          </a:xfrm>
          <a:prstGeom prst="rect">
            <a:avLst/>
          </a:prstGeom>
          <a:noFill/>
          <a:ln/>
        </p:spPr>
        <p:txBody>
          <a:bodyPr wrap="square" lIns="0" tIns="0" rIns="0" bIns="0" rtlCol="0" anchor="t"/>
          <a:lstStyle/>
          <a:p>
            <a:pPr indent="0" marL="0">
              <a:buNone/>
            </a:pPr>
            <a:r>
              <a:rPr lang="en-US" sz="1500" dirty="0">
                <a:solidFill>
                  <a:schemeClr val="tx1"/>
                </a:solidFill>
              </a:rPr>
              <a:t>Staff value the career path and learning on offer. Protect it.</a:t>
            </a:r>
            <a:endParaRPr lang="en-US" sz="1500" dirty="0"/>
          </a:p>
        </p:txBody>
      </p:sp>
      <p:sp>
        <p:nvSpPr>
          <p:cNvPr id="19" name="Gap card"/>
          <p:cNvSpPr/>
          <p:nvPr/>
        </p:nvSpPr>
        <p:spPr>
          <a:xfrm>
            <a:off x="6199632" y="3520440"/>
            <a:ext cx="5440680" cy="233172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6428232" y="3703320"/>
            <a:ext cx="4937760" cy="365760"/>
          </a:xfrm>
          <a:prstGeom prst="rect">
            <a:avLst/>
          </a:prstGeom>
          <a:noFill/>
          <a:ln/>
        </p:spPr>
        <p:txBody>
          <a:bodyPr wrap="square" lIns="0" tIns="0" rIns="0" bIns="0" rtlCol="0" anchor="ctr"/>
          <a:lstStyle/>
          <a:p>
            <a:pPr indent="0" marL="0">
              <a:buNone/>
            </a:pPr>
            <a:r>
              <a:rPr lang="en-US" sz="1400" b="1" dirty="0">
                <a:solidFill>
                  <a:schemeClr val="accent3"/>
                </a:solidFill>
              </a:rPr>
              <a:t>Priority for improvement</a:t>
            </a:r>
            <a:endParaRPr lang="en-US" sz="1400" dirty="0"/>
          </a:p>
        </p:txBody>
      </p:sp>
      <p:sp>
        <p:nvSpPr>
          <p:cNvPr id="21" name="Text 19"/>
          <p:cNvSpPr txBox="1"/>
          <p:nvPr/>
        </p:nvSpPr>
        <p:spPr>
          <a:xfrm>
            <a:off x="6428232" y="4114800"/>
            <a:ext cx="493776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Compensation and benefits</a:t>
            </a:r>
            <a:endParaRPr lang="en-US" sz="2400" dirty="0"/>
          </a:p>
        </p:txBody>
      </p:sp>
      <p:sp>
        <p:nvSpPr>
          <p:cNvPr id="22" name="Text 20"/>
          <p:cNvSpPr txBox="1"/>
          <p:nvPr/>
        </p:nvSpPr>
        <p:spPr>
          <a:xfrm>
            <a:off x="6428232" y="4754880"/>
            <a:ext cx="4937760" cy="822960"/>
          </a:xfrm>
          <a:prstGeom prst="rect">
            <a:avLst/>
          </a:prstGeom>
          <a:noFill/>
          <a:ln/>
        </p:spPr>
        <p:txBody>
          <a:bodyPr wrap="square" lIns="0" tIns="0" rIns="0" bIns="0" rtlCol="0" anchor="t"/>
          <a:lstStyle/>
          <a:p>
            <a:pPr indent="0" marL="0">
              <a:buNone/>
            </a:pPr>
            <a:r>
              <a:rPr lang="en-US" sz="1500" dirty="0">
                <a:solidFill>
                  <a:schemeClr val="tx1"/>
                </a:solidFill>
              </a:rPr>
              <a:t>Agree a response and a communication date with staff in Q2.</a:t>
            </a:r>
            <a:endParaRPr lang="en-US" sz="1500" dirty="0"/>
          </a:p>
        </p:txBody>
      </p:sp>
      <p:sp>
        <p:nvSpPr>
          <p:cNvPr id="23"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Q1 HR Report. Results reviewed in aggregate only.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Q2 priorities (October to December 2026)</a:t>
            </a:r>
            <a:endParaRPr lang="en-US" sz="3200" dirty="0"/>
          </a:p>
        </p:txBody>
      </p:sp>
      <p:sp>
        <p:nvSpPr>
          <p:cNvPr id="3" name="Finance card"/>
          <p:cNvSpPr/>
          <p:nvPr/>
        </p:nvSpPr>
        <p:spPr>
          <a:xfrm>
            <a:off x="548640" y="1371600"/>
            <a:ext cx="5422392" cy="4526280"/>
          </a:xfrm>
          <a:prstGeom prst="roundRect">
            <a:avLst>
              <a:gd name="adj" fmla="val 2424"/>
            </a:avLst>
          </a:prstGeom>
          <a:solidFill>
            <a:schemeClr val="bg2"/>
          </a:solidFill>
          <a:ln w="12700">
            <a:solidFill>
              <a:schemeClr val="bg2"/>
            </a:solidFill>
            <a:prstDash val="solid"/>
          </a:ln>
        </p:spPr>
      </p:sp>
      <p:sp>
        <p:nvSpPr>
          <p:cNvPr id="4" name="Finance icon circle"/>
          <p:cNvSpPr/>
          <p:nvPr/>
        </p:nvSpPr>
        <p:spPr>
          <a:xfrm>
            <a:off x="777240" y="1554480"/>
            <a:ext cx="640080" cy="64008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914400" y="1691640"/>
            <a:ext cx="365760" cy="365760"/>
          </a:xfrm>
          <a:prstGeom prst="rect">
            <a:avLst/>
          </a:prstGeom>
        </p:spPr>
      </p:pic>
      <p:sp>
        <p:nvSpPr>
          <p:cNvPr id="6" name="Text 3"/>
          <p:cNvSpPr txBox="1"/>
          <p:nvPr/>
        </p:nvSpPr>
        <p:spPr>
          <a:xfrm>
            <a:off x="1600200" y="1554480"/>
            <a:ext cx="4114800" cy="6400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Finance</a:t>
            </a:r>
            <a:endParaRPr lang="en-US" sz="2200" dirty="0"/>
          </a:p>
        </p:txBody>
      </p:sp>
      <p:sp>
        <p:nvSpPr>
          <p:cNvPr id="7" name="Text 4"/>
          <p:cNvSpPr txBox="1"/>
          <p:nvPr/>
        </p:nvSpPr>
        <p:spPr>
          <a:xfrm>
            <a:off x="777240" y="2423160"/>
            <a:ext cx="4937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Close Q1: reconcile sales report to the ledger</a:t>
            </a:r>
            <a:endParaRPr lang="en-US" sz="1500" dirty="0"/>
          </a:p>
          <a:p>
            <a:pPr marL="342900" indent="-342900">
              <a:spcAft>
                <a:spcPts val="900"/>
              </a:spcAft>
              <a:buSzPct val="100000"/>
              <a:buChar char="•"/>
            </a:pPr>
            <a:r>
              <a:rPr lang="en-US" sz="1500" dirty="0">
                <a:solidFill>
                  <a:schemeClr val="tx1"/>
                </a:solidFill>
              </a:rPr>
              <a:t>Agree a statutory payroll remittance schedule</a:t>
            </a:r>
            <a:endParaRPr lang="en-US" sz="1500" dirty="0"/>
          </a:p>
          <a:p>
            <a:pPr marL="342900" indent="-342900">
              <a:spcAft>
                <a:spcPts val="900"/>
              </a:spcAft>
              <a:buSzPct val="100000"/>
              <a:buChar char="•"/>
            </a:pPr>
            <a:r>
              <a:rPr lang="en-US" sz="1500" dirty="0">
                <a:solidFill>
                  <a:schemeClr val="tx1"/>
                </a:solidFill>
              </a:rPr>
              <a:t>Sustain collections on KES 5.33M gross receivables; review the KES 1.3M provision</a:t>
            </a:r>
            <a:endParaRPr lang="en-US" sz="1500" dirty="0"/>
          </a:p>
          <a:p>
            <a:pPr marL="342900" indent="-342900">
              <a:spcAft>
                <a:spcPts val="900"/>
              </a:spcAft>
              <a:buSzPct val="100000"/>
              <a:buChar char="•"/>
            </a:pPr>
            <a:r>
              <a:rPr lang="en-US" sz="1500" dirty="0">
                <a:solidFill>
                  <a:schemeClr val="tx1"/>
                </a:solidFill>
              </a:rPr>
              <a:t>Set Q2 budget and targets for every revenue line</a:t>
            </a:r>
            <a:endParaRPr lang="en-US" sz="1500" dirty="0"/>
          </a:p>
          <a:p>
            <a:pPr marL="342900" indent="-342900">
              <a:spcAft>
                <a:spcPts val="900"/>
              </a:spcAft>
              <a:buSzPct val="100000"/>
              <a:buChar char="•"/>
            </a:pPr>
            <a:r>
              <a:rPr lang="en-US" sz="1500" dirty="0">
                <a:solidFill>
                  <a:schemeClr val="tx1"/>
                </a:solidFill>
              </a:rPr>
              <a:t>Review bank charges and consultancy spend</a:t>
            </a:r>
            <a:endParaRPr lang="en-US" sz="1500" dirty="0"/>
          </a:p>
        </p:txBody>
      </p:sp>
      <p:sp>
        <p:nvSpPr>
          <p:cNvPr id="8" name="Operations and people card"/>
          <p:cNvSpPr/>
          <p:nvPr/>
        </p:nvSpPr>
        <p:spPr>
          <a:xfrm>
            <a:off x="6217920" y="1371600"/>
            <a:ext cx="5422392" cy="4526280"/>
          </a:xfrm>
          <a:prstGeom prst="roundRect">
            <a:avLst>
              <a:gd name="adj" fmla="val 2424"/>
            </a:avLst>
          </a:prstGeom>
          <a:solidFill>
            <a:schemeClr val="bg2"/>
          </a:solidFill>
          <a:ln w="12700">
            <a:solidFill>
              <a:schemeClr val="bg2"/>
            </a:solidFill>
            <a:prstDash val="solid"/>
          </a:ln>
        </p:spPr>
      </p:sp>
      <p:sp>
        <p:nvSpPr>
          <p:cNvPr id="9" name="Operations and people icon circle"/>
          <p:cNvSpPr/>
          <p:nvPr/>
        </p:nvSpPr>
        <p:spPr>
          <a:xfrm>
            <a:off x="6446520" y="1554480"/>
            <a:ext cx="640080" cy="640080"/>
          </a:xfrm>
          <a:prstGeom prst="ellipse">
            <a:avLst/>
          </a:prstGeom>
          <a:solidFill>
            <a:schemeClr val="accent1"/>
          </a:solidFill>
          <a:ln w="12700">
            <a:solidFill>
              <a:schemeClr val="accent1"/>
            </a:solidFill>
            <a:prstDash val="solid"/>
          </a:ln>
        </p:spPr>
      </p:sp>
      <p:pic>
        <p:nvPicPr>
          <p:cNvPr id="10" name="Image 1" descr="icon">    </p:cNvPr>
          <p:cNvPicPr>
            <a:picLocks noChangeAspect="1"/>
          </p:cNvPicPr>
          <p:nvPr/>
        </p:nvPicPr>
        <p:blipFill>
          <a:blip r:embed="rId2"/>
          <a:stretch>
            <a:fillRect/>
          </a:stretch>
        </p:blipFill>
        <p:spPr>
          <a:xfrm>
            <a:off x="6583680" y="1691640"/>
            <a:ext cx="365760" cy="365760"/>
          </a:xfrm>
          <a:prstGeom prst="rect">
            <a:avLst/>
          </a:prstGeom>
        </p:spPr>
      </p:pic>
      <p:sp>
        <p:nvSpPr>
          <p:cNvPr id="11" name="Text 7"/>
          <p:cNvSpPr txBox="1"/>
          <p:nvPr/>
        </p:nvSpPr>
        <p:spPr>
          <a:xfrm>
            <a:off x="7269480" y="1554480"/>
            <a:ext cx="4114800" cy="6400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Operations and people</a:t>
            </a:r>
            <a:endParaRPr lang="en-US" sz="2200" dirty="0"/>
          </a:p>
        </p:txBody>
      </p:sp>
      <p:sp>
        <p:nvSpPr>
          <p:cNvPr id="12" name="Text 8"/>
          <p:cNvSpPr txBox="1"/>
          <p:nvPr/>
        </p:nvSpPr>
        <p:spPr>
          <a:xfrm>
            <a:off x="6446520" y="2423160"/>
            <a:ext cx="4937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Run performance reviews against KPIs</a:t>
            </a:r>
            <a:endParaRPr lang="en-US" sz="1500" dirty="0"/>
          </a:p>
          <a:p>
            <a:pPr marL="342900" indent="-342900">
              <a:spcAft>
                <a:spcPts val="900"/>
              </a:spcAft>
              <a:buSzPct val="100000"/>
              <a:buChar char="•"/>
            </a:pPr>
            <a:r>
              <a:rPr lang="en-US" sz="1500" dirty="0">
                <a:solidFill>
                  <a:schemeClr val="tx1"/>
                </a:solidFill>
              </a:rPr>
              <a:t>Build the employee engagement calendar</a:t>
            </a:r>
            <a:endParaRPr lang="en-US" sz="1500" dirty="0"/>
          </a:p>
          <a:p>
            <a:pPr marL="342900" indent="-342900">
              <a:spcAft>
                <a:spcPts val="900"/>
              </a:spcAft>
              <a:buSzPct val="100000"/>
              <a:buChar char="•"/>
            </a:pPr>
            <a:r>
              <a:rPr lang="en-US" sz="1500" dirty="0">
                <a:solidFill>
                  <a:schemeClr val="tx1"/>
                </a:solidFill>
              </a:rPr>
              <a:t>Decide: resume or close BA recruitment (3 of 5)</a:t>
            </a:r>
            <a:endParaRPr lang="en-US" sz="1500" dirty="0"/>
          </a:p>
          <a:p>
            <a:pPr marL="342900" indent="-342900">
              <a:spcAft>
                <a:spcPts val="900"/>
              </a:spcAft>
              <a:buSzPct val="100000"/>
              <a:buChar char="•"/>
            </a:pPr>
            <a:r>
              <a:rPr lang="en-US" sz="1500" dirty="0">
                <a:solidFill>
                  <a:schemeClr val="tx1"/>
                </a:solidFill>
              </a:rPr>
              <a:t>Confirm internal developer headcount</a:t>
            </a:r>
            <a:endParaRPr lang="en-US" sz="1500" dirty="0"/>
          </a:p>
          <a:p>
            <a:pPr marL="342900" indent="-342900">
              <a:spcAft>
                <a:spcPts val="900"/>
              </a:spcAft>
              <a:buSzPct val="100000"/>
              <a:buChar char="•"/>
            </a:pPr>
            <a:r>
              <a:rPr lang="en-US" sz="1500" dirty="0">
                <a:solidFill>
                  <a:schemeClr val="tx1"/>
                </a:solidFill>
              </a:rPr>
              <a:t>Respond to survey feedback on compensation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Q2 revenue focus by line</a:t>
            </a:r>
            <a:endParaRPr lang="en-US" sz="3200" dirty="0"/>
          </a:p>
        </p:txBody>
      </p:sp>
      <p:graphicFrame>
        <p:nvGraphicFramePr>
          <p:cNvPr id="14" name="Revenue focu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011680"/>
                <a:gridCol w="1554480"/>
                <a:gridCol w="1645920"/>
                <a:gridCol w="1554480"/>
                <a:gridCol w="2926080"/>
                <a:gridCol w="1399032"/>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Line</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Q1 target (KES)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Q1 achieved (KES)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Variance (KES)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Q2 focus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Q2 target</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r>
              <a:tr h="566928">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CaaS eBooks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923,000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1,359,161</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1B7F79"/>
                          </a:solidFill>
                          <a:latin typeface="Calibri" pitchFamily="34" charset="0"/>
                          <a:ea typeface="Calibri" pitchFamily="34" charset="-122"/>
                          <a:cs typeface="Calibri" pitchFamily="34" charset="-120"/>
                        </a:rPr>
                        <a:t>+436,161</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Sustain; protect margin</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To be set</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566928">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Elimu Pepe</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3,850,000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819,797</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D1495B"/>
                          </a:solidFill>
                          <a:latin typeface="Calibri" pitchFamily="34" charset="0"/>
                          <a:ea typeface="Calibri" pitchFamily="34" charset="-122"/>
                          <a:cs typeface="Calibri" pitchFamily="34" charset="-120"/>
                        </a:rPr>
                        <a:t>(3,030,203)</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Recovery plan and pipeline review</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To be set</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566928">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LoHo Devices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1,200,500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107,390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D1495B"/>
                          </a:solidFill>
                          <a:latin typeface="Calibri" pitchFamily="34" charset="0"/>
                          <a:ea typeface="Calibri" pitchFamily="34" charset="-122"/>
                          <a:cs typeface="Calibri" pitchFamily="34" charset="-120"/>
                        </a:rPr>
                        <a:t>(1,093,110)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Review model, stock and channels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To be set</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566928">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MTN Academy (Ug)</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1,500,000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1B7F79"/>
                          </a:solidFill>
                          <a:latin typeface="Calibri" pitchFamily="34" charset="0"/>
                          <a:ea typeface="Calibri" pitchFamily="34" charset="-122"/>
                          <a:cs typeface="Calibri" pitchFamily="34" charset="-120"/>
                        </a:rPr>
                        <a:t>+1,500,000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Confirm contract and recurrence</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To be set</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566928">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LoHo Campus</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dirty="0">
                          <a:solidFill>
                            <a:srgbClr val="13262B"/>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Set a target or review the line</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r>
                        <a:rPr lang="en-US" sz="1300" dirty="0">
                          <a:solidFill>
                            <a:srgbClr val="13262B"/>
                          </a:solidFill>
                          <a:latin typeface="Calibri" pitchFamily="34" charset="0"/>
                          <a:ea typeface="Calibri" pitchFamily="34" charset="-122"/>
                          <a:cs typeface="Calibri" pitchFamily="34" charset="-120"/>
                        </a:rPr>
                        <a:t>To be set</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r h="566928">
                <a:tc>
                  <a:txBody>
                    <a:bodyPr/>
                    <a:lstStyle/>
                    <a:p>
                      <a:pPr indent="0" marL="0">
                        <a:buNone/>
                      </a:pPr>
                      <a:r>
                        <a:rPr lang="en-US" sz="1300" b="1" dirty="0">
                          <a:solidFill>
                            <a:srgbClr val="13262B"/>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13262B"/>
                          </a:solidFill>
                          <a:latin typeface="Calibri" pitchFamily="34" charset="0"/>
                          <a:ea typeface="Calibri" pitchFamily="34" charset="-122"/>
                          <a:cs typeface="Calibri" pitchFamily="34" charset="-120"/>
                        </a:rPr>
                        <a:t>5,973,500</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13262B"/>
                          </a:solidFill>
                          <a:latin typeface="Calibri" pitchFamily="34" charset="0"/>
                          <a:ea typeface="Calibri" pitchFamily="34" charset="-122"/>
                          <a:cs typeface="Calibri" pitchFamily="34" charset="-120"/>
                        </a:rPr>
                        <a:t>3,786,348</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algn="r" indent="0" marL="0">
                        <a:buNone/>
                      </a:pPr>
                      <a:r>
                        <a:rPr lang="en-US" sz="1300" b="1" dirty="0">
                          <a:solidFill>
                            <a:srgbClr val="D1495B"/>
                          </a:solidFill>
                          <a:latin typeface="Calibri" pitchFamily="34" charset="0"/>
                          <a:ea typeface="Calibri" pitchFamily="34" charset="-122"/>
                          <a:cs typeface="Calibri" pitchFamily="34" charset="-120"/>
                        </a:rPr>
                        <a:t>(2,187,152)</a:t>
                      </a: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r>
            </a:tbl>
          </a:graphicData>
        </a:graphic>
      </p:graphicFrame>
      <p:sp>
        <p:nvSpPr>
          <p:cNvPr id="4" name="Text 1"/>
          <p:cNvSpPr txBox="1"/>
          <p:nvPr/>
        </p:nvSpPr>
        <p:spPr>
          <a:xfrm>
            <a:off x="548640" y="5532120"/>
            <a:ext cx="11091672" cy="411480"/>
          </a:xfrm>
          <a:prstGeom prst="rect">
            <a:avLst/>
          </a:prstGeom>
          <a:noFill/>
          <a:ln/>
        </p:spPr>
        <p:txBody>
          <a:bodyPr wrap="square" lIns="0" tIns="0" rIns="0" bIns="0" rtlCol="0" anchor="ctr"/>
          <a:lstStyle/>
          <a:p>
            <a:pPr indent="0" marL="0">
              <a:buNone/>
            </a:pPr>
            <a:r>
              <a:rPr lang="en-US" sz="1500" b="1" dirty="0">
                <a:solidFill>
                  <a:schemeClr val="accent3"/>
                </a:solidFill>
              </a:rPr>
              <a:t>Q2 targets are not yet set. Agree them with Sales this week so Finance can budget cash and costs against them.</a:t>
            </a:r>
            <a:endParaRPr lang="en-US" sz="1500" dirty="0"/>
          </a:p>
        </p:txBody>
      </p:sp>
      <p:sp>
        <p:nvSpPr>
          <p:cNvPr id="5" name="Source 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Source: Q1 Target vs Achieved Report. Q2 focus items are proposals for discussion.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Q2 roadmap: October to December</a:t>
            </a:r>
            <a:endParaRPr lang="en-US" sz="3200" dirty="0"/>
          </a:p>
        </p:txBody>
      </p:sp>
      <p:sp>
        <p:nvSpPr>
          <p:cNvPr id="3" name="October header"/>
          <p:cNvSpPr/>
          <p:nvPr/>
        </p:nvSpPr>
        <p:spPr>
          <a:xfrm>
            <a:off x="548640" y="1371600"/>
            <a:ext cx="3593592" cy="914400"/>
          </a:xfrm>
          <a:prstGeom prst="roundRect">
            <a:avLst>
              <a:gd name="adj" fmla="val 10000"/>
            </a:avLst>
          </a:prstGeom>
          <a:solidFill>
            <a:schemeClr val="tx2"/>
          </a:solidFill>
          <a:ln w="12700">
            <a:solidFill>
              <a:schemeClr val="tx2"/>
            </a:solidFill>
            <a:prstDash val="solid"/>
          </a:ln>
        </p:spPr>
      </p:sp>
      <p:sp>
        <p:nvSpPr>
          <p:cNvPr id="4" name="Text 2"/>
          <p:cNvSpPr txBox="1"/>
          <p:nvPr/>
        </p:nvSpPr>
        <p:spPr>
          <a:xfrm>
            <a:off x="777240" y="1371600"/>
            <a:ext cx="3108960" cy="9144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October</a:t>
            </a:r>
            <a:endParaRPr lang="en-US" sz="2200" dirty="0"/>
          </a:p>
          <a:p>
            <a:pPr indent="0" marL="0">
              <a:buNone/>
            </a:pPr>
            <a:r>
              <a:rPr lang="en-US" sz="1400" dirty="0">
                <a:solidFill>
                  <a:schemeClr val="bg1"/>
                </a:solidFill>
              </a:rPr>
              <a:t>Close and set up</a:t>
            </a:r>
            <a:endParaRPr lang="en-US" sz="2200" dirty="0"/>
          </a:p>
        </p:txBody>
      </p:sp>
      <p:sp>
        <p:nvSpPr>
          <p:cNvPr id="5" name="October card"/>
          <p:cNvSpPr/>
          <p:nvPr/>
        </p:nvSpPr>
        <p:spPr>
          <a:xfrm>
            <a:off x="548640" y="2468880"/>
            <a:ext cx="3593592" cy="3429000"/>
          </a:xfrm>
          <a:prstGeom prst="roundRect">
            <a:avLst>
              <a:gd name="adj" fmla="val 3200"/>
            </a:avLst>
          </a:prstGeom>
          <a:solidFill>
            <a:schemeClr val="bg2"/>
          </a:solidFill>
          <a:ln w="12700">
            <a:solidFill>
              <a:schemeClr val="bg2"/>
            </a:solidFill>
            <a:prstDash val="solid"/>
          </a:ln>
        </p:spPr>
      </p:sp>
      <p:sp>
        <p:nvSpPr>
          <p:cNvPr id="6" name="Text 4"/>
          <p:cNvSpPr txBox="1"/>
          <p:nvPr/>
        </p:nvSpPr>
        <p:spPr>
          <a:xfrm>
            <a:off x="77724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Close Q1 and reconcile</a:t>
            </a:r>
            <a:endParaRPr lang="en-US" sz="1500" dirty="0"/>
          </a:p>
          <a:p>
            <a:pPr marL="342900" indent="-342900">
              <a:spcAft>
                <a:spcPts val="1200"/>
              </a:spcAft>
              <a:buSzPct val="100000"/>
              <a:buChar char="•"/>
            </a:pPr>
            <a:r>
              <a:rPr lang="en-US" sz="1500" dirty="0">
                <a:solidFill>
                  <a:schemeClr val="tx1"/>
                </a:solidFill>
              </a:rPr>
              <a:t>Approve Q2 targets and budget</a:t>
            </a:r>
            <a:endParaRPr lang="en-US" sz="1500" dirty="0"/>
          </a:p>
          <a:p>
            <a:pPr marL="342900" indent="-342900">
              <a:spcAft>
                <a:spcPts val="1200"/>
              </a:spcAft>
              <a:buSzPct val="100000"/>
              <a:buChar char="•"/>
            </a:pPr>
            <a:r>
              <a:rPr lang="en-US" sz="1500" dirty="0">
                <a:solidFill>
                  <a:schemeClr val="tx1"/>
                </a:solidFill>
              </a:rPr>
              <a:t>Statutory remittance plan agreed</a:t>
            </a:r>
            <a:endParaRPr lang="en-US" sz="1500" dirty="0"/>
          </a:p>
          <a:p>
            <a:pPr marL="342900" indent="-342900">
              <a:spcAft>
                <a:spcPts val="1200"/>
              </a:spcAft>
              <a:buSzPct val="100000"/>
              <a:buChar char="•"/>
            </a:pPr>
            <a:r>
              <a:rPr lang="en-US" sz="1500" dirty="0">
                <a:solidFill>
                  <a:schemeClr val="tx1"/>
                </a:solidFill>
              </a:rPr>
              <a:t>Start performance reviews</a:t>
            </a:r>
            <a:endParaRPr lang="en-US" sz="1500" dirty="0"/>
          </a:p>
        </p:txBody>
      </p:sp>
      <p:sp>
        <p:nvSpPr>
          <p:cNvPr id="7" name="November header"/>
          <p:cNvSpPr/>
          <p:nvPr/>
        </p:nvSpPr>
        <p:spPr>
          <a:xfrm>
            <a:off x="4297680" y="1371600"/>
            <a:ext cx="3593592" cy="914400"/>
          </a:xfrm>
          <a:prstGeom prst="roundRect">
            <a:avLst>
              <a:gd name="adj" fmla="val 10000"/>
            </a:avLst>
          </a:prstGeom>
          <a:solidFill>
            <a:schemeClr val="accent1"/>
          </a:solidFill>
          <a:ln w="12700">
            <a:solidFill>
              <a:schemeClr val="tx2"/>
            </a:solidFill>
            <a:prstDash val="solid"/>
          </a:ln>
        </p:spPr>
      </p:sp>
      <p:sp>
        <p:nvSpPr>
          <p:cNvPr id="8" name="Text 6"/>
          <p:cNvSpPr txBox="1"/>
          <p:nvPr/>
        </p:nvSpPr>
        <p:spPr>
          <a:xfrm>
            <a:off x="4526280" y="1371600"/>
            <a:ext cx="3108960" cy="9144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November</a:t>
            </a:r>
            <a:endParaRPr lang="en-US" sz="2200" dirty="0"/>
          </a:p>
          <a:p>
            <a:pPr indent="0" marL="0">
              <a:buNone/>
            </a:pPr>
            <a:r>
              <a:rPr lang="en-US" sz="1400" dirty="0">
                <a:solidFill>
                  <a:schemeClr val="bg1"/>
                </a:solidFill>
              </a:rPr>
              <a:t>Execute and review</a:t>
            </a:r>
            <a:endParaRPr lang="en-US" sz="2200" dirty="0"/>
          </a:p>
        </p:txBody>
      </p:sp>
      <p:sp>
        <p:nvSpPr>
          <p:cNvPr id="9" name="November card"/>
          <p:cNvSpPr/>
          <p:nvPr/>
        </p:nvSpPr>
        <p:spPr>
          <a:xfrm>
            <a:off x="4297680" y="2468880"/>
            <a:ext cx="3593592" cy="3429000"/>
          </a:xfrm>
          <a:prstGeom prst="roundRect">
            <a:avLst>
              <a:gd name="adj" fmla="val 3200"/>
            </a:avLst>
          </a:prstGeom>
          <a:solidFill>
            <a:schemeClr val="bg2"/>
          </a:solidFill>
          <a:ln w="12700">
            <a:solidFill>
              <a:schemeClr val="bg2"/>
            </a:solidFill>
            <a:prstDash val="solid"/>
          </a:ln>
        </p:spPr>
      </p:sp>
      <p:sp>
        <p:nvSpPr>
          <p:cNvPr id="10" name="Text 8"/>
          <p:cNvSpPr txBox="1"/>
          <p:nvPr/>
        </p:nvSpPr>
        <p:spPr>
          <a:xfrm>
            <a:off x="452628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Mid-quarter sales and cost review</a:t>
            </a:r>
            <a:endParaRPr lang="en-US" sz="1500" dirty="0"/>
          </a:p>
          <a:p>
            <a:pPr marL="342900" indent="-342900">
              <a:spcAft>
                <a:spcPts val="1200"/>
              </a:spcAft>
              <a:buSzPct val="100000"/>
              <a:buChar char="•"/>
            </a:pPr>
            <a:r>
              <a:rPr lang="en-US" sz="1500" dirty="0">
                <a:solidFill>
                  <a:schemeClr val="tx1"/>
                </a:solidFill>
              </a:rPr>
              <a:t>Complete performance reviews</a:t>
            </a:r>
            <a:endParaRPr lang="en-US" sz="1500" dirty="0"/>
          </a:p>
          <a:p>
            <a:pPr marL="342900" indent="-342900">
              <a:spcAft>
                <a:spcPts val="1200"/>
              </a:spcAft>
              <a:buSzPct val="100000"/>
              <a:buChar char="•"/>
            </a:pPr>
            <a:r>
              <a:rPr lang="en-US" sz="1500" dirty="0">
                <a:solidFill>
                  <a:schemeClr val="tx1"/>
                </a:solidFill>
              </a:rPr>
              <a:t>BA and developer hiring decisions</a:t>
            </a:r>
            <a:endParaRPr lang="en-US" sz="1500" dirty="0"/>
          </a:p>
          <a:p>
            <a:pPr marL="342900" indent="-342900">
              <a:spcAft>
                <a:spcPts val="1200"/>
              </a:spcAft>
              <a:buSzPct val="100000"/>
              <a:buChar char="•"/>
            </a:pPr>
            <a:r>
              <a:rPr lang="en-US" sz="1500" dirty="0">
                <a:solidFill>
                  <a:schemeClr val="tx1"/>
                </a:solidFill>
              </a:rPr>
              <a:t>Share survey response with staff</a:t>
            </a:r>
            <a:endParaRPr lang="en-US" sz="1500" dirty="0"/>
          </a:p>
        </p:txBody>
      </p:sp>
      <p:sp>
        <p:nvSpPr>
          <p:cNvPr id="11" name="December header"/>
          <p:cNvSpPr/>
          <p:nvPr/>
        </p:nvSpPr>
        <p:spPr>
          <a:xfrm>
            <a:off x="8046720" y="1371600"/>
            <a:ext cx="3593592" cy="914400"/>
          </a:xfrm>
          <a:prstGeom prst="roundRect">
            <a:avLst>
              <a:gd name="adj" fmla="val 10000"/>
            </a:avLst>
          </a:prstGeom>
          <a:solidFill>
            <a:schemeClr val="tx2"/>
          </a:solidFill>
          <a:ln w="12700">
            <a:solidFill>
              <a:schemeClr val="tx2"/>
            </a:solidFill>
            <a:prstDash val="solid"/>
          </a:ln>
        </p:spPr>
      </p:sp>
      <p:sp>
        <p:nvSpPr>
          <p:cNvPr id="12" name="Text 10"/>
          <p:cNvSpPr txBox="1"/>
          <p:nvPr/>
        </p:nvSpPr>
        <p:spPr>
          <a:xfrm>
            <a:off x="8275320" y="1371600"/>
            <a:ext cx="3108960" cy="9144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December</a:t>
            </a:r>
            <a:endParaRPr lang="en-US" sz="2200" dirty="0"/>
          </a:p>
          <a:p>
            <a:pPr indent="0" marL="0">
              <a:buNone/>
            </a:pPr>
            <a:r>
              <a:rPr lang="en-US" sz="1400" dirty="0">
                <a:solidFill>
                  <a:schemeClr val="bg1"/>
                </a:solidFill>
              </a:rPr>
              <a:t>Land and plan</a:t>
            </a:r>
            <a:endParaRPr lang="en-US" sz="2200" dirty="0"/>
          </a:p>
        </p:txBody>
      </p:sp>
      <p:sp>
        <p:nvSpPr>
          <p:cNvPr id="13" name="December card"/>
          <p:cNvSpPr/>
          <p:nvPr/>
        </p:nvSpPr>
        <p:spPr>
          <a:xfrm>
            <a:off x="8046720" y="2468880"/>
            <a:ext cx="3593592" cy="3429000"/>
          </a:xfrm>
          <a:prstGeom prst="roundRect">
            <a:avLst>
              <a:gd name="adj" fmla="val 3200"/>
            </a:avLst>
          </a:prstGeom>
          <a:solidFill>
            <a:schemeClr val="bg2"/>
          </a:solidFill>
          <a:ln w="12700">
            <a:solidFill>
              <a:schemeClr val="bg2"/>
            </a:solidFill>
            <a:prstDash val="solid"/>
          </a:ln>
        </p:spPr>
      </p:sp>
      <p:sp>
        <p:nvSpPr>
          <p:cNvPr id="14" name="Text 12"/>
          <p:cNvSpPr txBox="1"/>
          <p:nvPr/>
        </p:nvSpPr>
        <p:spPr>
          <a:xfrm>
            <a:off x="827532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Engagement event</a:t>
            </a:r>
            <a:endParaRPr lang="en-US" sz="1500" dirty="0"/>
          </a:p>
          <a:p>
            <a:pPr marL="342900" indent="-342900">
              <a:spcAft>
                <a:spcPts val="1200"/>
              </a:spcAft>
              <a:buSzPct val="100000"/>
              <a:buChar char="•"/>
            </a:pPr>
            <a:r>
              <a:rPr lang="en-US" sz="1500" dirty="0">
                <a:solidFill>
                  <a:schemeClr val="tx1"/>
                </a:solidFill>
              </a:rPr>
              <a:t>Half-year close preparation</a:t>
            </a:r>
            <a:endParaRPr lang="en-US" sz="1500" dirty="0"/>
          </a:p>
          <a:p>
            <a:pPr marL="342900" indent="-342900">
              <a:spcAft>
                <a:spcPts val="1200"/>
              </a:spcAft>
              <a:buSzPct val="100000"/>
              <a:buChar char="•"/>
            </a:pPr>
            <a:r>
              <a:rPr lang="en-US" sz="1500" dirty="0">
                <a:solidFill>
                  <a:schemeClr val="tx1"/>
                </a:solidFill>
              </a:rPr>
              <a:t>Q2 results against targets</a:t>
            </a:r>
            <a:endParaRPr lang="en-US" sz="1500" dirty="0"/>
          </a:p>
          <a:p>
            <a:pPr marL="342900" indent="-342900">
              <a:spcAft>
                <a:spcPts val="1200"/>
              </a:spcAft>
              <a:buSzPct val="100000"/>
              <a:buChar char="•"/>
            </a:pPr>
            <a:r>
              <a:rPr lang="en-US" sz="1500" dirty="0">
                <a:solidFill>
                  <a:schemeClr val="tx1"/>
                </a:solidFill>
              </a:rPr>
              <a:t>Q3 plan and budget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Decisions needed today</a:t>
            </a:r>
            <a:endParaRPr lang="en-US" sz="4400" dirty="0"/>
          </a:p>
        </p:txBody>
      </p:sp>
      <p:sp>
        <p:nvSpPr>
          <p:cNvPr id="3" name="Text 0"/>
          <p:cNvSpPr/>
          <p:nvPr>
            <p:ph idx="101" type="body" hasCustomPrompt="1"/>
          </p:nvPr>
        </p:nvSpPr>
        <p:spPr>
          <a:xfrm>
            <a:off x="731520" y="3840480"/>
            <a:ext cx="10698480" cy="1097280"/>
          </a:xfrm>
          <a:prstGeom prst="rect">
            <a:avLst/>
          </a:prstGeom>
          <a:noFill/>
          <a:ln/>
        </p:spPr>
        <p:txBody>
          <a:bodyPr wrap="square" lIns="0" tIns="0" rIns="0" bIns="0" rtlCol="0" anchor="t"/>
          <a:lstStyle/>
          <a:p>
            <a:pPr indent="0" marL="0">
              <a:spcAft>
                <a:spcPts val="1000"/>
              </a:spcAft>
              <a:buNone/>
            </a:pPr>
            <a:r>
              <a:rPr lang="en-US" sz="2000" dirty="0">
                <a:solidFill>
                  <a:schemeClr val="accent6"/>
                </a:solidFill>
              </a:rPr>
              <a:t>1.  Approve Q2 targets for every revenue line</a:t>
            </a:r>
            <a:endParaRPr lang="en-US" sz="2000" dirty="0"/>
          </a:p>
          <a:p>
            <a:pPr indent="0" marL="0">
              <a:spcAft>
                <a:spcPts val="1000"/>
              </a:spcAft>
              <a:buNone/>
            </a:pPr>
            <a:r>
              <a:rPr lang="en-US" sz="2000" dirty="0">
                <a:solidFill>
                  <a:schemeClr val="accent6"/>
                </a:solidFill>
              </a:rPr>
              <a:t>2.  Approve a statutory payroll remittance schedule</a:t>
            </a:r>
            <a:endParaRPr lang="en-US" sz="2000" dirty="0"/>
          </a:p>
          <a:p>
            <a:pPr indent="0" marL="0">
              <a:spcAft>
                <a:spcPts val="1000"/>
              </a:spcAft>
              <a:buNone/>
            </a:pPr>
            <a:r>
              <a:rPr lang="en-US" sz="2000" dirty="0">
                <a:solidFill>
                  <a:schemeClr val="accent6"/>
                </a:solidFill>
              </a:rPr>
              <a:t>3.  Resume or close BA recruitment at 3 of 5</a:t>
            </a:r>
            <a:endParaRPr lang="en-US" sz="2000" dirty="0"/>
          </a:p>
          <a:p>
            <a:pPr indent="0" marL="0">
              <a:spcAft>
                <a:spcPts val="1000"/>
              </a:spcAft>
              <a:buNone/>
            </a:pPr>
            <a:r>
              <a:rPr lang="en-US" sz="2000" dirty="0">
                <a:solidFill>
                  <a:schemeClr val="accent6"/>
                </a:solidFill>
              </a:rPr>
              <a:t>4.  Confirm internal developer headcount</a:t>
            </a:r>
            <a:endParaRPr lang="en-US" sz="2000" dirty="0"/>
          </a:p>
          <a:p>
            <a:pPr indent="0" marL="0">
              <a:spcAft>
                <a:spcPts val="1000"/>
              </a:spcAft>
              <a:buNone/>
            </a:pPr>
            <a:r>
              <a:rPr lang="en-US" sz="2000" dirty="0">
                <a:solidFill>
                  <a:schemeClr val="accent6"/>
                </a:solidFill>
              </a:rPr>
              <a:t>5.  Set direction on the compensation review</a:t>
            </a:r>
            <a:endParaRPr lang="en-US" sz="2000" dirty="0"/>
          </a:p>
        </p:txBody>
      </p:sp>
    </p:spTree>
  </p:cSld>
  <p:clrMapOvr>
    <a:masterClrMapping/>
  </p:clrMapOvr>
</p:sld>
</file>

<file path=ppt/theme/theme1.xml><?xml version="1.0" encoding="utf-8"?>
<a:theme xmlns:a="http://schemas.openxmlformats.org/drawingml/2006/main" name="LoHo FinOps">
  <a:themeElements>
    <a:clrScheme name="LoHo FinOps">
      <a:dk1>
        <a:srgbClr val="13262B"/>
      </a:dk1>
      <a:lt1>
        <a:srgbClr val="FFFFFF"/>
      </a:lt1>
      <a:dk2>
        <a:srgbClr val="0B3C49"/>
      </a:dk2>
      <a:lt2>
        <a:srgbClr val="EEF4F3"/>
      </a:lt2>
      <a:accent1>
        <a:srgbClr val="1B7F79"/>
      </a:accent1>
      <a:accent2>
        <a:srgbClr val="F2A541"/>
      </a:accent2>
      <a:accent3>
        <a:srgbClr val="D1495B"/>
      </a:accent3>
      <a:accent4>
        <a:srgbClr val="6B8F71"/>
      </a:accent4>
      <a:accent5>
        <a:srgbClr val="5C7C8A"/>
      </a:accent5>
      <a:accent6>
        <a:srgbClr val="A8C5C0"/>
      </a:accent6>
      <a:hlink>
        <a:srgbClr val="1B7F79"/>
      </a:hlink>
      <a:folHlink>
        <a:srgbClr val="5C7C8A"/>
      </a:folHlink>
    </a:clrScheme>
    <a:fontScheme name="LoHo Fin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LoHo Learning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&amp; Operations: Q1 FY2026/27 Review and Q2 Outlook</dc:title>
  <dc:subject>PptxGenJS Presentation</dc:subject>
  <dc:creator>Finance &amp; Operations</dc:creator>
  <cp:lastModifiedBy>Finance &amp; Operations</cp:lastModifiedBy>
  <cp:revision>1</cp:revision>
  <dcterms:created xsi:type="dcterms:W3CDTF">2026-10-08T11:23:17Z</dcterms:created>
  <dcterms:modified xsi:type="dcterms:W3CDTF">2026-10-08T11:23:17Z</dcterms:modified>
</cp:coreProperties>
</file>