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70" r:id="rId16"/>
    <p:sldId id="271" r:id="rId17"/>
    <p:sldId id="272" r:id="rId18"/>
    <p:sldId id="273" r:id="rId19"/>
    <p:sldId id="257" r:id="rId3"/>
    <p:sldId id="258" r:id="rId4"/>
    <p:sldId id="260" r:id="rId5"/>
    <p:sldId id="261" r:id="rId6"/>
    <p:sldId id="262" r:id="rId7"/>
    <p:sldId id="274" r:id="rId20"/>
    <p:sldId id="275" r:id="rId21"/>
    <p:sldId id="268" r:id="rId9"/>
    <p:sldId id="276" r:id="rId22"/>
    <p:sldId id="269" r:id="rId10"/>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B35FF0-944E-83F7-FE77-5727E61F998B}">
          <p14:sldIdLst>
            <p14:sldId id="256"/>
            <p14:sldId id="257"/>
          </p14:sldIdLst>
        </p14:section>
        <p14:section name="Q1 review" id="{6E0CA945-EB0F-0C0B-B8C5-FE2937E5689F}">
          <p14:sldIdLst>
            <p14:sldId id="258"/>
          </p14:sldIdLst>
        </p14:section>
        <p14:section name="Finance" id="{EFB5C043-039C-1C78-DCCA-37927BF45555}">
          <p14:sldIdLst>
            <p14:sldId id="260"/>
            <p14:sldId id="261"/>
            <p14:sldId id="262"/>
          </p14:sldIdLst>
        </p14:section>
        <p14:section name="Q2 outlook" id="{14CF850D-0424-750A-5740-8FFB9895F78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2" d="100"/>
          <a:sy n="42" d="100"/>
        </p:scale>
        <p:origin x="76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C7C8A"/>
                </a:solidFill>
                <a:latin typeface="+mn-lt"/>
              </a:defRPr>
            </a:pPr>
            <a:r>
              <a:rPr lang="en-US" sz="1200" b="0" i="0" u="none" strike="noStrike">
                <a:solidFill>
                  <a:srgbClr val="5C7C8A"/>
                </a:solidFill>
                <a:latin typeface="+mn-lt"/>
              </a:rPr>
              <a:t>KES millions</a:t>
            </a:r>
          </a:p>
        </c:rich>
      </c:tx>
      <c:layout/>
      <c:overlay val="0"/>
    </c:title>
    <c:autoTitleDeleted val="0"/>
    <c:plotArea>
      <c:layout/>
      <c:barChart>
        <c:barDir val="col"/>
        <c:grouping val="clustered"/>
        <c:varyColors val="0"/>
        <c:ser>
          <c:idx val="0"/>
          <c:order val="0"/>
          <c:tx>
            <c:strRef>
              <c:f>Sheet1!$B$1</c:f>
              <c:strCache>
                <c:ptCount val="1"/>
                <c:pt idx="0">
                  <c:v>Q1 target</c:v>
                </c:pt>
              </c:strCache>
            </c:strRef>
          </c:tx>
          <c:spPr>
            <a:solidFill>
              <a:srgbClr val="A8C5C0"/>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CaaS eBooks</c:v>
                </c:pt>
                <c:pt idx="1">
                  <c:v>Elimu Pepe</c:v>
                </c:pt>
                <c:pt idx="2">
                  <c:v>LoHo Devices</c:v>
                </c:pt>
                <c:pt idx="3">
                  <c:v>MTN Academy (Ug)</c:v>
                </c:pt>
              </c:strCache>
            </c:strRef>
          </c:cat>
          <c:val>
            <c:numRef>
              <c:f>Sheet1!$B$2:$B$5</c:f>
              <c:numCache>
                <c:formatCode>General</c:formatCode>
                <c:ptCount val="4"/>
                <c:pt idx="0">
                  <c:v>0.92300000000000004</c:v>
                </c:pt>
                <c:pt idx="1">
                  <c:v>3.85</c:v>
                </c:pt>
                <c:pt idx="2">
                  <c:v>1.2004999999999999</c:v>
                </c:pt>
                <c:pt idx="3">
                  <c:v>0</c:v>
                </c:pt>
              </c:numCache>
            </c:numRef>
          </c:val>
          <c:extLst>
            <c:ext xmlns:c16="http://schemas.microsoft.com/office/drawing/2014/chart" uri="{C3380CC4-5D6E-409C-BE32-E72D297353CC}">
              <c16:uniqueId val="{00000000-27BC-4E26-9987-8BE537D0422A}"/>
            </c:ext>
          </c:extLst>
        </c:ser>
        <c:ser>
          <c:idx val="1"/>
          <c:order val="1"/>
          <c:tx>
            <c:strRef>
              <c:f>Sheet1!$C$1</c:f>
              <c:strCache>
                <c:ptCount val="1"/>
                <c:pt idx="0">
                  <c:v>Q1 achieved</c:v>
                </c:pt>
              </c:strCache>
            </c:strRef>
          </c:tx>
          <c:spPr>
            <a:solidFill>
              <a:srgbClr val="1B7F79"/>
            </a:solidFill>
            <a:effectLst/>
          </c:spPr>
          <c:invertIfNegative val="0"/>
          <c:dLbls>
            <c:numFmt formatCode="0.00" sourceLinked="0"/>
            <c:spPr>
              <a:noFill/>
              <a:ln>
                <a:noFill/>
              </a:ln>
              <a:effectLst/>
            </c:spPr>
            <c:txPr>
              <a:bodyPr/>
              <a:lstStyle/>
              <a:p>
                <a:pPr>
                  <a:defRPr sz="11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CaaS eBooks</c:v>
                </c:pt>
                <c:pt idx="1">
                  <c:v>Elimu Pepe</c:v>
                </c:pt>
                <c:pt idx="2">
                  <c:v>LoHo Devices</c:v>
                </c:pt>
                <c:pt idx="3">
                  <c:v>MTN Academy (Ug)</c:v>
                </c:pt>
              </c:strCache>
            </c:strRef>
          </c:cat>
          <c:val>
            <c:numRef>
              <c:f>Sheet1!$C$2:$C$5</c:f>
              <c:numCache>
                <c:formatCode>General</c:formatCode>
                <c:ptCount val="4"/>
                <c:pt idx="0">
                  <c:v>1.359</c:v>
                </c:pt>
                <c:pt idx="1">
                  <c:v>0.82</c:v>
                </c:pt>
                <c:pt idx="2">
                  <c:v>0.107</c:v>
                </c:pt>
                <c:pt idx="3">
                  <c:v>1.5</c:v>
                </c:pt>
              </c:numCache>
            </c:numRef>
          </c:val>
          <c:extLst>
            <c:ext xmlns:c16="http://schemas.microsoft.com/office/drawing/2014/chart" uri="{C3380CC4-5D6E-409C-BE32-E72D297353CC}">
              <c16:uniqueId val="{00000001-27BC-4E26-9987-8BE537D042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a:solidFill>
                <a:srgbClr val="D9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7C8A"/>
                </a:solidFill>
                <a:latin typeface="+mn-lt"/>
              </a:defRPr>
            </a:pPr>
            <a:endParaRPr lang="en-US"/>
          </a:p>
        </c:txPr>
        <c:crossAx val="2094734554"/>
        <c:crosses val="autoZero"/>
        <c:crossBetween val="between"/>
      </c:valAx>
      <c:spPr>
        <a:noFill/>
        <a:ln>
          <a:noFill/>
        </a:ln>
        <a:effectLst/>
      </c:spPr>
    </c:plotArea>
    <c:legend>
      <c:legendPos val="b"/>
      <c:layou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C7C8A"/>
                </a:solidFill>
                <a:latin typeface="+mn-lt"/>
              </a:defRPr>
            </a:pPr>
            <a:r>
              <a:rPr lang="en-US" sz="1200" b="0" i="0" u="none" strike="noStrike">
                <a:solidFill>
                  <a:srgbClr val="5C7C8A"/>
                </a:solidFill>
                <a:latin typeface="+mn-lt"/>
              </a:rPr>
              <a:t>KES millions</a:t>
            </a:r>
          </a:p>
        </c:rich>
      </c:tx>
      <c:layout/>
      <c:overlay val="0"/>
    </c:title>
    <c:autoTitleDeleted val="0"/>
    <c:plotArea>
      <c:layout/>
      <c:barChart>
        <c:barDir val="bar"/>
        <c:grouping val="clustered"/>
        <c:varyColors val="0"/>
        <c:ser>
          <c:idx val="0"/>
          <c:order val="0"/>
          <c:tx>
            <c:strRef>
              <c:f>Sheet1!$B$1</c:f>
              <c:strCache>
                <c:ptCount val="1"/>
                <c:pt idx="0">
                  <c:v>Q1 operating costs</c:v>
                </c:pt>
              </c:strCache>
            </c:strRef>
          </c:tx>
          <c:spPr>
            <a:solidFill>
              <a:srgbClr val="1B7F79"/>
            </a:solidFill>
            <a:effectLst/>
          </c:spPr>
          <c:invertIfNegative val="0"/>
          <c:dLbls>
            <c:numFmt formatCode="0.00" sourceLinked="0"/>
            <c:spPr>
              <a:noFill/>
              <a:ln>
                <a:noFill/>
              </a:ln>
              <a:effectLst/>
            </c:spPr>
            <c:txPr>
              <a:bodyPr/>
              <a:lstStyle/>
              <a:p>
                <a:pPr>
                  <a:defRPr sz="12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Sheet1!$A$2:$A$7</c:f>
              <c:strCache>
                <c:ptCount val="6"/>
                <c:pt idx="0">
                  <c:v>Staff costs</c:v>
                </c:pt>
                <c:pt idx="1">
                  <c:v>Amortisation (software)</c:v>
                </c:pt>
                <c:pt idx="2">
                  <c:v>Other admin</c:v>
                </c:pt>
                <c:pt idx="3">
                  <c:v>Sales &amp; marketing</c:v>
                </c:pt>
                <c:pt idx="4">
                  <c:v>Telephone &amp; internet</c:v>
                </c:pt>
                <c:pt idx="5">
                  <c:v>Depreciation &amp; repairs</c:v>
                </c:pt>
              </c:strCache>
            </c:strRef>
          </c:cat>
          <c:val>
            <c:numRef>
              <c:f>Sheet1!$B$2:$B$7</c:f>
              <c:numCache>
                <c:formatCode>General</c:formatCode>
                <c:ptCount val="6"/>
                <c:pt idx="0">
                  <c:v>2.1059999999999999</c:v>
                </c:pt>
                <c:pt idx="1">
                  <c:v>1.8819999999999999</c:v>
                </c:pt>
                <c:pt idx="2">
                  <c:v>0.90300000000000002</c:v>
                </c:pt>
                <c:pt idx="3">
                  <c:v>0.26200000000000001</c:v>
                </c:pt>
                <c:pt idx="4">
                  <c:v>3.5000000000000003E-2</c:v>
                </c:pt>
                <c:pt idx="5">
                  <c:v>1.4999999999999999E-2</c:v>
                </c:pt>
              </c:numCache>
            </c:numRef>
          </c:val>
          <c:extLst>
            <c:ext xmlns:c16="http://schemas.microsoft.com/office/drawing/2014/chart" uri="{C3380CC4-5D6E-409C-BE32-E72D297353CC}">
              <c16:uniqueId val="{00000000-9681-4762-B227-8933323F2636}"/>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62B"/>
                </a:solidFill>
                <a:latin typeface="+mn-lt"/>
              </a:defRPr>
            </a:pPr>
            <a:endParaRPr lang="en-US"/>
          </a:p>
        </c:txPr>
        <c:crossAx val="2094734552"/>
        <c:crosses val="autoZero"/>
        <c:auto val="1"/>
        <c:lblAlgn val="ctr"/>
        <c:lblOffset val="100"/>
        <c:noMultiLvlLbl val="1"/>
      </c:catAx>
      <c:valAx>
        <c:axId val="2094734552"/>
        <c:scaling>
          <c:orientation val="minMax"/>
          <c:max val="2.6"/>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5C7C8A"/>
                </a:solidFill>
              </a:rPr>
              <a:t>Breakthrough actions by objective and Q1 status</a:t>
            </a:r>
          </a:p>
        </c:rich>
      </c:tx>
      <c:layout/>
      <c:overlay val="0"/>
    </c:title>
    <c:autoTitleDeleted val="0"/>
    <c:plotArea>
      <c:barChart>
        <c:barDir val="bar"/>
        <c:grouping val="stacked"/>
        <c:ser>
          <c:idx val="0"/>
          <c:order val="0"/>
          <c:tx>
            <c:strRef>
              <c:f>Sheet1!$B$1</c:f>
              <c:strCache>
                <c:ptCount val="1"/>
                <c:pt idx="0">
                  <c:v>Complete</c:v>
                </c:pt>
              </c:strCache>
            </c:strRef>
          </c:tx>
          <c:spPr>
            <a:solidFill>
              <a:srgbClr val="0B3C49"/>
            </a:solidFill>
          </c:spPr>
          <c:dLbls>
            <c:numFmt formatCode="0;;" sourceLinked="0"/>
            <c:txPr>
              <a:bodyPr/>
              <a:lstStyle/>
              <a:p>
                <a:pPr>
                  <a:defRPr sz="130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1.4 Financial resilience</c:v>
                </c:pt>
                <c:pt idx="1">
                  <c:v>4.1 Safe culture</c:v>
                </c:pt>
                <c:pt idx="2">
                  <c:v>4.2 Incentives</c:v>
                </c:pt>
                <c:pt idx="3">
                  <c:v>4.3 Capability</c:v>
                </c:pt>
                <c:pt idx="4">
                  <c:v>4.4 Performance mgmt</c:v>
                </c:pt>
              </c:strCache>
            </c:strRef>
          </c:cat>
          <c:val>
            <c:numRef>
              <c:f>Sheet1!$B$2:$B$6</c:f>
              <c:numCache>
                <c:formatCode>General</c:formatCode>
                <c:ptCount val="5"/>
                <c:pt idx="0">
                  <c:v>0</c:v>
                </c:pt>
                <c:pt idx="1">
                  <c:v>1</c:v>
                </c:pt>
                <c:pt idx="2">
                  <c:v>1</c:v>
                </c:pt>
                <c:pt idx="3">
                  <c:v>0</c:v>
                </c:pt>
                <c:pt idx="4">
                  <c:v>0</c:v>
                </c:pt>
              </c:numCache>
            </c:numRef>
          </c:val>
        </c:ser>
        <c:ser>
          <c:idx val="1"/>
          <c:order val="1"/>
          <c:tx>
            <c:strRef>
              <c:f>Sheet1!$C$1</c:f>
              <c:strCache>
                <c:ptCount val="1"/>
                <c:pt idx="0">
                  <c:v>On plan</c:v>
                </c:pt>
              </c:strCache>
            </c:strRef>
          </c:tx>
          <c:spPr>
            <a:solidFill>
              <a:srgbClr val="1B7F79"/>
            </a:solidFill>
          </c:spPr>
          <c:dLbls>
            <c:numFmt formatCode="0;;" sourceLinked="0"/>
            <c:txPr>
              <a:bodyPr/>
              <a:lstStyle/>
              <a:p>
                <a:pPr>
                  <a:defRPr sz="130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1.4 Financial resilience</c:v>
                </c:pt>
                <c:pt idx="1">
                  <c:v>4.1 Safe culture</c:v>
                </c:pt>
                <c:pt idx="2">
                  <c:v>4.2 Incentives</c:v>
                </c:pt>
                <c:pt idx="3">
                  <c:v>4.3 Capability</c:v>
                </c:pt>
                <c:pt idx="4">
                  <c:v>4.4 Performance mgmt</c:v>
                </c:pt>
              </c:strCache>
            </c:strRef>
          </c:cat>
          <c:val>
            <c:numRef>
              <c:f>Sheet1!$C$2:$C$6</c:f>
              <c:numCache>
                <c:formatCode>General</c:formatCode>
                <c:ptCount val="5"/>
                <c:pt idx="0">
                  <c:v>4</c:v>
                </c:pt>
                <c:pt idx="1">
                  <c:v>1</c:v>
                </c:pt>
                <c:pt idx="2">
                  <c:v>1</c:v>
                </c:pt>
                <c:pt idx="3">
                  <c:v>2</c:v>
                </c:pt>
                <c:pt idx="4">
                  <c:v>4</c:v>
                </c:pt>
              </c:numCache>
            </c:numRef>
          </c:val>
        </c:ser>
        <c:ser>
          <c:idx val="2"/>
          <c:order val="2"/>
          <c:tx>
            <c:strRef>
              <c:f>Sheet1!$D$1</c:f>
              <c:strCache>
                <c:ptCount val="1"/>
                <c:pt idx="0">
                  <c:v>Off plan, no recovery</c:v>
                </c:pt>
              </c:strCache>
            </c:strRef>
          </c:tx>
          <c:spPr>
            <a:solidFill>
              <a:srgbClr val="D1495B"/>
            </a:solidFill>
          </c:spPr>
          <c:dLbls>
            <c:numFmt formatCode="0;;" sourceLinked="0"/>
            <c:txPr>
              <a:bodyPr/>
              <a:lstStyle/>
              <a:p>
                <a:pPr>
                  <a:defRPr sz="130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1.4 Financial resilience</c:v>
                </c:pt>
                <c:pt idx="1">
                  <c:v>4.1 Safe culture</c:v>
                </c:pt>
                <c:pt idx="2">
                  <c:v>4.2 Incentives</c:v>
                </c:pt>
                <c:pt idx="3">
                  <c:v>4.3 Capability</c:v>
                </c:pt>
                <c:pt idx="4">
                  <c:v>4.4 Performance mgmt</c:v>
                </c:pt>
              </c:strCache>
            </c:strRef>
          </c:cat>
          <c:val>
            <c:numRef>
              <c:f>Sheet1!$D$2:$D$6</c:f>
              <c:numCache>
                <c:formatCode>General</c:formatCode>
                <c:ptCount val="5"/>
                <c:pt idx="0">
                  <c:v>0</c:v>
                </c:pt>
                <c:pt idx="1">
                  <c:v>2</c:v>
                </c:pt>
                <c:pt idx="2">
                  <c:v>0</c:v>
                </c:pt>
                <c:pt idx="3">
                  <c:v>2</c:v>
                </c:pt>
                <c:pt idx="4">
                  <c:v>1</c:v>
                </c:pt>
              </c:numCache>
            </c:numRef>
          </c:val>
        </c:ser>
        <c:ser>
          <c:idx val="3"/>
          <c:order val="3"/>
          <c:tx>
            <c:strRef>
              <c:f>Sheet1!$E$1</c:f>
              <c:strCache>
                <c:ptCount val="1"/>
                <c:pt idx="0">
                  <c:v>Not due in Q1</c:v>
                </c:pt>
              </c:strCache>
            </c:strRef>
          </c:tx>
          <c:spPr>
            <a:solidFill>
              <a:srgbClr val="A8C5C0"/>
            </a:solidFill>
          </c:spPr>
          <c:dLbls>
            <c:numFmt formatCode="0;;" sourceLinked="0"/>
            <c:txPr>
              <a:bodyPr/>
              <a:lstStyle/>
              <a:p>
                <a:pPr>
                  <a:defRPr sz="1300" b="1">
                    <a:solidFill>
                      <a:srgbClr val="13262B"/>
                    </a:solidFill>
                  </a:defRPr>
                </a:pPr>
              </a:p>
            </c:txPr>
            <c:dLblPos val="ctr"/>
            <c:showLegendKey val="0"/>
            <c:showVal val="1"/>
            <c:showCatName val="0"/>
            <c:showSerName val="0"/>
            <c:showPercent val="0"/>
            <c:showBubbleSize val="0"/>
            <c:showLeaderLines val="1"/>
          </c:dLbls>
          <c:cat>
            <c:strRef>
              <c:f>Sheet1!$A$2:$A$6</c:f>
              <c:strCache>
                <c:ptCount val="5"/>
                <c:pt idx="0">
                  <c:v>1.4 Financial resilience</c:v>
                </c:pt>
                <c:pt idx="1">
                  <c:v>4.1 Safe culture</c:v>
                </c:pt>
                <c:pt idx="2">
                  <c:v>4.2 Incentives</c:v>
                </c:pt>
                <c:pt idx="3">
                  <c:v>4.3 Capability</c:v>
                </c:pt>
                <c:pt idx="4">
                  <c:v>4.4 Performance mgmt</c:v>
                </c:pt>
              </c:strCache>
            </c:strRef>
          </c:cat>
          <c:val>
            <c:numRef>
              <c:f>Sheet1!$E$2:$E$6</c:f>
              <c:numCache>
                <c:formatCode>General</c:formatCode>
                <c:ptCount val="5"/>
                <c:pt idx="0">
                  <c:v>0</c:v>
                </c:pt>
                <c:pt idx="1">
                  <c:v>0</c:v>
                </c:pt>
                <c:pt idx="2">
                  <c:v>2</c:v>
                </c:pt>
                <c:pt idx="3">
                  <c:v>0</c:v>
                </c:pt>
                <c:pt idx="4">
                  <c:v>0</c:v>
                </c:pt>
              </c:numCache>
            </c:numRef>
          </c:val>
        </c:ser>
        <c:gapWidth val="55"/>
        <c:overlap val="100"/>
        <c:axId val="-2068027336"/>
        <c:axId val="-2113994440"/>
      </c:barChart>
      <c:catAx>
        <c:axId val="-2068027336"/>
        <c:scaling>
          <c:orientation val="maxMin"/>
        </c:scaling>
        <c:delete val="0"/>
        <c:axPos val="l"/>
        <c:majorTickMark val="out"/>
        <c:minorTickMark val="none"/>
        <c:tickLblPos val="nextTo"/>
        <c:spPr>
          <a:ln>
            <a:solidFill>
              <a:srgbClr val="D9E3E1"/>
            </a:solidFill>
          </a:ln>
        </c:spPr>
        <c:txPr>
          <a:bodyPr/>
          <a:lstStyle/>
          <a:p>
            <a:pPr>
              <a:defRPr sz="1200"/>
            </a:pPr>
          </a:p>
        </c:txPr>
        <c:crossAx val="-2113994440"/>
        <c:crosses val="autoZero"/>
        <c:auto val="1"/>
        <c:lblAlgn val="ctr"/>
        <c:lblOffset val="100"/>
        <c:noMultiLvlLbl val="0"/>
      </c:catAx>
      <c:valAx>
        <c:axId val="-2113994440"/>
        <c:scaling>
          <c:max val="5.0"/>
        </c:scaling>
        <c:delete/>
        <c:axPos val="b"/>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5C7C8A"/>
                </a:solidFill>
              </a:rPr>
              <a:t>KES millions</a:t>
            </a:r>
          </a:p>
        </c:rich>
      </c:tx>
      <c:layout/>
      <c:overlay val="0"/>
    </c:title>
    <c:autoTitleDeleted val="0"/>
    <c:plotArea>
      <c:barChart>
        <c:barDir val="col"/>
        <c:grouping val="clustered"/>
        <c:ser>
          <c:idx val="0"/>
          <c:order val="0"/>
          <c:tx>
            <c:strRef>
              <c:f>Sheet1!$B$1</c:f>
              <c:strCache>
                <c:ptCount val="1"/>
                <c:pt idx="0">
                  <c:v>Q1 achieved</c:v>
                </c:pt>
              </c:strCache>
            </c:strRef>
          </c:tx>
          <c:spPr>
            <a:solidFill>
              <a:srgbClr val="A8C5C0"/>
            </a:solidFill>
          </c:spPr>
          <c:cat>
            <c:strRef>
              <c:f>Sheet1!$A$2:$A$6</c:f>
              <c:strCache>
                <c:ptCount val="5"/>
                <c:pt idx="0">
                  <c:v>CaaS eBooks</c:v>
                </c:pt>
                <c:pt idx="1">
                  <c:v>Elimu Pepe</c:v>
                </c:pt>
                <c:pt idx="2">
                  <c:v>LoHo Devices</c:v>
                </c:pt>
                <c:pt idx="3">
                  <c:v>LoHo Campus</c:v>
                </c:pt>
                <c:pt idx="4">
                  <c:v>MTN Academy (Ug)</c:v>
                </c:pt>
              </c:strCache>
            </c:strRef>
          </c:cat>
          <c:val>
            <c:numRef>
              <c:f>Sheet1!$B$2:$B$6</c:f>
              <c:numCache>
                <c:formatCode>General</c:formatCode>
                <c:ptCount val="5"/>
                <c:pt idx="0">
                  <c:v>1.359</c:v>
                </c:pt>
                <c:pt idx="1">
                  <c:v>0.82</c:v>
                </c:pt>
                <c:pt idx="2">
                  <c:v>0.107</c:v>
                </c:pt>
                <c:pt idx="3">
                  <c:v>0.0</c:v>
                </c:pt>
                <c:pt idx="4">
                  <c:v>1.5</c:v>
                </c:pt>
              </c:numCache>
            </c:numRef>
          </c:val>
        </c:ser>
        <c:ser>
          <c:idx val="1"/>
          <c:order val="1"/>
          <c:tx>
            <c:strRef>
              <c:f>Sheet1!$C$1</c:f>
              <c:strCache>
                <c:ptCount val="1"/>
                <c:pt idx="0">
                  <c:v>Q2 target</c:v>
                </c:pt>
              </c:strCache>
            </c:strRef>
          </c:tx>
          <c:spPr>
            <a:solidFill>
              <a:srgbClr val="1B7F79"/>
            </a:solidFill>
          </c:spPr>
          <c:cat>
            <c:strRef>
              <c:f>Sheet1!$A$2:$A$6</c:f>
              <c:strCache>
                <c:ptCount val="5"/>
                <c:pt idx="0">
                  <c:v>CaaS eBooks</c:v>
                </c:pt>
                <c:pt idx="1">
                  <c:v>Elimu Pepe</c:v>
                </c:pt>
                <c:pt idx="2">
                  <c:v>LoHo Devices</c:v>
                </c:pt>
                <c:pt idx="3">
                  <c:v>LoHo Campus</c:v>
                </c:pt>
                <c:pt idx="4">
                  <c:v>MTN Academy (Ug)</c:v>
                </c:pt>
              </c:strCache>
            </c:strRef>
          </c:cat>
          <c:val>
            <c:numRef>
              <c:f>Sheet1!$C$2:$C$6</c:f>
              <c:numCache>
                <c:formatCode>General</c:formatCode>
                <c:ptCount val="5"/>
                <c:pt idx="0">
                  <c:v>3.147</c:v>
                </c:pt>
                <c:pt idx="1">
                  <c:v>13.626</c:v>
                </c:pt>
                <c:pt idx="2">
                  <c:v>4.9065</c:v>
                </c:pt>
                <c:pt idx="3">
                  <c:v>3.9065</c:v>
                </c:pt>
                <c:pt idx="4">
                  <c:v>2.942</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80"/>
        <c:overlap val="-5"/>
        <c:axId val="-2068027336"/>
        <c:axId val="-2113994440"/>
      </c:barChart>
      <c:catAx>
        <c:axId val="-2068027336"/>
        <c:scaling>
          <c:orientation val="minMax"/>
        </c:scaling>
        <c:delete val="0"/>
        <c:axPos val="b"/>
        <c:majorTickMark val="out"/>
        <c:minorTickMark val="none"/>
        <c:tickLblPos val="nextTo"/>
        <c:spPr>
          <a:ln>
            <a:solidFill>
              <a:srgbClr val="D9E3E1"/>
            </a:solidFill>
          </a:ln>
        </c:spPr>
        <c:txPr>
          <a:bodyPr/>
          <a:lstStyle/>
          <a:p>
            <a:pPr>
              <a:defRPr sz="1200"/>
            </a:pPr>
          </a:p>
        </c:txPr>
        <c:crossAx val="-2113994440"/>
        <c:crosses val="autoZero"/>
        <c:auto val="1"/>
        <c:lblAlgn val="ctr"/>
        <c:lblOffset val="100"/>
        <c:noMultiLvlLbl val="0"/>
      </c:catAx>
      <c:valAx>
        <c:axId val="-2113994440"/>
        <c:scaling>
          <c:max val="16.0"/>
          <c:min val="0.0"/>
        </c:scaling>
        <c:delete val="0"/>
        <c:axPos val="l"/>
        <c:majorGridlines>
          <c:spPr>
            <a:ln>
              <a:solidFill>
                <a:srgbClr val="D9E3E1"/>
              </a:solidFill>
            </a:ln>
          </c:spPr>
        </c:majorGridlines>
        <c:majorTickMark val="out"/>
        <c:minorTickMark val="none"/>
        <c:tickLblPos val="nextTo"/>
        <c:spPr>
          <a:ln>
            <a:noFill/>
          </a:ln>
        </c:spPr>
        <c:txPr>
          <a:bodyPr/>
          <a:lstStyle/>
          <a:p>
            <a:pPr>
              <a:defRPr sz="1100">
                <a:solidFill>
                  <a:srgbClr val="5C7C8A"/>
                </a:solidFill>
              </a:defRPr>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96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review Q1 results across sales, finance and people operations, then agree Q2 priorities and the decisions needed. Allow about 25 minutes plus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63.4% of target, KES 2.19M short. Be clear that the operating result is a management view from the chart of accounts, unaudited and before tax. The point to land: revenue is concentrated in two lines, and the two lines that missed are the ones with the largest targets.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Elimu Pepe carried 64% of the total target (KES 3.85M of 5.97M), so its miss explains most of the gap. MTN Academy had no target; without it the quarter would have been KES 2.29M, or 38% of target. Do not name individual staff on screen; keep staff-level results for the sales head.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Q1 net changes from the chart of accounts. Amortisation: KES 1.88M in administration plus KES 0.13M in cost of sales (software). The cash-basis loss is an approximation to show the operating gap excluding non-cash charges. Check: 3,786,384 - 1,647,622 = 2,138,762; opex 5,202,977.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are shares of KES 5,202,977 operating costs. Bank charges of KES 83K in a quarter are high relative to cash held; worth a check on tariffs and the number of accounts.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what the payroll payables of KES 19.3M are made of: net salary control 3.33M, payroll payables 11.68M and statutory control accounts about 4.2M. Several statutory accounts show no Q1 movement, so check with payroll whether remittances were posted. Do not present these as arrears until confirmed.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Q2 targets come from the revenue target workbook: eBooks 3.147M, Elimu Pepe 13.626M, Devices 4.9065M, Campus 3.9065M, MTN Academy 2.942M. Total 28.53M against Q1 actual sales of 3.79M. The full-year target is KES 126M. Ask Sales for the pipeline behind Elimu Pepe, which is 48% of the Q2 target.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inside each month are not fixed in the source documents. Add owners and dates once the team agrees.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the strategic objectives and measures from the Q1 KPI Status for Finance and Operations. We own 21 breakthrough actions across five objectives, plus F2 (fundraising data room). The strategy document itself did not arrive as a separate file; objectives and measures here come from the KPI status report. Check wording against the strategy.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Of 21 breakthrough actions, 19 were due in Q1. Two are complete, 12 are on plan, 5 are off plan without a recovery plan, and 2 are not due until Q2 and Q3. 14 of 19 is 74%. Five off-plan actions sit in culture, capability and performance management; financial resilience is fully on plan.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Objective 1.4. Measures: cash runway visibility of at least 6 months and 50% of B2B invoices paid within 30 days. The 95% collections discipline target is not yet reached: over 80% of receivables are under 90 days overdue. Next step is to reconcile debtor balances and agree accounts for escalation. The financial results that follow explain the numbers behind these actions.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Objectives 4.1 to 4.4. Left: what is complete or on plan. Right: the five off-plan actions and the recovery step in the KPI report. 4.1.3 has no recovery step recorded; agree one. The eNPS measure for objective 4.2 is at least 50. HR reports the Q1 survey eNPS as -75 in its table and 40 in its summary; either figure is below target. Confirm with HR before presenting a number.</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worked, what did not, what we carry forward or change. About one minute per column.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Q2 target of 28,527,848 is 7.5 times Q1 actual sales (3,786,348) and 4.8 times the Q1 target (5,973,500). Monthly: Oct 8,185,000; Nov 9,121,000; Dec 11,221,848. Campus had no Q1 sales and now carries KES 3.9M. Finance angle: set a cash and cost plan against this ramp, and ask Sales for the pipeline behind Elimu Pepe.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we will deliver, who owns it, by when, how success is measured, and what we need from others. Next steps come from the Q1 KPI Status. Owners, dates and measures are proposals; edit before presenting.</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by asking each owner to confirm. Then open for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LoHo Learning  |  Finance &amp; Operations  |  Q1 FY2026/27 review, Q2 outlook</a:t>
            </a:r>
            <a:endParaRPr lang="en-US" sz="1000" dirty="0"/>
          </a:p>
        </p:txBody>
      </p:sp>
      <p:sp>
        <p:nvSpPr>
          <p:cNvPr id="3" name="Text 1"/>
          <p:cNvSpPr>
            <a:spLocks noGrp="1"/>
          </p:cNvSpPr>
          <p:nvPr>
            <p:ph type="title" idx="101" hasCustomPrompt="1"/>
          </p:nvPr>
        </p:nvSpPr>
        <p:spPr>
          <a:xfrm>
            <a:off x="548640" y="320040"/>
            <a:ext cx="11064240" cy="82296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Finance &amp; Operations: Q1 review and Q2 outlook</a:t>
            </a: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lIns="0" tIns="0" rIns="0" bIns="0" rtlCol="0" anchor="t"/>
          <a:lstStyle/>
          <a:p>
            <a:pPr marL="0" indent="0">
              <a:buNone/>
            </a:pPr>
            <a:r>
              <a:rPr lang="en-US" sz="2000" dirty="0">
                <a:solidFill>
                  <a:schemeClr val="accent6"/>
                </a:solidFill>
              </a:rPr>
              <a:t>Q1 FY2026/27 (July to September 2026)  |  Outlook: October to December 2026</a:t>
            </a:r>
            <a:endParaRPr lang="en-US" sz="2000" dirty="0"/>
          </a:p>
          <a:p>
            <a:pPr marL="0" indent="0">
              <a:buNone/>
            </a:pPr>
            <a:r>
              <a:rPr lang="en-US" sz="2000" dirty="0">
                <a:solidFill>
                  <a:schemeClr val="accent6"/>
                </a:solidFill>
              </a:rPr>
              <a:t>LoHo Learning Limited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smtClean="0">
                <a:solidFill>
                  <a:schemeClr val="tx2"/>
                </a:solidFill>
                <a:latin typeface="Cambria" pitchFamily="34" charset="0"/>
                <a:ea typeface="Cambria" pitchFamily="34" charset="-122"/>
                <a:cs typeface="Cambria" pitchFamily="34" charset="-120"/>
              </a:rPr>
              <a:t>Q1: </a:t>
            </a:r>
            <a:r>
              <a:rPr lang="en-US" sz="3200" b="1" dirty="0">
                <a:solidFill>
                  <a:schemeClr val="tx2"/>
                </a:solidFill>
                <a:latin typeface="Cambria" pitchFamily="34" charset="0"/>
                <a:ea typeface="Cambria" pitchFamily="34" charset="-122"/>
                <a:cs typeface="Cambria" pitchFamily="34" charset="-120"/>
              </a:rPr>
              <a:t>sales reached 63% of target</a:t>
            </a:r>
            <a:endParaRPr lang="en-US" sz="3200" dirty="0"/>
          </a:p>
        </p:txBody>
      </p:sp>
      <p:sp>
        <p:nvSpPr>
          <p:cNvPr id="3" name="Sales card"/>
          <p:cNvSpPr/>
          <p:nvPr/>
        </p:nvSpPr>
        <p:spPr>
          <a:xfrm>
            <a:off x="548640" y="1463040"/>
            <a:ext cx="2651760" cy="1828800"/>
          </a:xfrm>
          <a:prstGeom prst="roundRect">
            <a:avLst>
              <a:gd name="adj" fmla="val 6000"/>
            </a:avLst>
          </a:prstGeom>
          <a:solidFill>
            <a:schemeClr val="bg2"/>
          </a:solidFill>
          <a:ln w="12700">
            <a:solidFill>
              <a:schemeClr val="bg2"/>
            </a:solidFill>
            <a:prstDash val="solid"/>
          </a:ln>
        </p:spPr>
      </p:sp>
      <p:sp>
        <p:nvSpPr>
          <p:cNvPr id="4" name="Sales value"/>
          <p:cNvSpPr txBox="1"/>
          <p:nvPr/>
        </p:nvSpPr>
        <p:spPr>
          <a:xfrm>
            <a:off x="777240" y="164592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3.79M</a:t>
            </a:r>
            <a:endParaRPr lang="en-US" sz="3200" dirty="0"/>
          </a:p>
        </p:txBody>
      </p:sp>
      <p:sp>
        <p:nvSpPr>
          <p:cNvPr id="5" name="Sales label"/>
          <p:cNvSpPr txBox="1"/>
          <p:nvPr/>
        </p:nvSpPr>
        <p:spPr>
          <a:xfrm>
            <a:off x="77724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Q1 sales</a:t>
            </a:r>
            <a:endParaRPr lang="en-US" sz="1600" dirty="0"/>
          </a:p>
        </p:txBody>
      </p:sp>
      <p:sp>
        <p:nvSpPr>
          <p:cNvPr id="6" name="Sales note"/>
          <p:cNvSpPr txBox="1"/>
          <p:nvPr/>
        </p:nvSpPr>
        <p:spPr>
          <a:xfrm>
            <a:off x="77724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Target KES 5.97M (63.4%)</a:t>
            </a:r>
            <a:endParaRPr lang="en-US" sz="1200" dirty="0"/>
          </a:p>
        </p:txBody>
      </p:sp>
      <p:sp>
        <p:nvSpPr>
          <p:cNvPr id="7" name="Shortfall card"/>
          <p:cNvSpPr/>
          <p:nvPr/>
        </p:nvSpPr>
        <p:spPr>
          <a:xfrm>
            <a:off x="3383280" y="1463040"/>
            <a:ext cx="2651760" cy="1828800"/>
          </a:xfrm>
          <a:prstGeom prst="roundRect">
            <a:avLst>
              <a:gd name="adj" fmla="val 6000"/>
            </a:avLst>
          </a:prstGeom>
          <a:solidFill>
            <a:schemeClr val="bg2"/>
          </a:solidFill>
          <a:ln w="12700">
            <a:solidFill>
              <a:schemeClr val="bg2"/>
            </a:solidFill>
            <a:prstDash val="solid"/>
          </a:ln>
        </p:spPr>
      </p:sp>
      <p:sp>
        <p:nvSpPr>
          <p:cNvPr id="8" name="Shortfall value"/>
          <p:cNvSpPr txBox="1"/>
          <p:nvPr/>
        </p:nvSpPr>
        <p:spPr>
          <a:xfrm>
            <a:off x="3611880" y="1645920"/>
            <a:ext cx="2194560"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2.19M</a:t>
            </a:r>
            <a:endParaRPr lang="en-US" sz="3200" dirty="0"/>
          </a:p>
        </p:txBody>
      </p:sp>
      <p:sp>
        <p:nvSpPr>
          <p:cNvPr id="9" name="Shortfall label"/>
          <p:cNvSpPr txBox="1"/>
          <p:nvPr/>
        </p:nvSpPr>
        <p:spPr>
          <a:xfrm>
            <a:off x="361188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Shortfall to target</a:t>
            </a:r>
            <a:endParaRPr lang="en-US" sz="1600" dirty="0"/>
          </a:p>
        </p:txBody>
      </p:sp>
      <p:sp>
        <p:nvSpPr>
          <p:cNvPr id="10" name="Shortfall note"/>
          <p:cNvSpPr txBox="1"/>
          <p:nvPr/>
        </p:nvSpPr>
        <p:spPr>
          <a:xfrm>
            <a:off x="361188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Elimu Pepe and Devices: KES 4.12M short</a:t>
            </a:r>
            <a:endParaRPr lang="en-US" sz="1200" dirty="0"/>
          </a:p>
        </p:txBody>
      </p:sp>
      <p:sp>
        <p:nvSpPr>
          <p:cNvPr id="11" name="Headcount card"/>
          <p:cNvSpPr/>
          <p:nvPr/>
        </p:nvSpPr>
        <p:spPr>
          <a:xfrm>
            <a:off x="6217920" y="1463040"/>
            <a:ext cx="2651760" cy="1828800"/>
          </a:xfrm>
          <a:prstGeom prst="roundRect">
            <a:avLst>
              <a:gd name="adj" fmla="val 6000"/>
            </a:avLst>
          </a:prstGeom>
          <a:solidFill>
            <a:schemeClr val="bg2"/>
          </a:solidFill>
          <a:ln w="12700">
            <a:solidFill>
              <a:schemeClr val="bg2"/>
            </a:solidFill>
            <a:prstDash val="solid"/>
          </a:ln>
        </p:spPr>
      </p:sp>
      <p:sp>
        <p:nvSpPr>
          <p:cNvPr id="12" name="Headcount value"/>
          <p:cNvSpPr txBox="1"/>
          <p:nvPr/>
        </p:nvSpPr>
        <p:spPr>
          <a:xfrm>
            <a:off x="6446520" y="164592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17</a:t>
            </a:r>
            <a:endParaRPr lang="en-US" sz="3200" dirty="0"/>
          </a:p>
        </p:txBody>
      </p:sp>
      <p:sp>
        <p:nvSpPr>
          <p:cNvPr id="13" name="Headcount label"/>
          <p:cNvSpPr txBox="1"/>
          <p:nvPr/>
        </p:nvSpPr>
        <p:spPr>
          <a:xfrm>
            <a:off x="6446520" y="246888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Headcount</a:t>
            </a:r>
            <a:endParaRPr lang="en-US" sz="1600" dirty="0"/>
          </a:p>
        </p:txBody>
      </p:sp>
      <p:sp>
        <p:nvSpPr>
          <p:cNvPr id="14" name="Headcount note"/>
          <p:cNvSpPr txBox="1"/>
          <p:nvPr/>
        </p:nvSpPr>
        <p:spPr>
          <a:xfrm>
            <a:off x="6446520" y="276148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12 permanent, 5 consultants; +2, no exits</a:t>
            </a:r>
            <a:endParaRPr lang="en-US" sz="1200" dirty="0"/>
          </a:p>
        </p:txBody>
      </p:sp>
      <p:sp>
        <p:nvSpPr>
          <p:cNvPr id="15" name="Result card"/>
          <p:cNvSpPr/>
          <p:nvPr/>
        </p:nvSpPr>
        <p:spPr>
          <a:xfrm>
            <a:off x="9052560" y="1463040"/>
            <a:ext cx="2587752" cy="1828800"/>
          </a:xfrm>
          <a:prstGeom prst="roundRect">
            <a:avLst>
              <a:gd name="adj" fmla="val 6000"/>
            </a:avLst>
          </a:prstGeom>
          <a:solidFill>
            <a:schemeClr val="bg2"/>
          </a:solidFill>
          <a:ln w="12700">
            <a:solidFill>
              <a:schemeClr val="bg2"/>
            </a:solidFill>
            <a:prstDash val="solid"/>
          </a:ln>
        </p:spPr>
      </p:sp>
      <p:sp>
        <p:nvSpPr>
          <p:cNvPr id="16" name="Result value"/>
          <p:cNvSpPr txBox="1"/>
          <p:nvPr/>
        </p:nvSpPr>
        <p:spPr>
          <a:xfrm>
            <a:off x="9281160" y="1645920"/>
            <a:ext cx="21305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3.06M</a:t>
            </a:r>
            <a:endParaRPr lang="en-US" sz="3200" dirty="0"/>
          </a:p>
        </p:txBody>
      </p:sp>
      <p:sp>
        <p:nvSpPr>
          <p:cNvPr id="17" name="Result label"/>
          <p:cNvSpPr txBox="1"/>
          <p:nvPr/>
        </p:nvSpPr>
        <p:spPr>
          <a:xfrm>
            <a:off x="9281160" y="2468880"/>
            <a:ext cx="2130552" cy="320040"/>
          </a:xfrm>
          <a:prstGeom prst="rect">
            <a:avLst/>
          </a:prstGeom>
          <a:noFill/>
          <a:ln/>
        </p:spPr>
        <p:txBody>
          <a:bodyPr wrap="square" lIns="0" tIns="0" rIns="0" bIns="0" rtlCol="0" anchor="ctr"/>
          <a:lstStyle/>
          <a:p>
            <a:pPr marL="0" indent="0">
              <a:buNone/>
            </a:pPr>
            <a:r>
              <a:rPr lang="en-US" sz="1600" b="1" dirty="0">
                <a:solidFill>
                  <a:schemeClr val="tx1"/>
                </a:solidFill>
              </a:rPr>
              <a:t>Q1 operating result</a:t>
            </a:r>
            <a:endParaRPr lang="en-US" sz="1600" dirty="0"/>
          </a:p>
        </p:txBody>
      </p:sp>
      <p:sp>
        <p:nvSpPr>
          <p:cNvPr id="18" name="Result note"/>
          <p:cNvSpPr txBox="1"/>
          <p:nvPr/>
        </p:nvSpPr>
        <p:spPr>
          <a:xfrm>
            <a:off x="9281160" y="2761488"/>
            <a:ext cx="2130552" cy="411480"/>
          </a:xfrm>
          <a:prstGeom prst="rect">
            <a:avLst/>
          </a:prstGeom>
          <a:noFill/>
          <a:ln/>
        </p:spPr>
        <p:txBody>
          <a:bodyPr wrap="square" lIns="0" tIns="0" rIns="0" bIns="0" rtlCol="0" anchor="t"/>
          <a:lstStyle/>
          <a:p>
            <a:pPr marL="0" indent="0">
              <a:buNone/>
            </a:pPr>
            <a:endParaRPr lang="en-US" sz="1200" dirty="0"/>
          </a:p>
        </p:txBody>
      </p:sp>
      <p:sp>
        <p:nvSpPr>
          <p:cNvPr id="19" name="Takeaway panel"/>
          <p:cNvSpPr/>
          <p:nvPr/>
        </p:nvSpPr>
        <p:spPr>
          <a:xfrm>
            <a:off x="548640" y="3657600"/>
            <a:ext cx="11091672" cy="2103120"/>
          </a:xfrm>
          <a:prstGeom prst="roundRect">
            <a:avLst>
              <a:gd name="adj" fmla="val 5217"/>
            </a:avLst>
          </a:prstGeom>
          <a:solidFill>
            <a:schemeClr val="bg2"/>
          </a:solidFill>
          <a:ln w="12700">
            <a:solidFill>
              <a:schemeClr val="bg2"/>
            </a:solidFill>
            <a:prstDash val="solid"/>
          </a:ln>
        </p:spPr>
      </p:sp>
      <p:sp>
        <p:nvSpPr>
          <p:cNvPr id="20" name="Text 18"/>
          <p:cNvSpPr txBox="1"/>
          <p:nvPr/>
        </p:nvSpPr>
        <p:spPr>
          <a:xfrm>
            <a:off x="822960" y="3840480"/>
            <a:ext cx="548640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the numbers say</a:t>
            </a:r>
            <a:endParaRPr lang="en-US" sz="2000" dirty="0"/>
          </a:p>
        </p:txBody>
      </p:sp>
      <p:sp>
        <p:nvSpPr>
          <p:cNvPr id="21" name="Commentary"/>
          <p:cNvSpPr txBox="1"/>
          <p:nvPr/>
        </p:nvSpPr>
        <p:spPr>
          <a:xfrm>
            <a:off x="822960" y="4297680"/>
            <a:ext cx="10515600" cy="1371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CaaS eBooks (147% of target) and MTN Academy (KES 1.5M, unbudgeted) carried the quarter.</a:t>
            </a:r>
            <a:endParaRPr lang="en-US" sz="1600" dirty="0"/>
          </a:p>
          <a:p>
            <a:pPr marL="342900" indent="-342900">
              <a:spcAft>
                <a:spcPts val="1000"/>
              </a:spcAft>
              <a:buSzPct val="100000"/>
              <a:buChar char="•"/>
            </a:pPr>
            <a:r>
              <a:rPr lang="en-US" sz="1600" dirty="0">
                <a:solidFill>
                  <a:schemeClr val="tx1"/>
                </a:solidFill>
              </a:rPr>
              <a:t>Elimu Pepe (21%) and LoHo Devices (9%) are the recovery priority for Q2</a:t>
            </a:r>
            <a:r>
              <a:rPr lang="en-US" sz="1600" dirty="0" smtClean="0">
                <a:solidFill>
                  <a:schemeClr val="tx1"/>
                </a:solidFill>
              </a:rPr>
              <a: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2</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Sales by </a:t>
            </a:r>
            <a:r>
              <a:rPr lang="en-US" sz="3200" b="1" dirty="0" smtClean="0">
                <a:solidFill>
                  <a:schemeClr val="tx2"/>
                </a:solidFill>
                <a:latin typeface="Cambria" pitchFamily="34" charset="0"/>
                <a:ea typeface="Cambria" pitchFamily="34" charset="-122"/>
                <a:cs typeface="Cambria" pitchFamily="34" charset="-120"/>
              </a:rPr>
              <a:t>line</a:t>
            </a:r>
            <a:endParaRPr lang="en-US" sz="3200" dirty="0"/>
          </a:p>
        </p:txBody>
      </p:sp>
      <p:graphicFrame>
        <p:nvGraphicFramePr>
          <p:cNvPr id="3" name="Target vs achieved chart"/>
          <p:cNvGraphicFramePr/>
          <p:nvPr/>
        </p:nvGraphicFramePr>
        <p:xfrm>
          <a:off x="548640" y="128016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mmentary panel"/>
          <p:cNvSpPr/>
          <p:nvPr/>
        </p:nvSpPr>
        <p:spPr>
          <a:xfrm>
            <a:off x="7772400" y="1371600"/>
            <a:ext cx="3867912" cy="4480560"/>
          </a:xfrm>
          <a:prstGeom prst="roundRect">
            <a:avLst>
              <a:gd name="adj" fmla="val 2837"/>
            </a:avLst>
          </a:prstGeom>
          <a:solidFill>
            <a:schemeClr val="bg2"/>
          </a:solidFill>
          <a:ln w="12700">
            <a:solidFill>
              <a:schemeClr val="bg2"/>
            </a:solidFill>
            <a:prstDash val="solid"/>
          </a:ln>
        </p:spPr>
      </p:sp>
      <p:sp>
        <p:nvSpPr>
          <p:cNvPr id="5" name="Text 2"/>
          <p:cNvSpPr txBox="1"/>
          <p:nvPr/>
        </p:nvSpPr>
        <p:spPr>
          <a:xfrm>
            <a:off x="8046720" y="1554480"/>
            <a:ext cx="338328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Variance to target</a:t>
            </a:r>
            <a:endParaRPr lang="en-US" sz="2000" dirty="0"/>
          </a:p>
        </p:txBody>
      </p:sp>
      <p:sp>
        <p:nvSpPr>
          <p:cNvPr id="6" name="Commentary"/>
          <p:cNvSpPr txBox="1"/>
          <p:nvPr/>
        </p:nvSpPr>
        <p:spPr>
          <a:xfrm>
            <a:off x="8046720" y="2103120"/>
            <a:ext cx="3383280" cy="34747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eBooks: +KES 436K (147.3%)</a:t>
            </a:r>
            <a:endParaRPr lang="en-US" sz="1500" dirty="0"/>
          </a:p>
          <a:p>
            <a:pPr marL="342900" indent="-342900">
              <a:spcAft>
                <a:spcPts val="1000"/>
              </a:spcAft>
              <a:buSzPct val="100000"/>
              <a:buChar char="•"/>
            </a:pPr>
            <a:r>
              <a:rPr lang="en-US" sz="1500" dirty="0">
                <a:solidFill>
                  <a:schemeClr val="tx1"/>
                </a:solidFill>
              </a:rPr>
              <a:t>Elimu Pepe: -KES 3.03M (21.3%)</a:t>
            </a:r>
            <a:endParaRPr lang="en-US" sz="1500" dirty="0"/>
          </a:p>
          <a:p>
            <a:pPr marL="342900" indent="-342900">
              <a:spcAft>
                <a:spcPts val="1000"/>
              </a:spcAft>
              <a:buSzPct val="100000"/>
              <a:buChar char="•"/>
            </a:pPr>
            <a:r>
              <a:rPr lang="en-US" sz="1500" dirty="0">
                <a:solidFill>
                  <a:schemeClr val="tx1"/>
                </a:solidFill>
              </a:rPr>
              <a:t>Devices: -KES 1.09M (8.9%)</a:t>
            </a:r>
            <a:endParaRPr lang="en-US" sz="1500" dirty="0"/>
          </a:p>
          <a:p>
            <a:pPr marL="342900" indent="-342900">
              <a:spcAft>
                <a:spcPts val="1000"/>
              </a:spcAft>
              <a:buSzPct val="100000"/>
              <a:buChar char="•"/>
            </a:pPr>
            <a:r>
              <a:rPr lang="en-US" sz="1500" dirty="0">
                <a:solidFill>
                  <a:schemeClr val="tx1"/>
                </a:solidFill>
              </a:rPr>
              <a:t>MTN Academy: +KES 1.5M, no target set</a:t>
            </a:r>
            <a:endParaRPr lang="en-US" sz="1500" dirty="0"/>
          </a:p>
          <a:p>
            <a:pPr marL="342900" indent="-342900">
              <a:spcAft>
                <a:spcPts val="1000"/>
              </a:spcAft>
              <a:buSzPct val="100000"/>
              <a:buChar char="•"/>
            </a:pPr>
            <a:r>
              <a:rPr lang="en-US" sz="1500" dirty="0">
                <a:solidFill>
                  <a:schemeClr val="tx1"/>
                </a:solidFill>
              </a:rPr>
              <a:t>LoHo Campus: no target, no sales</a:t>
            </a:r>
            <a:endParaRPr lang="en-US" sz="1500" dirty="0"/>
          </a:p>
        </p:txBody>
      </p:sp>
      <p:sp>
        <p:nvSpPr>
          <p:cNvPr id="7" name="Source note"/>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Source: Q1 Target vs Achieved Report, quarter ended 30 September 2026. Amounts in KES.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Q1 </a:t>
            </a:r>
            <a:r>
              <a:rPr lang="en-US" dirty="0" smtClean="0"/>
              <a:t>P&amp;L</a:t>
            </a:r>
            <a:endParaRPr lang="en-US" sz="3200" dirty="0"/>
          </a:p>
        </p:txBody>
      </p:sp>
      <p:graphicFrame>
        <p:nvGraphicFramePr>
          <p:cNvPr id="6" name="Income statement table"/>
          <p:cNvGraphicFramePr>
            <a:graphicFrameLocks noGrp="1"/>
          </p:cNvGraphicFramePr>
          <p:nvPr>
            <p:extLst>
              <p:ext uri="{D42A27DB-BD31-4B8C-83A1-F6EECF244321}">
                <p14:modId xmlns:p14="http://schemas.microsoft.com/office/powerpoint/2010/main" val="1677490459"/>
              </p:ext>
            </p:extLst>
          </p:nvPr>
        </p:nvGraphicFramePr>
        <p:xfrm>
          <a:off x="548640" y="1371600"/>
          <a:ext cx="6766560" cy="3803904"/>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7548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Q1 FY2026/27</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KES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400" b="1" dirty="0">
                          <a:solidFill>
                            <a:srgbClr val="FFFFFF"/>
                          </a:solidFill>
                          <a:latin typeface="Calibri" pitchFamily="34" charset="0"/>
                          <a:ea typeface="Calibri" pitchFamily="34" charset="-122"/>
                          <a:cs typeface="Calibri" pitchFamily="34" charset="-120"/>
                        </a:rPr>
                        <a:t>% of 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3,786,384</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Cost of sales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(1,647,622)</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3262B"/>
                          </a:solidFill>
                          <a:latin typeface="Calibri" pitchFamily="34" charset="0"/>
                          <a:ea typeface="Calibri" pitchFamily="34" charset="-122"/>
                          <a:cs typeface="Calibri" pitchFamily="34" charset="-120"/>
                        </a:rPr>
                        <a:t>Gross profit</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13262B"/>
                          </a:solidFill>
                          <a:latin typeface="Calibri" pitchFamily="34" charset="0"/>
                          <a:ea typeface="Calibri" pitchFamily="34" charset="-122"/>
                          <a:cs typeface="Calibri" pitchFamily="34" charset="-120"/>
                        </a:rPr>
                        <a:t>2,138,762</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13262B"/>
                          </a:solidFill>
                          <a:latin typeface="Calibri" pitchFamily="34" charset="0"/>
                          <a:ea typeface="Calibri" pitchFamily="34" charset="-122"/>
                          <a:cs typeface="Calibri" pitchFamily="34" charset="-120"/>
                        </a:rPr>
                        <a:t>56.5%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Staff costs</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(2,105,859)</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Amortisation and depreciation</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(1,894,031)</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400" dirty="0">
                          <a:solidFill>
                            <a:srgbClr val="13262B"/>
                          </a:solidFill>
                          <a:latin typeface="Calibri" pitchFamily="34" charset="0"/>
                          <a:ea typeface="Calibri" pitchFamily="34" charset="-122"/>
                          <a:cs typeface="Calibri" pitchFamily="34" charset="-120"/>
                        </a:rPr>
                        <a:t>Other </a:t>
                      </a:r>
                      <a:r>
                        <a:rPr lang="en-US" sz="1400" dirty="0" smtClean="0">
                          <a:solidFill>
                            <a:srgbClr val="13262B"/>
                          </a:solidFill>
                          <a:latin typeface="Calibri" pitchFamily="34" charset="0"/>
                          <a:ea typeface="Calibri" pitchFamily="34" charset="-122"/>
                          <a:cs typeface="Calibri" pitchFamily="34" charset="-120"/>
                        </a:rPr>
                        <a:t>cost-</a:t>
                      </a:r>
                      <a:r>
                        <a:rPr lang="en-US" sz="1400" baseline="0" dirty="0" smtClean="0">
                          <a:solidFill>
                            <a:srgbClr val="13262B"/>
                          </a:solidFill>
                          <a:latin typeface="Calibri" pitchFamily="34" charset="0"/>
                          <a:ea typeface="Calibri" pitchFamily="34" charset="-122"/>
                          <a:cs typeface="Calibri" pitchFamily="34" charset="-120"/>
                        </a:rPr>
                        <a:t> Admin, sales &amp; Marketing</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(1,203,087)</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400" dirty="0">
                          <a:solidFill>
                            <a:srgbClr val="13262B"/>
                          </a:solidFill>
                          <a:latin typeface="Calibri" pitchFamily="34" charset="0"/>
                          <a:ea typeface="Calibri" pitchFamily="34" charset="-122"/>
                          <a:cs typeface="Calibri" pitchFamily="34" charset="-120"/>
                        </a:rPr>
                        <a:t>31.8%</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D1495B"/>
                          </a:solidFill>
                          <a:latin typeface="Calibri" pitchFamily="34" charset="0"/>
                          <a:ea typeface="Calibri" pitchFamily="34" charset="-122"/>
                          <a:cs typeface="Calibri" pitchFamily="34" charset="-120"/>
                        </a:rPr>
                        <a:t>Net operating result</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D1495B"/>
                          </a:solidFill>
                          <a:latin typeface="Calibri" pitchFamily="34" charset="0"/>
                          <a:ea typeface="Calibri" pitchFamily="34" charset="-122"/>
                          <a:cs typeface="Calibri" pitchFamily="34" charset="-120"/>
                        </a:rPr>
                        <a:t>(3,064,215)</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tc>
                  <a:txBody>
                    <a:bodyPr/>
                    <a:lstStyle/>
                    <a:p>
                      <a:pPr marL="0" indent="0" algn="r">
                        <a:buNone/>
                      </a:pPr>
                      <a:r>
                        <a:rPr lang="en-US" sz="1400" b="1" dirty="0">
                          <a:solidFill>
                            <a:srgbClr val="D1495B"/>
                          </a:solidFill>
                          <a:latin typeface="Calibri" pitchFamily="34" charset="0"/>
                          <a:ea typeface="Calibri" pitchFamily="34" charset="-122"/>
                          <a:cs typeface="Calibri" pitchFamily="34" charset="-120"/>
                        </a:rPr>
                        <a:t>-80.9%</a:t>
                      </a:r>
                      <a:endParaRPr lang="en-US" sz="14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EEF4F3"/>
                    </a:solidFill>
                  </a:tcPr>
                </a:tc>
                <a:extLst>
                  <a:ext uri="{0D108BD9-81ED-4DB2-BD59-A6C34878D82A}">
                    <a16:rowId xmlns:a16="http://schemas.microsoft.com/office/drawing/2014/main" val="10007"/>
                  </a:ext>
                </a:extLst>
              </a:tr>
            </a:tbl>
          </a:graphicData>
        </a:graphic>
      </p:graphicFrame>
      <p:sp>
        <p:nvSpPr>
          <p:cNvPr id="4" name="Cash loss card"/>
          <p:cNvSpPr/>
          <p:nvPr/>
        </p:nvSpPr>
        <p:spPr>
          <a:xfrm>
            <a:off x="7680960" y="1371600"/>
            <a:ext cx="3959352" cy="1828800"/>
          </a:xfrm>
          <a:prstGeom prst="roundRect">
            <a:avLst>
              <a:gd name="adj" fmla="val 6000"/>
            </a:avLst>
          </a:prstGeom>
          <a:solidFill>
            <a:schemeClr val="bg2"/>
          </a:solidFill>
          <a:ln w="12700">
            <a:solidFill>
              <a:schemeClr val="bg2"/>
            </a:solidFill>
            <a:prstDash val="solid"/>
          </a:ln>
        </p:spPr>
      </p:sp>
      <p:sp>
        <p:nvSpPr>
          <p:cNvPr id="5" name="Cash loss value"/>
          <p:cNvSpPr txBox="1"/>
          <p:nvPr/>
        </p:nvSpPr>
        <p:spPr>
          <a:xfrm>
            <a:off x="7909560" y="1554480"/>
            <a:ext cx="35021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1.04M</a:t>
            </a:r>
            <a:endParaRPr lang="en-US" sz="3200" dirty="0"/>
          </a:p>
        </p:txBody>
      </p:sp>
      <p:sp>
        <p:nvSpPr>
          <p:cNvPr id="3" name="Cash loss label"/>
          <p:cNvSpPr txBox="1"/>
          <p:nvPr/>
        </p:nvSpPr>
        <p:spPr>
          <a:xfrm>
            <a:off x="7909560" y="2377440"/>
            <a:ext cx="3502152" cy="320040"/>
          </a:xfrm>
          <a:prstGeom prst="rect">
            <a:avLst/>
          </a:prstGeom>
          <a:noFill/>
          <a:ln/>
        </p:spPr>
        <p:txBody>
          <a:bodyPr wrap="square" lIns="0" tIns="0" rIns="0" bIns="0" rtlCol="0" anchor="ctr"/>
          <a:lstStyle/>
          <a:p>
            <a:pPr marL="0" indent="0">
              <a:buNone/>
            </a:pPr>
            <a:r>
              <a:rPr lang="en-US" sz="1600" b="1" dirty="0">
                <a:solidFill>
                  <a:schemeClr val="tx1"/>
                </a:solidFill>
              </a:rPr>
              <a:t>Loss before non-cash items</a:t>
            </a:r>
            <a:endParaRPr lang="en-US" sz="1600" dirty="0"/>
          </a:p>
        </p:txBody>
      </p:sp>
      <p:sp>
        <p:nvSpPr>
          <p:cNvPr id="7" name="Cash loss note"/>
          <p:cNvSpPr txBox="1"/>
          <p:nvPr/>
        </p:nvSpPr>
        <p:spPr>
          <a:xfrm>
            <a:off x="7909560" y="2670048"/>
            <a:ext cx="3502152" cy="411480"/>
          </a:xfrm>
          <a:prstGeom prst="rect">
            <a:avLst/>
          </a:prstGeom>
          <a:noFill/>
          <a:ln/>
        </p:spPr>
        <p:txBody>
          <a:bodyPr wrap="square" lIns="0" tIns="0" rIns="0" bIns="0" rtlCol="0" anchor="t"/>
          <a:lstStyle/>
          <a:p>
            <a:pPr marL="0" indent="0">
              <a:buNone/>
            </a:pPr>
            <a:r>
              <a:rPr lang="en-US" sz="1200" dirty="0">
                <a:solidFill>
                  <a:schemeClr val="accent5"/>
                </a:solidFill>
              </a:rPr>
              <a:t>Excludes amortisation and depreciation of KES 2.03M</a:t>
            </a:r>
            <a:endParaRPr lang="en-US" sz="1200" dirty="0"/>
          </a:p>
        </p:txBody>
      </p:sp>
      <p:sp>
        <p:nvSpPr>
          <p:cNvPr id="8" name="Insight card"/>
          <p:cNvSpPr/>
          <p:nvPr/>
        </p:nvSpPr>
        <p:spPr>
          <a:xfrm>
            <a:off x="7680960" y="3429000"/>
            <a:ext cx="3959352" cy="192024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7909560" y="3611880"/>
            <a:ext cx="3520440" cy="1554480"/>
          </a:xfrm>
          <a:prstGeom prst="rect">
            <a:avLst/>
          </a:prstGeom>
          <a:noFill/>
          <a:ln/>
        </p:spPr>
        <p:txBody>
          <a:bodyPr wrap="square" lIns="0" tIns="0" rIns="0" bIns="0" rtlCol="0" anchor="t"/>
          <a:lstStyle/>
          <a:p>
            <a:pPr marL="0" indent="0">
              <a:buNone/>
            </a:pPr>
            <a:r>
              <a:rPr lang="en-US" sz="1500" dirty="0">
                <a:solidFill>
                  <a:schemeClr val="tx1"/>
                </a:solidFill>
              </a:rPr>
              <a:t>Staff costs are 56% of sales. At a 57% gross margin, sales must roughly double before payroll is covered.</a:t>
            </a:r>
            <a:endParaRPr lang="en-US" sz="1500" dirty="0"/>
          </a:p>
        </p:txBody>
      </p:sp>
      <p:sp>
        <p:nvSpPr>
          <p:cNvPr id="10" name="Source note"/>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Source: Chart of Accounts, Q1 net change (management view, unaudited, before tax and closing adjustments). Cost of sales includes KES 250K cash discounts.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t>Where the KES 5.2M of operating costs went</a:t>
            </a:r>
            <a:endParaRPr lang="en-US" sz="3200" dirty="0"/>
          </a:p>
        </p:txBody>
      </p:sp>
      <p:graphicFrame>
        <p:nvGraphicFramePr>
          <p:cNvPr id="3" name="Operating cost chart"/>
          <p:cNvGraphicFramePr/>
          <p:nvPr/>
        </p:nvGraphicFramePr>
        <p:xfrm>
          <a:off x="548640" y="1280160"/>
          <a:ext cx="67665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st notes panel"/>
          <p:cNvSpPr/>
          <p:nvPr/>
        </p:nvSpPr>
        <p:spPr>
          <a:xfrm>
            <a:off x="7680960" y="1371600"/>
            <a:ext cx="3959352" cy="4480560"/>
          </a:xfrm>
          <a:prstGeom prst="roundRect">
            <a:avLst>
              <a:gd name="adj" fmla="val 2771"/>
            </a:avLst>
          </a:prstGeom>
          <a:solidFill>
            <a:schemeClr val="bg2"/>
          </a:solidFill>
          <a:ln w="12700">
            <a:solidFill>
              <a:schemeClr val="bg2"/>
            </a:solidFill>
            <a:prstDash val="solid"/>
          </a:ln>
        </p:spPr>
      </p:sp>
      <p:sp>
        <p:nvSpPr>
          <p:cNvPr id="5" name="Text 2"/>
          <p:cNvSpPr txBox="1"/>
          <p:nvPr/>
        </p:nvSpPr>
        <p:spPr>
          <a:xfrm>
            <a:off x="7909560" y="1554480"/>
            <a:ext cx="352044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Worth a conversation</a:t>
            </a:r>
            <a:endParaRPr lang="en-US" sz="2000" dirty="0"/>
          </a:p>
        </p:txBody>
      </p:sp>
      <p:sp>
        <p:nvSpPr>
          <p:cNvPr id="6" name="Commentary"/>
          <p:cNvSpPr txBox="1"/>
          <p:nvPr/>
        </p:nvSpPr>
        <p:spPr>
          <a:xfrm>
            <a:off x="7909560" y="2103120"/>
            <a:ext cx="352044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Staff costs: 40% of operating costs</a:t>
            </a:r>
            <a:endParaRPr lang="en-US" sz="1500" dirty="0"/>
          </a:p>
          <a:p>
            <a:pPr marL="342900" indent="-342900">
              <a:spcAft>
                <a:spcPts val="1000"/>
              </a:spcAft>
              <a:buSzPct val="100000"/>
              <a:buChar char="•"/>
            </a:pPr>
            <a:r>
              <a:rPr lang="en-US" sz="1500" dirty="0">
                <a:solidFill>
                  <a:schemeClr val="tx1"/>
                </a:solidFill>
              </a:rPr>
              <a:t>Amortisation: 36%, non-cash</a:t>
            </a:r>
            <a:endParaRPr lang="en-US" sz="1500" dirty="0"/>
          </a:p>
          <a:p>
            <a:pPr marL="342900" indent="-342900">
              <a:spcAft>
                <a:spcPts val="1000"/>
              </a:spcAft>
              <a:buSzPct val="100000"/>
              <a:buChar char="•"/>
            </a:pPr>
            <a:r>
              <a:rPr lang="en-US" sz="1500" dirty="0">
                <a:solidFill>
                  <a:schemeClr val="tx1"/>
                </a:solidFill>
              </a:rPr>
              <a:t>Consultancy KES 345K and software support KES 197K</a:t>
            </a:r>
            <a:endParaRPr lang="en-US" sz="1500" dirty="0"/>
          </a:p>
          <a:p>
            <a:pPr marL="342900" indent="-342900">
              <a:spcAft>
                <a:spcPts val="1000"/>
              </a:spcAft>
              <a:buSzPct val="100000"/>
              <a:buChar char="•"/>
            </a:pPr>
            <a:r>
              <a:rPr lang="en-US" sz="1500" dirty="0">
                <a:solidFill>
                  <a:schemeClr val="tx1"/>
                </a:solidFill>
              </a:rPr>
              <a:t>Local travel KES 167K</a:t>
            </a:r>
            <a:endParaRPr lang="en-US" sz="1500" dirty="0"/>
          </a:p>
          <a:p>
            <a:pPr marL="342900" indent="-342900">
              <a:spcAft>
                <a:spcPts val="1000"/>
              </a:spcAft>
              <a:buSzPct val="100000"/>
              <a:buChar char="•"/>
            </a:pPr>
            <a:r>
              <a:rPr lang="en-US" sz="1500" dirty="0">
                <a:solidFill>
                  <a:schemeClr val="tx1"/>
                </a:solidFill>
              </a:rPr>
              <a:t>Bank charges KES </a:t>
            </a:r>
            <a:r>
              <a:rPr lang="en-US" sz="1500" dirty="0" smtClean="0">
                <a:solidFill>
                  <a:schemeClr val="tx1"/>
                </a:solidFill>
              </a:rPr>
              <a:t>83K</a:t>
            </a:r>
            <a:endParaRPr lang="en-US" sz="1500" dirty="0"/>
          </a:p>
        </p:txBody>
      </p:sp>
      <p:sp>
        <p:nvSpPr>
          <p:cNvPr id="7" name="Source note"/>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Source: Chart of Accounts, Q1 net change. Other admin includes consultancy, travel, legal, software support and bank charges.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Liquidity: obligations far exceed cash</a:t>
            </a:r>
            <a:endParaRPr lang="en-US" sz="3200" dirty="0"/>
          </a:p>
        </p:txBody>
      </p:sp>
      <p:sp>
        <p:nvSpPr>
          <p:cNvPr id="3" name="Cash card"/>
          <p:cNvSpPr/>
          <p:nvPr/>
        </p:nvSpPr>
        <p:spPr>
          <a:xfrm>
            <a:off x="548640" y="1371600"/>
            <a:ext cx="2651760" cy="1828800"/>
          </a:xfrm>
          <a:prstGeom prst="roundRect">
            <a:avLst>
              <a:gd name="adj" fmla="val 6000"/>
            </a:avLst>
          </a:prstGeom>
          <a:solidFill>
            <a:schemeClr val="bg2"/>
          </a:solidFill>
          <a:ln w="12700">
            <a:solidFill>
              <a:schemeClr val="bg2"/>
            </a:solidFill>
            <a:prstDash val="solid"/>
          </a:ln>
        </p:spPr>
      </p:sp>
      <p:sp>
        <p:nvSpPr>
          <p:cNvPr id="4" name="Cash value"/>
          <p:cNvSpPr txBox="1"/>
          <p:nvPr/>
        </p:nvSpPr>
        <p:spPr>
          <a:xfrm>
            <a:off x="777240" y="15544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0.77M</a:t>
            </a:r>
            <a:endParaRPr lang="en-US" sz="3200" dirty="0"/>
          </a:p>
        </p:txBody>
      </p:sp>
      <p:sp>
        <p:nvSpPr>
          <p:cNvPr id="5" name="Cash label"/>
          <p:cNvSpPr txBox="1"/>
          <p:nvPr/>
        </p:nvSpPr>
        <p:spPr>
          <a:xfrm>
            <a:off x="77724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Cash and bank</a:t>
            </a:r>
            <a:endParaRPr lang="en-US" sz="1600" dirty="0"/>
          </a:p>
        </p:txBody>
      </p:sp>
      <p:sp>
        <p:nvSpPr>
          <p:cNvPr id="6" name="Cash note"/>
          <p:cNvSpPr txBox="1"/>
          <p:nvPr/>
        </p:nvSpPr>
        <p:spPr>
          <a:xfrm>
            <a:off x="77724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Standard Chartered, Sidian, petty cash</a:t>
            </a:r>
            <a:endParaRPr lang="en-US" sz="1200" dirty="0"/>
          </a:p>
        </p:txBody>
      </p:sp>
      <p:sp>
        <p:nvSpPr>
          <p:cNvPr id="7" name="Receivables card"/>
          <p:cNvSpPr/>
          <p:nvPr/>
        </p:nvSpPr>
        <p:spPr>
          <a:xfrm>
            <a:off x="3383280" y="1371600"/>
            <a:ext cx="2651760" cy="1828800"/>
          </a:xfrm>
          <a:prstGeom prst="roundRect">
            <a:avLst>
              <a:gd name="adj" fmla="val 6000"/>
            </a:avLst>
          </a:prstGeom>
          <a:solidFill>
            <a:schemeClr val="bg2"/>
          </a:solidFill>
          <a:ln w="12700">
            <a:solidFill>
              <a:schemeClr val="bg2"/>
            </a:solidFill>
            <a:prstDash val="solid"/>
          </a:ln>
        </p:spPr>
      </p:sp>
      <p:sp>
        <p:nvSpPr>
          <p:cNvPr id="8" name="Receivables value"/>
          <p:cNvSpPr txBox="1"/>
          <p:nvPr/>
        </p:nvSpPr>
        <p:spPr>
          <a:xfrm>
            <a:off x="3611880" y="1554480"/>
            <a:ext cx="2194560" cy="822960"/>
          </a:xfrm>
          <a:prstGeom prst="rect">
            <a:avLst/>
          </a:prstGeom>
          <a:noFill/>
          <a:ln/>
        </p:spPr>
        <p:txBody>
          <a:bodyPr wrap="square" lIns="0" tIns="0" rIns="0" bIns="0" rtlCol="0" anchor="ctr"/>
          <a:lstStyle/>
          <a:p>
            <a:pPr marL="0" indent="0">
              <a:buNone/>
            </a:pPr>
            <a:r>
              <a:rPr lang="en-US" sz="3200" b="1" dirty="0">
                <a:solidFill>
                  <a:schemeClr val="tx2"/>
                </a:solidFill>
                <a:latin typeface="Cambria" pitchFamily="34" charset="0"/>
                <a:ea typeface="Cambria" pitchFamily="34" charset="-122"/>
                <a:cs typeface="Cambria" pitchFamily="34" charset="-120"/>
              </a:rPr>
              <a:t>KES 4.03M</a:t>
            </a:r>
            <a:endParaRPr lang="en-US" sz="3200" dirty="0"/>
          </a:p>
        </p:txBody>
      </p:sp>
      <p:sp>
        <p:nvSpPr>
          <p:cNvPr id="9" name="Receivables label"/>
          <p:cNvSpPr txBox="1"/>
          <p:nvPr/>
        </p:nvSpPr>
        <p:spPr>
          <a:xfrm>
            <a:off x="361188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Net trade receivables</a:t>
            </a:r>
            <a:endParaRPr lang="en-US" sz="1600" dirty="0"/>
          </a:p>
        </p:txBody>
      </p:sp>
      <p:sp>
        <p:nvSpPr>
          <p:cNvPr id="10" name="Receivables note"/>
          <p:cNvSpPr txBox="1"/>
          <p:nvPr/>
        </p:nvSpPr>
        <p:spPr>
          <a:xfrm>
            <a:off x="361188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After KES 1.3M provision; gross KES 5.33M</a:t>
            </a:r>
            <a:endParaRPr lang="en-US" sz="1200" dirty="0"/>
          </a:p>
        </p:txBody>
      </p:sp>
      <p:sp>
        <p:nvSpPr>
          <p:cNvPr id="11" name="Payables card"/>
          <p:cNvSpPr/>
          <p:nvPr/>
        </p:nvSpPr>
        <p:spPr>
          <a:xfrm>
            <a:off x="6217920" y="1371600"/>
            <a:ext cx="2651760" cy="1828800"/>
          </a:xfrm>
          <a:prstGeom prst="roundRect">
            <a:avLst>
              <a:gd name="adj" fmla="val 6000"/>
            </a:avLst>
          </a:prstGeom>
          <a:solidFill>
            <a:schemeClr val="bg2"/>
          </a:solidFill>
          <a:ln w="12700">
            <a:solidFill>
              <a:schemeClr val="bg2"/>
            </a:solidFill>
            <a:prstDash val="solid"/>
          </a:ln>
        </p:spPr>
      </p:sp>
      <p:sp>
        <p:nvSpPr>
          <p:cNvPr id="12" name="Payables value"/>
          <p:cNvSpPr txBox="1"/>
          <p:nvPr/>
        </p:nvSpPr>
        <p:spPr>
          <a:xfrm>
            <a:off x="6446520" y="1554480"/>
            <a:ext cx="2194560"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11.77M</a:t>
            </a:r>
            <a:endParaRPr lang="en-US" sz="3200" dirty="0"/>
          </a:p>
        </p:txBody>
      </p:sp>
      <p:sp>
        <p:nvSpPr>
          <p:cNvPr id="13" name="Payables label"/>
          <p:cNvSpPr txBox="1"/>
          <p:nvPr/>
        </p:nvSpPr>
        <p:spPr>
          <a:xfrm>
            <a:off x="6446520" y="2377440"/>
            <a:ext cx="2194560" cy="320040"/>
          </a:xfrm>
          <a:prstGeom prst="rect">
            <a:avLst/>
          </a:prstGeom>
          <a:noFill/>
          <a:ln/>
        </p:spPr>
        <p:txBody>
          <a:bodyPr wrap="square" lIns="0" tIns="0" rIns="0" bIns="0" rtlCol="0" anchor="ctr"/>
          <a:lstStyle/>
          <a:p>
            <a:pPr marL="0" indent="0">
              <a:buNone/>
            </a:pPr>
            <a:r>
              <a:rPr lang="en-US" sz="1600" b="1" dirty="0">
                <a:solidFill>
                  <a:schemeClr val="tx1"/>
                </a:solidFill>
              </a:rPr>
              <a:t>Trade payables</a:t>
            </a:r>
            <a:endParaRPr lang="en-US" sz="1600" dirty="0"/>
          </a:p>
        </p:txBody>
      </p:sp>
      <p:sp>
        <p:nvSpPr>
          <p:cNvPr id="14" name="Payables note"/>
          <p:cNvSpPr txBox="1"/>
          <p:nvPr/>
        </p:nvSpPr>
        <p:spPr>
          <a:xfrm>
            <a:off x="6446520" y="2670048"/>
            <a:ext cx="2194560" cy="411480"/>
          </a:xfrm>
          <a:prstGeom prst="rect">
            <a:avLst/>
          </a:prstGeom>
          <a:noFill/>
          <a:ln/>
        </p:spPr>
        <p:txBody>
          <a:bodyPr wrap="square" lIns="0" tIns="0" rIns="0" bIns="0" rtlCol="0" anchor="t"/>
          <a:lstStyle/>
          <a:p>
            <a:pPr marL="0" indent="0">
              <a:buNone/>
            </a:pPr>
            <a:r>
              <a:rPr lang="en-US" sz="1200" dirty="0">
                <a:solidFill>
                  <a:schemeClr val="accent5"/>
                </a:solidFill>
              </a:rPr>
              <a:t>Supplier balances at 30 September</a:t>
            </a:r>
            <a:endParaRPr lang="en-US" sz="1200" dirty="0"/>
          </a:p>
        </p:txBody>
      </p:sp>
      <p:sp>
        <p:nvSpPr>
          <p:cNvPr id="15" name="Payroll card"/>
          <p:cNvSpPr/>
          <p:nvPr/>
        </p:nvSpPr>
        <p:spPr>
          <a:xfrm>
            <a:off x="9052560" y="1371600"/>
            <a:ext cx="2587752" cy="1828800"/>
          </a:xfrm>
          <a:prstGeom prst="roundRect">
            <a:avLst>
              <a:gd name="adj" fmla="val 6000"/>
            </a:avLst>
          </a:prstGeom>
          <a:solidFill>
            <a:schemeClr val="bg2"/>
          </a:solidFill>
          <a:ln w="12700">
            <a:solidFill>
              <a:schemeClr val="bg2"/>
            </a:solidFill>
            <a:prstDash val="solid"/>
          </a:ln>
        </p:spPr>
      </p:sp>
      <p:sp>
        <p:nvSpPr>
          <p:cNvPr id="16" name="Payroll value"/>
          <p:cNvSpPr txBox="1"/>
          <p:nvPr/>
        </p:nvSpPr>
        <p:spPr>
          <a:xfrm>
            <a:off x="9281160" y="1554480"/>
            <a:ext cx="2130552" cy="822960"/>
          </a:xfrm>
          <a:prstGeom prst="rect">
            <a:avLst/>
          </a:prstGeom>
          <a:noFill/>
          <a:ln/>
        </p:spPr>
        <p:txBody>
          <a:bodyPr wrap="square" lIns="0" tIns="0" rIns="0" bIns="0" rtlCol="0" anchor="ctr"/>
          <a:lstStyle/>
          <a:p>
            <a:pPr marL="0" indent="0">
              <a:buNone/>
            </a:pPr>
            <a:r>
              <a:rPr lang="en-US" sz="3200" b="1" dirty="0">
                <a:solidFill>
                  <a:schemeClr val="accent3"/>
                </a:solidFill>
                <a:latin typeface="Cambria" pitchFamily="34" charset="0"/>
                <a:ea typeface="Cambria" pitchFamily="34" charset="-122"/>
                <a:cs typeface="Cambria" pitchFamily="34" charset="-120"/>
              </a:rPr>
              <a:t>KES 19.30M</a:t>
            </a:r>
            <a:endParaRPr lang="en-US" sz="3200" dirty="0"/>
          </a:p>
        </p:txBody>
      </p:sp>
      <p:sp>
        <p:nvSpPr>
          <p:cNvPr id="17" name="Payroll label"/>
          <p:cNvSpPr txBox="1"/>
          <p:nvPr/>
        </p:nvSpPr>
        <p:spPr>
          <a:xfrm>
            <a:off x="9281160" y="2377440"/>
            <a:ext cx="2130552" cy="320040"/>
          </a:xfrm>
          <a:prstGeom prst="rect">
            <a:avLst/>
          </a:prstGeom>
          <a:noFill/>
          <a:ln/>
        </p:spPr>
        <p:txBody>
          <a:bodyPr wrap="square" lIns="0" tIns="0" rIns="0" bIns="0" rtlCol="0" anchor="ctr"/>
          <a:lstStyle/>
          <a:p>
            <a:pPr marL="0" indent="0">
              <a:buNone/>
            </a:pPr>
            <a:r>
              <a:rPr lang="en-US" sz="1600" b="1" dirty="0">
                <a:solidFill>
                  <a:schemeClr val="tx1"/>
                </a:solidFill>
              </a:rPr>
              <a:t>Payroll-related payables</a:t>
            </a:r>
            <a:endParaRPr lang="en-US" sz="1600" dirty="0"/>
          </a:p>
        </p:txBody>
      </p:sp>
      <p:sp>
        <p:nvSpPr>
          <p:cNvPr id="18" name="Payroll note"/>
          <p:cNvSpPr txBox="1"/>
          <p:nvPr/>
        </p:nvSpPr>
        <p:spPr>
          <a:xfrm>
            <a:off x="9281160" y="2670048"/>
            <a:ext cx="2130552" cy="411480"/>
          </a:xfrm>
          <a:prstGeom prst="rect">
            <a:avLst/>
          </a:prstGeom>
          <a:noFill/>
          <a:ln/>
        </p:spPr>
        <p:txBody>
          <a:bodyPr wrap="square" lIns="0" tIns="0" rIns="0" bIns="0" rtlCol="0" anchor="t"/>
          <a:lstStyle/>
          <a:p>
            <a:pPr marL="0" indent="0">
              <a:buNone/>
            </a:pPr>
            <a:r>
              <a:rPr lang="en-US" sz="1200" dirty="0">
                <a:solidFill>
                  <a:schemeClr val="accent5"/>
                </a:solidFill>
              </a:rPr>
              <a:t>Includes statutory control accounts</a:t>
            </a:r>
            <a:endParaRPr lang="en-US" sz="1200" dirty="0"/>
          </a:p>
        </p:txBody>
      </p:sp>
      <p:sp>
        <p:nvSpPr>
          <p:cNvPr id="19" name="Liquidity insight panel"/>
          <p:cNvSpPr/>
          <p:nvPr/>
        </p:nvSpPr>
        <p:spPr>
          <a:xfrm>
            <a:off x="548640" y="3520440"/>
            <a:ext cx="11091672" cy="2331720"/>
          </a:xfrm>
          <a:prstGeom prst="roundRect">
            <a:avLst>
              <a:gd name="adj" fmla="val 4706"/>
            </a:avLst>
          </a:prstGeom>
          <a:solidFill>
            <a:schemeClr val="bg2"/>
          </a:solidFill>
          <a:ln w="12700">
            <a:solidFill>
              <a:schemeClr val="bg2"/>
            </a:solidFill>
            <a:prstDash val="solid"/>
          </a:ln>
        </p:spPr>
      </p:sp>
      <p:sp>
        <p:nvSpPr>
          <p:cNvPr id="20" name="Text 18"/>
          <p:cNvSpPr txBox="1"/>
          <p:nvPr/>
        </p:nvSpPr>
        <p:spPr>
          <a:xfrm>
            <a:off x="822960" y="3703320"/>
            <a:ext cx="5486400" cy="36576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What matters for Q2</a:t>
            </a:r>
            <a:endParaRPr lang="en-US" sz="2000" dirty="0"/>
          </a:p>
        </p:txBody>
      </p:sp>
      <p:sp>
        <p:nvSpPr>
          <p:cNvPr id="21" name="Commentary"/>
          <p:cNvSpPr txBox="1"/>
          <p:nvPr/>
        </p:nvSpPr>
        <p:spPr>
          <a:xfrm>
            <a:off x="822960" y="4160520"/>
            <a:ext cx="10515600" cy="16459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Collections worked: gross trade receivables fell by KES 4.10M in Q1, more than the KES 3.79M billed.</a:t>
            </a:r>
            <a:endParaRPr lang="en-US" sz="1600" dirty="0"/>
          </a:p>
          <a:p>
            <a:pPr marL="342900" indent="-342900">
              <a:spcAft>
                <a:spcPts val="1000"/>
              </a:spcAft>
              <a:buSzPct val="100000"/>
              <a:buChar char="•"/>
            </a:pPr>
            <a:r>
              <a:rPr lang="en-US" sz="1600" dirty="0">
                <a:solidFill>
                  <a:schemeClr val="tx1"/>
                </a:solidFill>
              </a:rPr>
              <a:t>Current assets of KES 4.99M against current liabilities of KES 31.21M. Cash alone covers about 2% of liabilities.</a:t>
            </a:r>
            <a:endParaRPr lang="en-US" sz="1600" dirty="0"/>
          </a:p>
          <a:p>
            <a:pPr marL="342900" indent="-342900">
              <a:spcAft>
                <a:spcPts val="1000"/>
              </a:spcAft>
              <a:buSzPct val="100000"/>
              <a:buChar char="•"/>
            </a:pPr>
            <a:r>
              <a:rPr lang="en-US" sz="1600" dirty="0">
                <a:solidFill>
                  <a:schemeClr val="tx1"/>
                </a:solidFill>
              </a:rPr>
              <a:t>Statutory balances (PAYE, NSSF, NHIF, Housing Levy, HELB) total about KES 4.2M. </a:t>
            </a:r>
            <a:endParaRPr lang="en-US" sz="1600" dirty="0"/>
          </a:p>
        </p:txBody>
      </p:sp>
      <p:sp>
        <p:nvSpPr>
          <p:cNvPr id="22" name="Source note"/>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Source: Chart of Accounts, balance at 30 September 2026 (unaudited). Receivables movement is the Q1 net change on local trade receivables.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revenue </a:t>
            </a:r>
            <a:r>
              <a:rPr lang="en-US" sz="3200" b="1" dirty="0" smtClean="0">
                <a:solidFill>
                  <a:schemeClr val="tx2"/>
                </a:solidFill>
                <a:latin typeface="Cambria" pitchFamily="34" charset="0"/>
                <a:ea typeface="Cambria" pitchFamily="34" charset="-122"/>
                <a:cs typeface="Cambria" pitchFamily="34" charset="-120"/>
              </a:rPr>
              <a:t>focus</a:t>
            </a:r>
            <a:endParaRPr lang="en-US" sz="3200" dirty="0"/>
          </a:p>
        </p:txBody>
      </p:sp>
      <p:graphicFrame>
        <p:nvGraphicFramePr>
          <p:cNvPr id="14" name="Revenue focu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292640" cy="3968496"/>
        </p:xfrm>
        <a:graphic>
          <a:graphicData uri="http://schemas.openxmlformats.org/drawingml/2006/table">
            <a:tbl>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gridCol w="1600000">
                  <a:extLst>
                    <a:ext uri="{9D8B030D-6E8A-4147-A177-3AD203B41FA5}">
                      <a16:colId xmlns:a16="http://schemas.microsoft.com/office/drawing/2014/main" val="20005"/>
                    </a:ext>
                  </a:extLst>
                </a:gridCol>
              </a:tblGrid>
              <a:tr h="56692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Line</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Q1 target (KES)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Q1 achieved (KES)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Variance (KES)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Q2 focus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Q2 target</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CaaS eBooks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923,000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1,359,161</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1B7F79"/>
                          </a:solidFill>
                          <a:latin typeface="Calibri" pitchFamily="34" charset="0"/>
                          <a:ea typeface="Calibri" pitchFamily="34" charset="-122"/>
                          <a:cs typeface="Calibri" pitchFamily="34" charset="-120"/>
                        </a:rPr>
                        <a:t>+436,161</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Sustain; protect margin</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3,147,000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Elimu Pepe</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3,850,000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819,797</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D1495B"/>
                          </a:solidFill>
                          <a:latin typeface="Calibri" pitchFamily="34" charset="0"/>
                          <a:ea typeface="Calibri" pitchFamily="34" charset="-122"/>
                          <a:cs typeface="Calibri" pitchFamily="34" charset="-120"/>
                        </a:rPr>
                        <a:t>(3,030,203)</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Recovery plan and pipeline review</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13,626,000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LoHo Devices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1,200,500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107,390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D1495B"/>
                          </a:solidFill>
                          <a:latin typeface="Calibri" pitchFamily="34" charset="0"/>
                          <a:ea typeface="Calibri" pitchFamily="34" charset="-122"/>
                          <a:cs typeface="Calibri" pitchFamily="34" charset="-120"/>
                        </a:rPr>
                        <a:t>(1,093,110)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Review model, stock and channels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4,906,500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MTN Academy (Ug)</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1,500,000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1B7F79"/>
                          </a:solidFill>
                          <a:latin typeface="Calibri" pitchFamily="34" charset="0"/>
                          <a:ea typeface="Calibri" pitchFamily="34" charset="-122"/>
                          <a:cs typeface="Calibri" pitchFamily="34" charset="-120"/>
                        </a:rPr>
                        <a:t>+1,500,000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Confirm contract and billing schedule</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2,941,848</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LoHo Campus</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n/a</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buNone/>
                      </a:pPr>
                      <a:r>
                        <a:rPr lang="en-US" sz="1300" dirty="0">
                          <a:solidFill>
                            <a:srgbClr val="13262B"/>
                          </a:solidFill>
                          <a:latin typeface="Calibri" pitchFamily="34" charset="0"/>
                          <a:ea typeface="Calibri" pitchFamily="34" charset="-122"/>
                          <a:cs typeface="Calibri" pitchFamily="34" charset="-120"/>
                        </a:rPr>
                        <a:t>Launch plan; no sales yet, first target</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dirty="0">
                          <a:solidFill>
                            <a:srgbClr val="13262B"/>
                          </a:solidFill>
                          <a:latin typeface="Calibri" pitchFamily="34" charset="0"/>
                          <a:ea typeface="Calibri" pitchFamily="34" charset="-122"/>
                          <a:cs typeface="Calibri" pitchFamily="34" charset="-120"/>
                        </a:rPr>
                        <a:t>3,906,500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13262B"/>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13262B"/>
                          </a:solidFill>
                          <a:latin typeface="Calibri" pitchFamily="34" charset="0"/>
                          <a:ea typeface="Calibri" pitchFamily="34" charset="-122"/>
                          <a:cs typeface="Calibri" pitchFamily="34" charset="-120"/>
                        </a:rPr>
                        <a:t>5,973,500</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13262B"/>
                          </a:solidFill>
                          <a:latin typeface="Calibri" pitchFamily="34" charset="0"/>
                          <a:ea typeface="Calibri" pitchFamily="34" charset="-122"/>
                          <a:cs typeface="Calibri" pitchFamily="34" charset="-120"/>
                        </a:rPr>
                        <a:t>3,786,348</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lang="en-US" sz="1300" b="1" dirty="0">
                          <a:solidFill>
                            <a:srgbClr val="D1495B"/>
                          </a:solidFill>
                          <a:latin typeface="Calibri" pitchFamily="34" charset="0"/>
                          <a:ea typeface="Calibri" pitchFamily="34" charset="-122"/>
                          <a:cs typeface="Calibri" pitchFamily="34" charset="-120"/>
                        </a:rPr>
                        <a:t>(2,187,152)</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buNone/>
                      </a:pP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tc>
                  <a:txBody>
                    <a:bodyPr/>
                    <a:lstStyle/>
                    <a:p>
                      <a:pPr marL="0" indent="0" algn="r">
                        <a:buNone/>
                      </a:pPr>
                      <a:r>
                        <a:rPr sz="1300" b="1"/>
                        <a:t>28,527,848</a:t>
                      </a:r>
                      <a:endParaRPr lang="en-US" sz="1300" dirty="0">
                        <a:latin typeface="Calibri" charset="0"/>
                        <a:ea typeface="Calibri" charset="0"/>
                        <a:cs typeface="Calibri" charset="0"/>
                      </a:endParaRPr>
                    </a:p>
                  </a:txBody>
                  <a:tcPr anchor="ctr">
                    <a:lnL w="6350" cap="flat" cmpd="sng" algn="ctr">
                      <a:solidFill>
                        <a:srgbClr val="D9E3E1"/>
                      </a:solidFill>
                      <a:prstDash val="solid"/>
                      <a:round/>
                      <a:headEnd type="none" w="med" len="med"/>
                      <a:tailEnd type="none" w="med" len="med"/>
                    </a:lnL>
                    <a:lnR w="6350" cap="flat" cmpd="sng" algn="ctr">
                      <a:solidFill>
                        <a:srgbClr val="D9E3E1"/>
                      </a:solidFill>
                      <a:prstDash val="solid"/>
                      <a:round/>
                      <a:headEnd type="none" w="med" len="med"/>
                      <a:tailEnd type="none" w="med" len="med"/>
                    </a:lnR>
                    <a:lnT w="6350" cap="flat" cmpd="sng" algn="ctr">
                      <a:solidFill>
                        <a:srgbClr val="D9E3E1"/>
                      </a:solidFill>
                      <a:prstDash val="solid"/>
                      <a:round/>
                      <a:headEnd type="none" w="med" len="med"/>
                      <a:tailEnd type="none" w="med" len="med"/>
                    </a:lnT>
                    <a:lnB w="6350" cap="flat" cmpd="sng" algn="ctr">
                      <a:solidFill>
                        <a:srgbClr val="D9E3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532120"/>
            <a:ext cx="11091672" cy="411480"/>
          </a:xfrm>
          <a:prstGeom prst="rect">
            <a:avLst/>
          </a:prstGeom>
          <a:noFill/>
          <a:ln/>
        </p:spPr>
        <p:txBody>
          <a:bodyPr wrap="square" lIns="0" tIns="0" rIns="0" bIns="0" rtlCol="0" anchor="ctr"/>
          <a:lstStyle/>
          <a:p>
            <a:pPr marL="0" indent="0">
              <a:buNone/>
            </a:pPr>
            <a:r>
              <a:rPr lang="en-US" sz="1500" b="1" dirty="0">
                <a:solidFill>
                  <a:schemeClr val="accent3"/>
                </a:solidFill>
              </a:rPr>
              <a:t>Q2 target is 7.5 times Q1 sales. Finance needs a monthly cash and cost plan against it.</a:t>
            </a:r>
            <a:endParaRPr lang="en-US" sz="1500" dirty="0"/>
          </a:p>
        </p:txBody>
      </p:sp>
      <p:sp>
        <p:nvSpPr>
          <p:cNvPr id="5" name="Source note"/>
          <p:cNvSpPr txBox="1"/>
          <p:nvPr/>
        </p:nvSpPr>
        <p:spPr>
          <a:xfrm>
            <a:off x="548640" y="6053328"/>
            <a:ext cx="11064240" cy="274320"/>
          </a:xfrm>
          <a:prstGeom prst="rect">
            <a:avLst/>
          </a:prstGeom>
          <a:noFill/>
          <a:ln/>
        </p:spPr>
        <p:txBody>
          <a:bodyPr wrap="square" lIns="0" tIns="0" rIns="0" bIns="0" rtlCol="0" anchor="ctr"/>
          <a:lstStyle/>
          <a:p>
            <a:pPr marL="0" indent="0">
              <a:buNone/>
            </a:pPr>
            <a:r>
              <a:rPr lang="en-US" sz="1000" i="1" dirty="0">
                <a:solidFill>
                  <a:schemeClr val="accent5"/>
                </a:solidFill>
              </a:rPr>
              <a:t>Source: Q1 Target vs Achieved Report; Target - revenue workbook (Q2 = October to December 2026). Q2 focus items are proposals for discussion.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3  Q2 PRIORITIES &amp; EXECUTION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a:t>
            </a:r>
            <a:r>
              <a:rPr lang="en-US" sz="3200" b="1" dirty="0" smtClean="0">
                <a:solidFill>
                  <a:schemeClr val="tx2"/>
                </a:solidFill>
                <a:latin typeface="Cambria" pitchFamily="34" charset="0"/>
                <a:ea typeface="Cambria" pitchFamily="34" charset="-122"/>
                <a:cs typeface="Cambria" pitchFamily="34" charset="-120"/>
              </a:rPr>
              <a:t>: </a:t>
            </a:r>
            <a:r>
              <a:rPr lang="en-US" sz="3200" b="1" dirty="0">
                <a:solidFill>
                  <a:schemeClr val="tx2"/>
                </a:solidFill>
                <a:latin typeface="Cambria" pitchFamily="34" charset="0"/>
                <a:ea typeface="Cambria" pitchFamily="34" charset="-122"/>
                <a:cs typeface="Cambria" pitchFamily="34" charset="-120"/>
              </a:rPr>
              <a:t>October to December</a:t>
            </a:r>
            <a:endParaRPr lang="en-US" sz="3200" dirty="0"/>
          </a:p>
        </p:txBody>
      </p:sp>
      <p:sp>
        <p:nvSpPr>
          <p:cNvPr id="3" name="October header"/>
          <p:cNvSpPr/>
          <p:nvPr/>
        </p:nvSpPr>
        <p:spPr>
          <a:xfrm>
            <a:off x="548640" y="1371600"/>
            <a:ext cx="3593592" cy="914400"/>
          </a:xfrm>
          <a:prstGeom prst="roundRect">
            <a:avLst>
              <a:gd name="adj" fmla="val 10000"/>
            </a:avLst>
          </a:prstGeom>
          <a:solidFill>
            <a:schemeClr val="tx2"/>
          </a:solidFill>
          <a:ln w="12700">
            <a:solidFill>
              <a:schemeClr val="tx2"/>
            </a:solidFill>
            <a:prstDash val="solid"/>
          </a:ln>
        </p:spPr>
        <p:txBody>
          <a:bodyPr/>
          <a:p/>
        </p:txBody>
      </p:sp>
      <p:sp>
        <p:nvSpPr>
          <p:cNvPr id="4" name="Text 2"/>
          <p:cNvSpPr txBox="1"/>
          <p:nvPr/>
        </p:nvSpPr>
        <p:spPr>
          <a:xfrm>
            <a:off x="77724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October</a:t>
            </a:r>
            <a:endParaRPr lang="en-US" sz="2200" dirty="0"/>
          </a:p>
          <a:p>
            <a:pPr marL="0" indent="0">
              <a:buNone/>
            </a:pPr>
            <a:r>
              <a:rPr lang="en-US" sz="1400" dirty="0">
                <a:solidFill>
                  <a:schemeClr val="bg1"/>
                </a:solidFill>
              </a:rPr>
              <a:t>Close and set up</a:t>
            </a:r>
            <a:endParaRPr lang="en-US" sz="2200" dirty="0"/>
          </a:p>
        </p:txBody>
      </p:sp>
      <p:sp>
        <p:nvSpPr>
          <p:cNvPr id="5" name="October card"/>
          <p:cNvSpPr/>
          <p:nvPr/>
        </p:nvSpPr>
        <p:spPr>
          <a:xfrm>
            <a:off x="548640" y="2468880"/>
            <a:ext cx="3593592" cy="3429000"/>
          </a:xfrm>
          <a:prstGeom prst="roundRect">
            <a:avLst>
              <a:gd name="adj" fmla="val 3200"/>
            </a:avLst>
          </a:prstGeom>
          <a:solidFill>
            <a:schemeClr val="bg2"/>
          </a:solidFill>
          <a:ln w="12700">
            <a:solidFill>
              <a:schemeClr val="bg2"/>
            </a:solidFill>
            <a:prstDash val="solid"/>
          </a:ln>
        </p:spPr>
        <p:txBody>
          <a:bodyPr/>
          <a:p/>
        </p:txBody>
      </p:sp>
      <p:sp>
        <p:nvSpPr>
          <p:cNvPr id="6" name="Text 4"/>
          <p:cNvSpPr txBox="1"/>
          <p:nvPr/>
        </p:nvSpPr>
        <p:spPr>
          <a:xfrm>
            <a:off x="77724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smtClean="0">
                <a:solidFill>
                  <a:schemeClr val="tx1"/>
                </a:solidFill>
              </a:rPr>
              <a:t>Statutory </a:t>
            </a:r>
            <a:r>
              <a:rPr lang="en-US" sz="1500" dirty="0">
                <a:solidFill>
                  <a:schemeClr val="tx1"/>
                </a:solidFill>
              </a:rPr>
              <a:t>remittance plan agreed</a:t>
            </a:r>
            <a:endParaRPr lang="en-US" sz="1500" dirty="0"/>
          </a:p>
          <a:p>
            <a:pPr marL="342900" indent="-342900">
              <a:spcAft>
                <a:spcPts val="1200"/>
              </a:spcAft>
              <a:buSzPct val="100000"/>
              <a:buChar char="•"/>
            </a:pPr>
            <a:r>
              <a:rPr lang="en-US" sz="1500" dirty="0">
                <a:solidFill>
                  <a:schemeClr val="tx1"/>
                </a:solidFill>
              </a:rPr>
              <a:t>Start performance reviews</a:t>
            </a:r>
            <a:endParaRPr lang="en-US" sz="1500" dirty="0"/>
          </a:p>
          <a:p>
            <a:pPr marL="342900" indent="-342900">
              <a:spcAft>
                <a:spcPts val="1200"/>
              </a:spcAft>
              <a:buSzPct val="100000"/>
              <a:buChar char="•"/>
            </a:pPr>
            <a:r>
              <a:rPr lang="en-US" sz="1500" dirty="0">
                <a:solidFill>
                  <a:schemeClr val="tx1"/>
                </a:solidFill>
              </a:rPr>
              <a:t>Reconcile debtor balances</a:t>
            </a:r>
            <a:endParaRPr lang="en-US" sz="1500" dirty="0"/>
          </a:p>
          <a:p>
            <a:pPr marL="342900" indent="-342900">
              <a:spcAft>
                <a:spcPts val="1200"/>
              </a:spcAft>
              <a:buSzPct val="100000"/>
              <a:buChar char="•"/>
            </a:pPr>
            <a:r>
              <a:rPr lang="en-US" sz="1500" dirty="0">
                <a:solidFill>
                  <a:schemeClr val="tx1"/>
                </a:solidFill>
              </a:rPr>
              <a:t>Schedule first Safe Space session</a:t>
            </a:r>
            <a:endParaRPr lang="en-US" sz="1500" dirty="0"/>
          </a:p>
        </p:txBody>
      </p:sp>
      <p:sp>
        <p:nvSpPr>
          <p:cNvPr id="7" name="November header"/>
          <p:cNvSpPr/>
          <p:nvPr/>
        </p:nvSpPr>
        <p:spPr>
          <a:xfrm>
            <a:off x="4297680" y="1371600"/>
            <a:ext cx="3593592" cy="914400"/>
          </a:xfrm>
          <a:prstGeom prst="roundRect">
            <a:avLst>
              <a:gd name="adj" fmla="val 10000"/>
            </a:avLst>
          </a:prstGeom>
          <a:solidFill>
            <a:schemeClr val="accent1"/>
          </a:solidFill>
          <a:ln w="12700">
            <a:solidFill>
              <a:schemeClr val="tx2"/>
            </a:solidFill>
            <a:prstDash val="solid"/>
          </a:ln>
        </p:spPr>
        <p:txBody>
          <a:bodyPr/>
          <a:p/>
        </p:txBody>
      </p:sp>
      <p:sp>
        <p:nvSpPr>
          <p:cNvPr id="8" name="Text 6"/>
          <p:cNvSpPr txBox="1"/>
          <p:nvPr/>
        </p:nvSpPr>
        <p:spPr>
          <a:xfrm>
            <a:off x="452628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November</a:t>
            </a:r>
            <a:endParaRPr lang="en-US" sz="2200" dirty="0"/>
          </a:p>
          <a:p>
            <a:pPr marL="0" indent="0">
              <a:buNone/>
            </a:pPr>
            <a:r>
              <a:rPr lang="en-US" sz="1400" dirty="0">
                <a:solidFill>
                  <a:schemeClr val="bg1"/>
                </a:solidFill>
              </a:rPr>
              <a:t>Execute and review</a:t>
            </a:r>
            <a:endParaRPr lang="en-US" sz="2200" dirty="0"/>
          </a:p>
        </p:txBody>
      </p:sp>
      <p:sp>
        <p:nvSpPr>
          <p:cNvPr id="9" name="November card"/>
          <p:cNvSpPr/>
          <p:nvPr/>
        </p:nvSpPr>
        <p:spPr>
          <a:xfrm>
            <a:off x="4297680" y="2468880"/>
            <a:ext cx="3593592" cy="3429000"/>
          </a:xfrm>
          <a:prstGeom prst="roundRect">
            <a:avLst>
              <a:gd name="adj" fmla="val 3200"/>
            </a:avLst>
          </a:prstGeom>
          <a:solidFill>
            <a:schemeClr val="bg2"/>
          </a:solidFill>
          <a:ln w="12700">
            <a:solidFill>
              <a:schemeClr val="bg2"/>
            </a:solidFill>
            <a:prstDash val="solid"/>
          </a:ln>
        </p:spPr>
        <p:txBody>
          <a:bodyPr/>
          <a:p/>
        </p:txBody>
      </p:sp>
      <p:sp>
        <p:nvSpPr>
          <p:cNvPr id="10" name="Text 8"/>
          <p:cNvSpPr txBox="1"/>
          <p:nvPr/>
        </p:nvSpPr>
        <p:spPr>
          <a:xfrm>
            <a:off x="452628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Mid-quarter sales and cost review</a:t>
            </a:r>
            <a:endParaRPr lang="en-US" sz="1500" dirty="0"/>
          </a:p>
          <a:p>
            <a:pPr marL="342900" indent="-342900">
              <a:spcAft>
                <a:spcPts val="1200"/>
              </a:spcAft>
              <a:buSzPct val="100000"/>
              <a:buChar char="•"/>
            </a:pPr>
            <a:r>
              <a:rPr lang="en-US" sz="1500" dirty="0">
                <a:solidFill>
                  <a:schemeClr val="tx1"/>
                </a:solidFill>
              </a:rPr>
              <a:t>Complete performance reviews</a:t>
            </a:r>
            <a:endParaRPr lang="en-US" sz="1500" dirty="0"/>
          </a:p>
          <a:p>
            <a:pPr marL="342900" indent="-342900">
              <a:spcAft>
                <a:spcPts val="1200"/>
              </a:spcAft>
              <a:buSzPct val="100000"/>
              <a:buChar char="•"/>
            </a:pPr>
            <a:r>
              <a:rPr lang="en-US" sz="1500" dirty="0" smtClean="0">
                <a:solidFill>
                  <a:schemeClr val="tx1"/>
                </a:solidFill>
              </a:rPr>
              <a:t>Share </a:t>
            </a:r>
            <a:r>
              <a:rPr lang="en-US" sz="1500" dirty="0">
                <a:solidFill>
                  <a:schemeClr val="tx1"/>
                </a:solidFill>
              </a:rPr>
              <a:t>survey response with staff</a:t>
            </a:r>
            <a:endParaRPr lang="en-US" sz="1500" dirty="0"/>
          </a:p>
          <a:p>
            <a:pPr marL="342900" indent="-342900">
              <a:spcAft>
                <a:spcPts val="1200"/>
              </a:spcAft>
              <a:buSzPct val="100000"/>
              <a:buChar char="•"/>
            </a:pPr>
            <a:r>
              <a:rPr lang="en-US" sz="1500" dirty="0" smtClean="0">
                <a:solidFill>
                  <a:schemeClr val="tx1"/>
                </a:solidFill>
              </a:rPr>
              <a:t>Manager feedback training</a:t>
            </a:r>
            <a:endParaRPr lang="en-US" sz="1500" dirty="0"/>
          </a:p>
          <a:p>
            <a:pPr marL="342900" indent="-342900">
              <a:spcAft>
                <a:spcPts val="1200"/>
              </a:spcAft>
              <a:buSzPct val="100000"/>
              <a:buChar char="•"/>
            </a:pPr>
            <a:r>
              <a:rPr lang="en-US" sz="1500" dirty="0" smtClean="0">
                <a:solidFill>
                  <a:schemeClr val="tx1"/>
                </a:solidFill>
              </a:rPr>
              <a:t>Skills-gap assessment</a:t>
            </a:r>
            <a:endParaRPr lang="en-US" sz="1500" dirty="0"/>
          </a:p>
        </p:txBody>
      </p:sp>
      <p:sp>
        <p:nvSpPr>
          <p:cNvPr id="11" name="December header"/>
          <p:cNvSpPr/>
          <p:nvPr/>
        </p:nvSpPr>
        <p:spPr>
          <a:xfrm>
            <a:off x="8046720" y="1371600"/>
            <a:ext cx="3593592" cy="914400"/>
          </a:xfrm>
          <a:prstGeom prst="roundRect">
            <a:avLst>
              <a:gd name="adj" fmla="val 10000"/>
            </a:avLst>
          </a:prstGeom>
          <a:solidFill>
            <a:schemeClr val="tx2"/>
          </a:solidFill>
          <a:ln w="12700">
            <a:solidFill>
              <a:schemeClr val="tx2"/>
            </a:solidFill>
            <a:prstDash val="solid"/>
          </a:ln>
        </p:spPr>
        <p:txBody>
          <a:bodyPr/>
          <a:p/>
        </p:txBody>
      </p:sp>
      <p:sp>
        <p:nvSpPr>
          <p:cNvPr id="12" name="Text 10"/>
          <p:cNvSpPr txBox="1"/>
          <p:nvPr/>
        </p:nvSpPr>
        <p:spPr>
          <a:xfrm>
            <a:off x="8275320" y="1371600"/>
            <a:ext cx="3108960" cy="9144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December</a:t>
            </a:r>
            <a:endParaRPr lang="en-US" sz="2200" dirty="0"/>
          </a:p>
          <a:p>
            <a:pPr marL="0" indent="0">
              <a:buNone/>
            </a:pPr>
            <a:r>
              <a:rPr lang="en-US" sz="1400" dirty="0">
                <a:solidFill>
                  <a:schemeClr val="bg1"/>
                </a:solidFill>
              </a:rPr>
              <a:t>Land and plan</a:t>
            </a:r>
            <a:endParaRPr lang="en-US" sz="2200" dirty="0"/>
          </a:p>
        </p:txBody>
      </p:sp>
      <p:sp>
        <p:nvSpPr>
          <p:cNvPr id="13" name="December card"/>
          <p:cNvSpPr/>
          <p:nvPr/>
        </p:nvSpPr>
        <p:spPr>
          <a:xfrm>
            <a:off x="8046720" y="2468880"/>
            <a:ext cx="3593592" cy="3429000"/>
          </a:xfrm>
          <a:prstGeom prst="roundRect">
            <a:avLst>
              <a:gd name="adj" fmla="val 3200"/>
            </a:avLst>
          </a:prstGeom>
          <a:solidFill>
            <a:schemeClr val="bg2"/>
          </a:solidFill>
          <a:ln w="12700">
            <a:solidFill>
              <a:schemeClr val="bg2"/>
            </a:solidFill>
            <a:prstDash val="solid"/>
          </a:ln>
        </p:spPr>
        <p:txBody>
          <a:bodyPr/>
          <a:p/>
        </p:txBody>
      </p:sp>
      <p:sp>
        <p:nvSpPr>
          <p:cNvPr id="14" name="Text 12"/>
          <p:cNvSpPr txBox="1"/>
          <p:nvPr/>
        </p:nvSpPr>
        <p:spPr>
          <a:xfrm>
            <a:off x="8275320" y="2697480"/>
            <a:ext cx="3154680" cy="30175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Engagement event</a:t>
            </a:r>
            <a:endParaRPr lang="en-US" sz="1500" dirty="0"/>
          </a:p>
          <a:p>
            <a:pPr marL="342900" indent="-342900">
              <a:spcAft>
                <a:spcPts val="1200"/>
              </a:spcAft>
              <a:buSzPct val="100000"/>
              <a:buChar char="•"/>
            </a:pPr>
            <a:r>
              <a:rPr lang="en-US" sz="1500" dirty="0">
                <a:solidFill>
                  <a:schemeClr val="tx1"/>
                </a:solidFill>
              </a:rPr>
              <a:t>Half-year close preparation</a:t>
            </a:r>
            <a:endParaRPr lang="en-US" sz="1500" dirty="0"/>
          </a:p>
          <a:p>
            <a:pPr marL="342900" indent="-342900">
              <a:spcAft>
                <a:spcPts val="1200"/>
              </a:spcAft>
              <a:buSzPct val="100000"/>
              <a:buChar char="•"/>
            </a:pPr>
            <a:r>
              <a:rPr lang="en-US" sz="1500" dirty="0">
                <a:solidFill>
                  <a:schemeClr val="tx1"/>
                </a:solidFill>
              </a:rPr>
              <a:t>Q2 results against </a:t>
            </a:r>
            <a:r>
              <a:rPr lang="en-US" sz="1500" dirty="0" smtClean="0">
                <a:solidFill>
                  <a:schemeClr val="tx1"/>
                </a:solidFill>
              </a:rPr>
              <a:t>targets</a:t>
            </a:r>
            <a:endParaRPr lang="en-US" sz="1500" dirty="0"/>
          </a:p>
          <a:p>
            <a:pPr marL="342900" indent="-342900">
              <a:spcAft>
                <a:spcPts val="1200"/>
              </a:spcAft>
              <a:buSzPct val="100000"/>
              <a:buChar char="•"/>
            </a:pPr>
            <a:r>
              <a:rPr lang="en-US" sz="1500" dirty="0">
                <a:solidFill>
                  <a:schemeClr val="tx1"/>
                </a:solidFill>
              </a:rPr>
              <a:t>Escalation paths documented</a:t>
            </a:r>
            <a:endParaRPr lang="en-US" sz="1500" dirty="0"/>
          </a:p>
          <a:p>
            <a:pPr marL="342900" indent="-342900">
              <a:spcAft>
                <a:spcPts val="1200"/>
              </a:spcAft>
              <a:buSzPct val="100000"/>
              <a:buChar char="•"/>
            </a:pPr>
            <a:r>
              <a:rPr lang="en-US" sz="1500" dirty="0">
                <a:solidFill>
                  <a:schemeClr val="tx1"/>
                </a:solidFill>
              </a:rPr>
              <a:t>Rotation pilot defined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3  Q2 PRIORITIES &amp; EXECUTION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FY26/27 strategy: five objectives we own</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1  FY26/27 STRATEGY REVIEW</a:t>
            </a:r>
          </a:p>
        </p:txBody>
      </p:sp>
      <p:graphicFrame>
        <p:nvGraphicFramePr>
          <p:cNvPr id="27" name="Strategy objectives table"/>
          <p:cNvGraphicFramePr>
            <a:graphicFrameLocks noGrp="1"/>
          </p:cNvGraphicFramePr>
          <p:nvPr/>
        </p:nvGraphicFramePr>
        <p:xfrm>
          <a:off x="548640" y="1371600"/>
          <a:ext cx="11091671" cy="4114800"/>
        </p:xfrm>
        <a:graphic>
          <a:graphicData uri="http://schemas.openxmlformats.org/drawingml/2006/table">
            <a:tbl>
              <a:tblPr firstRow="0" bandRow="0">
                <a:tableStyleId>{2D5ABB26-0587-4C30-8999-92F81FD0307C}</a:tableStyleId>
              </a:tblPr>
              <a:tblGrid>
                <a:gridCol w="4023360"/>
                <a:gridCol w="6035040"/>
                <a:gridCol w="1033271"/>
              </a:tblGrid>
              <a:tr h="685800">
                <a:tc>
                  <a:txBody>
                    <a:bodyPr wrap="square"/>
                    <a:lstStyle/>
                    <a:p>
                      <a:r>
                        <a:rPr sz="1400" b="1">
                          <a:solidFill>
                            <a:srgbClr val="FFFFFF"/>
                          </a:solidFill>
                        </a:rPr>
                        <a:t>Objective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400" b="1">
                          <a:solidFill>
                            <a:srgbClr val="FFFFFF"/>
                          </a:solidFill>
                        </a:rPr>
                        <a:t>Measures we are held to</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400" b="1">
                          <a:solidFill>
                            <a:srgbClr val="FFFFFF"/>
                          </a:solidFill>
                        </a:rPr>
                        <a:t>Actions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r>
              <a:tr h="685800">
                <a:tc>
                  <a:txBody>
                    <a:bodyPr wrap="square"/>
                    <a:lstStyle/>
                    <a:p>
                      <a:r>
                        <a:rPr sz="1400" b="1">
                          <a:solidFill>
                            <a:srgbClr val="13262B"/>
                          </a:solidFill>
                        </a:rPr>
                        <a:t>1.4  Financial resilience and investor readiness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Cash runway visibility of at least 6 months; 50% of B2B invoices paid within 30 days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4</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85800">
                <a:tc>
                  <a:txBody>
                    <a:bodyPr wrap="square"/>
                    <a:lstStyle/>
                    <a:p>
                      <a:r>
                        <a:rPr sz="1400" b="1">
                          <a:solidFill>
                            <a:srgbClr val="13262B"/>
                          </a:solidFill>
                        </a:rPr>
                        <a:t>4.1  Safe and responsible work culture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Escalations resolved in SLA; tasks completed on time; 100% team participation per cycle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4</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85800">
                <a:tc>
                  <a:txBody>
                    <a:bodyPr wrap="square"/>
                    <a:lstStyle/>
                    <a:p>
                      <a:r>
                        <a:rPr sz="1400" b="1">
                          <a:solidFill>
                            <a:srgbClr val="13262B"/>
                          </a:solidFill>
                        </a:rPr>
                        <a:t>4.2  Revenue-linked, equitable incentive programme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eNPS of at least 50</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4</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85800">
                <a:tc>
                  <a:txBody>
                    <a:bodyPr wrap="square"/>
                    <a:lstStyle/>
                    <a:p>
                      <a:r>
                        <a:rPr sz="1400" b="1">
                          <a:solidFill>
                            <a:srgbClr val="13262B"/>
                          </a:solidFill>
                        </a:rPr>
                        <a:t>4.3  Capability: onboarding, succession, talent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Internal SLA compliance at least 90%; OKR achievement at least 70%; quarterly review completion at least 95%</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4</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85800">
                <a:tc>
                  <a:txBody>
                    <a:bodyPr wrap="square"/>
                    <a:lstStyle/>
                    <a:p>
                      <a:r>
                        <a:rPr sz="1400" b="1">
                          <a:solidFill>
                            <a:srgbClr val="13262B"/>
                          </a:solidFill>
                        </a:rPr>
                        <a:t>4.4  Rigorous performance management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80% staff retention; internal promotion at least 30% of open roles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5</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bl>
          </a:graphicData>
        </a:graphic>
      </p:graphicFrame>
      <p:sp>
        <p:nvSpPr>
          <p:cNvPr id="28" name="Strategic project note"/>
          <p:cNvSpPr txBox="1"/>
          <p:nvPr/>
        </p:nvSpPr>
        <p:spPr>
          <a:xfrm>
            <a:off x="548640" y="5532120"/>
            <a:ext cx="11064240" cy="365760"/>
          </a:xfrm>
          <a:prstGeom prst="rect">
            <a:avLst/>
          </a:prstGeom>
          <a:noFill/>
        </p:spPr>
        <p:txBody>
          <a:bodyPr wrap="square" lIns="0" rIns="0" tIns="0" bIns="0" anchor="t">
            <a:spAutoFit/>
          </a:bodyPr>
          <a:lstStyle/>
          <a:p>
            <a:r>
              <a:rPr sz="1400" b="1">
                <a:solidFill>
                  <a:schemeClr val="tx2"/>
                </a:solidFill>
              </a:rPr>
              <a:t>Also owned: F2, fundraising documents consolidated in an investor data room.</a:t>
            </a:r>
          </a:p>
        </p:txBody>
      </p:sp>
      <p:sp>
        <p:nvSpPr>
          <p:cNvPr id="29"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FY26/27 KPI Status, Finance and Operations.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Q1 KPIs: 14 of 19 due actions delivered or on plan</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graphicFrame>
        <p:nvGraphicFramePr>
          <p:cNvPr id="27" name="KPI status chart"/>
          <p:cNvGraphicFramePr>
            <a:graphicFrameLocks noGrp="1"/>
          </p:cNvGraphicFramePr>
          <p:nvPr/>
        </p:nvGraphicFramePr>
        <p:xfrm>
          <a:off x="548640" y="1280160"/>
          <a:ext cx="6949440" cy="4663440"/>
        </p:xfrm>
        <a:graphic>
          <a:graphicData uri="http://schemas.openxmlformats.org/drawingml/2006/chart">
            <c:chart xmlns:c="http://schemas.openxmlformats.org/drawingml/2006/chart" r:id="rId3"/>
          </a:graphicData>
        </a:graphic>
      </p:graphicFrame>
      <p:sp>
        <p:nvSpPr>
          <p:cNvPr id="28" name="Delivered or on plan card"/>
          <p:cNvSpPr/>
          <p:nvPr/>
        </p:nvSpPr>
        <p:spPr>
          <a:xfrm>
            <a:off x="7772400" y="137160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elivered or on plan"/>
          <p:cNvSpPr txBox="1"/>
          <p:nvPr/>
        </p:nvSpPr>
        <p:spPr>
          <a:xfrm>
            <a:off x="8001000" y="1463040"/>
            <a:ext cx="3429000" cy="1188720"/>
          </a:xfrm>
          <a:prstGeom prst="rect">
            <a:avLst/>
          </a:prstGeom>
          <a:noFill/>
        </p:spPr>
        <p:txBody>
          <a:bodyPr wrap="square" lIns="0" rIns="0" tIns="0" bIns="0" anchor="ctr">
            <a:spAutoFit/>
          </a:bodyPr>
          <a:lstStyle/>
          <a:p>
            <a:r>
              <a:rPr sz="2800" b="1">
                <a:solidFill>
                  <a:schemeClr val="tx2"/>
                </a:solidFill>
                <a:latin typeface="Cambria"/>
              </a:rPr>
              <a:t>14 of 19</a:t>
            </a:r>
          </a:p>
          <a:p>
            <a:r>
              <a:rPr sz="1500" b="1">
                <a:solidFill>
                  <a:schemeClr val="tx1"/>
                </a:solidFill>
              </a:rPr>
              <a:t>Delivered or on plan</a:t>
            </a:r>
          </a:p>
          <a:p>
            <a:r>
              <a:rPr sz="1200" b="0">
                <a:solidFill>
                  <a:schemeClr val="accent5"/>
                </a:solidFill>
              </a:rPr>
              <a:t>2 complete, 12 on plan (74%)</a:t>
            </a:r>
          </a:p>
        </p:txBody>
      </p:sp>
      <p:sp>
        <p:nvSpPr>
          <p:cNvPr id="30" name="Off plan, no recovery plan card"/>
          <p:cNvSpPr/>
          <p:nvPr/>
        </p:nvSpPr>
        <p:spPr>
          <a:xfrm>
            <a:off x="7772400" y="288036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ff plan, no recovery plan"/>
          <p:cNvSpPr txBox="1"/>
          <p:nvPr/>
        </p:nvSpPr>
        <p:spPr>
          <a:xfrm>
            <a:off x="8001000" y="2971800"/>
            <a:ext cx="3429000" cy="1188720"/>
          </a:xfrm>
          <a:prstGeom prst="rect">
            <a:avLst/>
          </a:prstGeom>
          <a:noFill/>
        </p:spPr>
        <p:txBody>
          <a:bodyPr wrap="square" lIns="0" rIns="0" tIns="0" bIns="0" anchor="ctr">
            <a:spAutoFit/>
          </a:bodyPr>
          <a:lstStyle/>
          <a:p>
            <a:r>
              <a:rPr sz="2800" b="1">
                <a:solidFill>
                  <a:srgbClr val="D1495B"/>
                </a:solidFill>
                <a:latin typeface="Cambria"/>
              </a:rPr>
              <a:t>5</a:t>
            </a:r>
          </a:p>
          <a:p>
            <a:r>
              <a:rPr sz="1500" b="1">
                <a:solidFill>
                  <a:schemeClr val="tx1"/>
                </a:solidFill>
              </a:rPr>
              <a:t>Off plan, no recovery plan</a:t>
            </a:r>
          </a:p>
          <a:p>
            <a:r>
              <a:rPr sz="1200" b="0">
                <a:solidFill>
                  <a:schemeClr val="accent5"/>
                </a:solidFill>
              </a:rPr>
              <a:t>Culture, capability and escalation paths</a:t>
            </a:r>
          </a:p>
        </p:txBody>
      </p:sp>
      <p:sp>
        <p:nvSpPr>
          <p:cNvPr id="32" name="Not due in Q1 card"/>
          <p:cNvSpPr/>
          <p:nvPr/>
        </p:nvSpPr>
        <p:spPr>
          <a:xfrm>
            <a:off x="7772400" y="438912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Not due in Q1"/>
          <p:cNvSpPr txBox="1"/>
          <p:nvPr/>
        </p:nvSpPr>
        <p:spPr>
          <a:xfrm>
            <a:off x="8001000" y="4480559"/>
            <a:ext cx="3429000" cy="1188720"/>
          </a:xfrm>
          <a:prstGeom prst="rect">
            <a:avLst/>
          </a:prstGeom>
          <a:noFill/>
        </p:spPr>
        <p:txBody>
          <a:bodyPr wrap="square" lIns="0" rIns="0" tIns="0" bIns="0" anchor="ctr">
            <a:spAutoFit/>
          </a:bodyPr>
          <a:lstStyle/>
          <a:p>
            <a:r>
              <a:rPr sz="2800" b="1">
                <a:solidFill>
                  <a:schemeClr val="tx2"/>
                </a:solidFill>
                <a:latin typeface="Cambria"/>
              </a:rPr>
              <a:t>2</a:t>
            </a:r>
          </a:p>
          <a:p>
            <a:r>
              <a:rPr sz="1500" b="1">
                <a:solidFill>
                  <a:schemeClr val="tx1"/>
                </a:solidFill>
              </a:rPr>
              <a:t>Not due in Q1</a:t>
            </a:r>
          </a:p>
          <a:p>
            <a:r>
              <a:rPr sz="1200" b="0">
                <a:solidFill>
                  <a:schemeClr val="accent5"/>
                </a:solidFill>
              </a:rPr>
              <a:t>Bonus budget (Q2), mid-year review (Q3)</a:t>
            </a:r>
          </a:p>
        </p:txBody>
      </p:sp>
      <p:sp>
        <p:nvSpPr>
          <p:cNvPr id="34"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FY26/27 KPI Status, Finance and Operations. 21 breakthrough actions in total.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Financial resilience: all four actions on plan</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graphicFrame>
        <p:nvGraphicFramePr>
          <p:cNvPr id="27" name="Financial resilience table"/>
          <p:cNvGraphicFramePr>
            <a:graphicFrameLocks noGrp="1"/>
          </p:cNvGraphicFramePr>
          <p:nvPr/>
        </p:nvGraphicFramePr>
        <p:xfrm>
          <a:off x="548640" y="1371600"/>
          <a:ext cx="11091672" cy="3886200"/>
        </p:xfrm>
        <a:graphic>
          <a:graphicData uri="http://schemas.openxmlformats.org/drawingml/2006/table">
            <a:tbl>
              <a:tblPr firstRow="0" bandRow="0">
                <a:tableStyleId>{2D5ABB26-0587-4C30-8999-92F81FD0307C}</a:tableStyleId>
              </a:tblPr>
              <a:tblGrid>
                <a:gridCol w="2926080"/>
                <a:gridCol w="2926080"/>
                <a:gridCol w="3840480"/>
                <a:gridCol w="1399032"/>
              </a:tblGrid>
              <a:tr h="777240">
                <a:tc>
                  <a:txBody>
                    <a:bodyPr wrap="square"/>
                    <a:lstStyle/>
                    <a:p>
                      <a:r>
                        <a:rPr sz="1400" b="1">
                          <a:solidFill>
                            <a:srgbClr val="FFFFFF"/>
                          </a:solidFill>
                        </a:rPr>
                        <a:t>Action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400" b="1">
                          <a:solidFill>
                            <a:srgbClr val="FFFFFF"/>
                          </a:solidFill>
                        </a:rPr>
                        <a:t>Target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400" b="1">
                          <a:solidFill>
                            <a:srgbClr val="FFFFFF"/>
                          </a:solidFill>
                        </a:rPr>
                        <a:t>Q1 achieved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400" b="1">
                          <a:solidFill>
                            <a:srgbClr val="FFFFFF"/>
                          </a:solidFill>
                        </a:rPr>
                        <a:t>Status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r>
              <a:tr h="777240">
                <a:tc>
                  <a:txBody>
                    <a:bodyPr wrap="square"/>
                    <a:lstStyle/>
                    <a:p>
                      <a:r>
                        <a:rPr sz="1400" b="1">
                          <a:solidFill>
                            <a:srgbClr val="13262B"/>
                          </a:solidFill>
                        </a:rPr>
                        <a:t>1.4.1  Cash runway monitoring</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Runway visibility of 6 months or more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Cash position report to the CEO every mid-month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b="1">
                          <a:solidFill>
                            <a:srgbClr val="1B7F79"/>
                          </a:solidFill>
                        </a:rPr>
                        <a:t>On plan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777240">
                <a:tc>
                  <a:txBody>
                    <a:bodyPr wrap="square"/>
                    <a:lstStyle/>
                    <a:p>
                      <a:r>
                        <a:rPr sz="1400" b="1">
                          <a:solidFill>
                            <a:srgbClr val="13262B"/>
                          </a:solidFill>
                        </a:rPr>
                        <a:t>1.4.2  Rolling 12-month forecast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Monthly board visibility</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Sales tracker records revenue daily against targets; weekly Monday report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b="1">
                          <a:solidFill>
                            <a:srgbClr val="1B7F79"/>
                          </a:solidFill>
                        </a:rPr>
                        <a:t>On plan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777240">
                <a:tc>
                  <a:txBody>
                    <a:bodyPr wrap="square"/>
                    <a:lstStyle/>
                    <a:p>
                      <a:r>
                        <a:rPr sz="1400" b="1">
                          <a:solidFill>
                            <a:srgbClr val="13262B"/>
                          </a:solidFill>
                        </a:rPr>
                        <a:t>1.4.3  Collections discipline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95% collections discipline; 50% of invoices paid in 30 days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Over 80% of receivables under 90 days overdue (September 2026)</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b="1">
                          <a:solidFill>
                            <a:srgbClr val="1B7F79"/>
                          </a:solidFill>
                        </a:rPr>
                        <a:t>On plan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777240">
                <a:tc>
                  <a:txBody>
                    <a:bodyPr wrap="square"/>
                    <a:lstStyle/>
                    <a:p>
                      <a:r>
                        <a:rPr sz="1400" b="1">
                          <a:solidFill>
                            <a:srgbClr val="13262B"/>
                          </a:solidFill>
                        </a:rPr>
                        <a:t>F2  Fundraising data room</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Documents ready in Q1</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a:solidFill>
                            <a:srgbClr val="13262B"/>
                          </a:solidFill>
                        </a:rPr>
                        <a:t>Documents consolidated and kept updated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400" b="1">
                          <a:solidFill>
                            <a:srgbClr val="1B7F79"/>
                          </a:solidFill>
                        </a:rPr>
                        <a:t>On plan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bl>
          </a:graphicData>
        </a:graphic>
      </p:graphicFrame>
      <p:sp>
        <p:nvSpPr>
          <p:cNvPr id="28" name="Next step note"/>
          <p:cNvSpPr txBox="1"/>
          <p:nvPr/>
        </p:nvSpPr>
        <p:spPr>
          <a:xfrm>
            <a:off x="548640" y="5440680"/>
            <a:ext cx="11064240" cy="457200"/>
          </a:xfrm>
          <a:prstGeom prst="rect">
            <a:avLst/>
          </a:prstGeom>
          <a:noFill/>
        </p:spPr>
        <p:txBody>
          <a:bodyPr wrap="square" lIns="0" rIns="0" tIns="0" bIns="0" anchor="t">
            <a:spAutoFit/>
          </a:bodyPr>
          <a:lstStyle/>
          <a:p>
            <a:r>
              <a:rPr sz="1400" b="1">
                <a:solidFill>
                  <a:schemeClr val="tx2"/>
                </a:solidFill>
              </a:rPr>
              <a:t>Next: reconcile debtor balances, agree accounts for escalation and set a dated recovery milestone, reviewed bi-weekly.</a:t>
            </a:r>
          </a:p>
        </p:txBody>
      </p:sp>
      <p:sp>
        <p:nvSpPr>
          <p:cNvPr id="29"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FY26/27 KPI Status, Finance and Operations.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People and performance: 5 actions need recovery</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
        <p:nvSpPr>
          <p:cNvPr id="27" name="On plan card"/>
          <p:cNvSpPr/>
          <p:nvPr/>
        </p:nvSpPr>
        <p:spPr>
          <a:xfrm>
            <a:off x="548640" y="1371600"/>
            <a:ext cx="5394960" cy="39319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n plan heading"/>
          <p:cNvSpPr txBox="1"/>
          <p:nvPr/>
        </p:nvSpPr>
        <p:spPr>
          <a:xfrm>
            <a:off x="777240" y="1508760"/>
            <a:ext cx="4937760" cy="365760"/>
          </a:xfrm>
          <a:prstGeom prst="rect">
            <a:avLst/>
          </a:prstGeom>
          <a:noFill/>
        </p:spPr>
        <p:txBody>
          <a:bodyPr wrap="square" lIns="0" rIns="0" tIns="0" bIns="0" anchor="t">
            <a:spAutoFit/>
          </a:bodyPr>
          <a:lstStyle/>
          <a:p>
            <a:r>
              <a:rPr sz="1800" b="1">
                <a:solidFill>
                  <a:schemeClr val="tx2"/>
                </a:solidFill>
                <a:latin typeface="Cambria"/>
              </a:rPr>
              <a:t>Complete or on plan (14)</a:t>
            </a:r>
          </a:p>
        </p:txBody>
      </p:sp>
      <p:sp>
        <p:nvSpPr>
          <p:cNvPr id="29" name="On plan list"/>
          <p:cNvSpPr txBox="1"/>
          <p:nvPr/>
        </p:nvSpPr>
        <p:spPr>
          <a:xfrm>
            <a:off x="777240" y="2011680"/>
            <a:ext cx="4983480" cy="3200400"/>
          </a:xfrm>
          <a:prstGeom prst="rect">
            <a:avLst/>
          </a:prstGeom>
          <a:noFill/>
        </p:spPr>
        <p:txBody>
          <a:bodyPr wrap="square" lIns="0" rIns="0" tIns="0" bIns="0">
            <a:spAutoFit/>
          </a:bodyPr>
          <a:lstStyle/>
          <a:p>
            <a:pPr marL="228600" indent="-228600">
              <a:spcAft>
                <a:spcPts val="700"/>
              </a:spcAft>
              <a:buChar char="•"/>
            </a:pPr>
            <a:r>
              <a:rPr sz="1400">
                <a:solidFill>
                  <a:schemeClr val="tx1"/>
                </a:solidFill>
              </a:rPr>
              <a:t>Staff survey and bonus system complete (4.1.1, 4.2.1)</a:t>
            </a:r>
          </a:p>
          <a:p>
            <a:pPr marL="228600" indent="-228600">
              <a:spcAft>
                <a:spcPts val="700"/>
              </a:spcAft>
              <a:buChar char="•"/>
            </a:pPr>
            <a:r>
              <a:rPr sz="1400">
                <a:solidFill>
                  <a:schemeClr val="tx1"/>
                </a:solidFill>
              </a:rPr>
              <a:t>Bonus rules set; staff briefing pending (4.2.2)</a:t>
            </a:r>
          </a:p>
          <a:p>
            <a:pPr marL="228600" indent="-228600">
              <a:spcAft>
                <a:spcPts val="700"/>
              </a:spcAft>
              <a:buChar char="•"/>
            </a:pPr>
            <a:r>
              <a:rPr sz="1400">
                <a:solidFill>
                  <a:schemeClr val="tx1"/>
                </a:solidFill>
              </a:rPr>
              <a:t>90-day onboarding and succession plan in place (4.3.1, 4.3.2)</a:t>
            </a:r>
          </a:p>
          <a:p>
            <a:pPr marL="228600" indent="-228600">
              <a:spcAft>
                <a:spcPts val="700"/>
              </a:spcAft>
              <a:buChar char="•"/>
            </a:pPr>
            <a:r>
              <a:rPr sz="1400">
                <a:solidFill>
                  <a:schemeClr val="tx1"/>
                </a:solidFill>
              </a:rPr>
              <a:t>Department OKRs and SLAs published (4.4.1, 4.4.2)</a:t>
            </a:r>
          </a:p>
          <a:p>
            <a:pPr marL="228600" indent="-228600">
              <a:spcAft>
                <a:spcPts val="700"/>
              </a:spcAft>
              <a:buChar char="•"/>
            </a:pPr>
            <a:r>
              <a:rPr sz="1400">
                <a:solidFill>
                  <a:schemeClr val="tx1"/>
                </a:solidFill>
              </a:rPr>
              <a:t>Quarterly review cycle on plan (4.4.3)</a:t>
            </a:r>
          </a:p>
          <a:p>
            <a:pPr marL="228600" indent="-228600">
              <a:spcAft>
                <a:spcPts val="700"/>
              </a:spcAft>
              <a:buChar char="•"/>
            </a:pPr>
            <a:r>
              <a:rPr sz="1400">
                <a:solidFill>
                  <a:schemeClr val="tx1"/>
                </a:solidFill>
              </a:rPr>
              <a:t>Learning from failure built into reviews (4.1.4)</a:t>
            </a:r>
          </a:p>
        </p:txBody>
      </p:sp>
      <p:sp>
        <p:nvSpPr>
          <p:cNvPr id="30" name="Off plan card"/>
          <p:cNvSpPr/>
          <p:nvPr/>
        </p:nvSpPr>
        <p:spPr>
          <a:xfrm>
            <a:off x="6199632" y="1371600"/>
            <a:ext cx="5440680" cy="39319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ff plan heading"/>
          <p:cNvSpPr txBox="1"/>
          <p:nvPr/>
        </p:nvSpPr>
        <p:spPr>
          <a:xfrm>
            <a:off x="6428232" y="1508760"/>
            <a:ext cx="4983480" cy="365760"/>
          </a:xfrm>
          <a:prstGeom prst="rect">
            <a:avLst/>
          </a:prstGeom>
          <a:noFill/>
        </p:spPr>
        <p:txBody>
          <a:bodyPr wrap="square" lIns="0" rIns="0" tIns="0" bIns="0" anchor="t">
            <a:spAutoFit/>
          </a:bodyPr>
          <a:lstStyle/>
          <a:p>
            <a:r>
              <a:rPr sz="1800" b="1">
                <a:solidFill>
                  <a:srgbClr val="D1495B"/>
                </a:solidFill>
                <a:latin typeface="Cambria"/>
              </a:rPr>
              <a:t>Off plan, no recovery plan yet (5)</a:t>
            </a:r>
          </a:p>
        </p:txBody>
      </p:sp>
      <p:sp>
        <p:nvSpPr>
          <p:cNvPr id="32" name="Off plan list"/>
          <p:cNvSpPr txBox="1"/>
          <p:nvPr/>
        </p:nvSpPr>
        <p:spPr>
          <a:xfrm>
            <a:off x="6428232" y="2011680"/>
            <a:ext cx="5029200" cy="3200400"/>
          </a:xfrm>
          <a:prstGeom prst="rect">
            <a:avLst/>
          </a:prstGeom>
          <a:noFill/>
        </p:spPr>
        <p:txBody>
          <a:bodyPr wrap="square" lIns="0" rIns="0" tIns="0" bIns="0">
            <a:spAutoFit/>
          </a:bodyPr>
          <a:lstStyle/>
          <a:p>
            <a:pPr marL="228600" indent="-228600">
              <a:spcAft>
                <a:spcPts val="700"/>
              </a:spcAft>
              <a:buChar char="•"/>
            </a:pPr>
            <a:r>
              <a:rPr sz="1400">
                <a:solidFill>
                  <a:schemeClr val="tx1"/>
                </a:solidFill>
              </a:rPr>
              <a:t>Safe Space meetings (4.1.2): schedule the first session</a:t>
            </a:r>
          </a:p>
          <a:p>
            <a:pPr marL="228600" indent="-228600">
              <a:spcAft>
                <a:spcPts val="700"/>
              </a:spcAft>
              <a:buChar char="•"/>
            </a:pPr>
            <a:r>
              <a:rPr sz="1400">
                <a:solidFill>
                  <a:schemeClr val="tx1"/>
                </a:solidFill>
              </a:rPr>
              <a:t>Manager feedback training (4.1.3): agree a date and owner</a:t>
            </a:r>
          </a:p>
          <a:p>
            <a:pPr marL="228600" indent="-228600">
              <a:spcAft>
                <a:spcPts val="700"/>
              </a:spcAft>
              <a:buChar char="•"/>
            </a:pPr>
            <a:r>
              <a:rPr sz="1400">
                <a:solidFill>
                  <a:schemeClr val="tx1"/>
                </a:solidFill>
              </a:rPr>
              <a:t>Rotation pilot (4.3.3): define participants, hosts and start date</a:t>
            </a:r>
          </a:p>
          <a:p>
            <a:pPr marL="228600" indent="-228600">
              <a:spcAft>
                <a:spcPts val="700"/>
              </a:spcAft>
              <a:buChar char="•"/>
            </a:pPr>
            <a:r>
              <a:rPr sz="1400">
                <a:solidFill>
                  <a:schemeClr val="tx1"/>
                </a:solidFill>
              </a:rPr>
              <a:t>Skills-gap assessment (4.3.4): complete for FY26/27</a:t>
            </a:r>
          </a:p>
          <a:p>
            <a:pPr marL="228600" indent="-228600">
              <a:spcAft>
                <a:spcPts val="700"/>
              </a:spcAft>
              <a:buChar char="•"/>
            </a:pPr>
            <a:r>
              <a:rPr sz="1400">
                <a:solidFill>
                  <a:schemeClr val="tx1"/>
                </a:solidFill>
              </a:rPr>
              <a:t>Escalation paths (4.4.4): document for critical functions</a:t>
            </a:r>
          </a:p>
        </p:txBody>
      </p:sp>
      <p:sp>
        <p:nvSpPr>
          <p:cNvPr id="33" name="eNPS banner"/>
          <p:cNvSpPr/>
          <p:nvPr/>
        </p:nvSpPr>
        <p:spPr>
          <a:xfrm>
            <a:off x="548640" y="5440680"/>
            <a:ext cx="11091672" cy="50292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NPS note"/>
          <p:cNvSpPr txBox="1"/>
          <p:nvPr/>
        </p:nvSpPr>
        <p:spPr>
          <a:xfrm>
            <a:off x="777240" y="5440680"/>
            <a:ext cx="10607040" cy="502920"/>
          </a:xfrm>
          <a:prstGeom prst="rect">
            <a:avLst/>
          </a:prstGeom>
          <a:noFill/>
        </p:spPr>
        <p:txBody>
          <a:bodyPr wrap="square" lIns="0" rIns="0" tIns="0" bIns="0" anchor="ctr">
            <a:spAutoFit/>
          </a:bodyPr>
          <a:lstStyle/>
          <a:p>
            <a:r>
              <a:rPr sz="1400" b="1">
                <a:solidFill>
                  <a:srgbClr val="D1495B"/>
                </a:solidFill>
              </a:rPr>
              <a:t>Measure for objective 4.2 is eNPS of 50 or more. The Q1 survey result is below that target.</a:t>
            </a:r>
          </a:p>
        </p:txBody>
      </p:sp>
      <p:sp>
        <p:nvSpPr>
          <p:cNvPr id="35"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FY26/27 KPI Status; Q1 HR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Q1 learnings: what to keep and what to change</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2  Q1 PERFORMANCE REVIEW</a:t>
            </a:r>
          </a:p>
        </p:txBody>
      </p:sp>
      <p:sp>
        <p:nvSpPr>
          <p:cNvPr id="27" name="What worked card"/>
          <p:cNvSpPr/>
          <p:nvPr/>
        </p:nvSpPr>
        <p:spPr>
          <a:xfrm>
            <a:off x="548640" y="1371600"/>
            <a:ext cx="3593592" cy="4526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What worked header"/>
          <p:cNvSpPr/>
          <p:nvPr/>
        </p:nvSpPr>
        <p:spPr>
          <a:xfrm>
            <a:off x="777240" y="1600200"/>
            <a:ext cx="3136392" cy="548640"/>
          </a:xfrm>
          <a:prstGeom prst="roundRect">
            <a:avLst>
              <a:gd name="adj" fmla="val 20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sz="1800" b="1">
                <a:solidFill>
                  <a:srgbClr val="FFFFFF"/>
                </a:solidFill>
                <a:latin typeface="Cambria"/>
              </a:rPr>
              <a:t>What worked</a:t>
            </a:r>
          </a:p>
        </p:txBody>
      </p:sp>
      <p:sp>
        <p:nvSpPr>
          <p:cNvPr id="29" name="What worked list"/>
          <p:cNvSpPr txBox="1"/>
          <p:nvPr/>
        </p:nvSpPr>
        <p:spPr>
          <a:xfrm>
            <a:off x="777240" y="2423160"/>
            <a:ext cx="3154680" cy="3383280"/>
          </a:xfrm>
          <a:prstGeom prst="rect">
            <a:avLst/>
          </a:prstGeom>
          <a:noFill/>
        </p:spPr>
        <p:txBody>
          <a:bodyPr wrap="square" lIns="0" rIns="0" tIns="0" bIns="0">
            <a:spAutoFit/>
          </a:bodyPr>
          <a:lstStyle/>
          <a:p>
            <a:pPr marL="228600" indent="-228600">
              <a:spcAft>
                <a:spcPts val="1000"/>
              </a:spcAft>
              <a:buChar char="•"/>
            </a:pPr>
            <a:r>
              <a:rPr sz="1500">
                <a:solidFill>
                  <a:schemeClr val="tx1"/>
                </a:solidFill>
              </a:rPr>
              <a:t>Cash runway report to the CEO every mid-month</a:t>
            </a:r>
          </a:p>
          <a:p>
            <a:pPr marL="228600" indent="-228600">
              <a:spcAft>
                <a:spcPts val="1000"/>
              </a:spcAft>
              <a:buChar char="•"/>
            </a:pPr>
            <a:r>
              <a:rPr sz="1500">
                <a:solidFill>
                  <a:schemeClr val="tx1"/>
                </a:solidFill>
              </a:rPr>
              <a:t>Over 80% of receivables under 90 days overdue; balances down KES 4.10M</a:t>
            </a:r>
          </a:p>
          <a:p>
            <a:pPr marL="228600" indent="-228600">
              <a:spcAft>
                <a:spcPts val="1000"/>
              </a:spcAft>
              <a:buChar char="•"/>
            </a:pPr>
            <a:r>
              <a:rPr sz="1500">
                <a:solidFill>
                  <a:schemeClr val="tx1"/>
                </a:solidFill>
              </a:rPr>
              <a:t>Staff survey and bonus system completed</a:t>
            </a:r>
          </a:p>
          <a:p>
            <a:pPr marL="228600" indent="-228600">
              <a:spcAft>
                <a:spcPts val="1000"/>
              </a:spcAft>
              <a:buChar char="•"/>
            </a:pPr>
            <a:r>
              <a:rPr sz="1500">
                <a:solidFill>
                  <a:schemeClr val="tx1"/>
                </a:solidFill>
              </a:rPr>
              <a:t>eBooks at 147% of target</a:t>
            </a:r>
          </a:p>
        </p:txBody>
      </p:sp>
      <p:sp>
        <p:nvSpPr>
          <p:cNvPr id="30" name="What did not work card"/>
          <p:cNvSpPr/>
          <p:nvPr/>
        </p:nvSpPr>
        <p:spPr>
          <a:xfrm>
            <a:off x="4297679" y="1371600"/>
            <a:ext cx="3593592" cy="4526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What did not work header"/>
          <p:cNvSpPr/>
          <p:nvPr/>
        </p:nvSpPr>
        <p:spPr>
          <a:xfrm>
            <a:off x="4526279" y="1600200"/>
            <a:ext cx="3136392" cy="548640"/>
          </a:xfrm>
          <a:prstGeom prst="roundRect">
            <a:avLst>
              <a:gd name="adj" fmla="val 20000"/>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sz="1800" b="1">
                <a:solidFill>
                  <a:srgbClr val="FFFFFF"/>
                </a:solidFill>
                <a:latin typeface="Cambria"/>
              </a:rPr>
              <a:t>What did not work</a:t>
            </a:r>
          </a:p>
        </p:txBody>
      </p:sp>
      <p:sp>
        <p:nvSpPr>
          <p:cNvPr id="32" name="What did not work list"/>
          <p:cNvSpPr txBox="1"/>
          <p:nvPr/>
        </p:nvSpPr>
        <p:spPr>
          <a:xfrm>
            <a:off x="4526279" y="2423160"/>
            <a:ext cx="3154680" cy="3383280"/>
          </a:xfrm>
          <a:prstGeom prst="rect">
            <a:avLst/>
          </a:prstGeom>
          <a:noFill/>
        </p:spPr>
        <p:txBody>
          <a:bodyPr wrap="square" lIns="0" rIns="0" tIns="0" bIns="0">
            <a:spAutoFit/>
          </a:bodyPr>
          <a:lstStyle/>
          <a:p>
            <a:pPr marL="228600" indent="-228600">
              <a:spcAft>
                <a:spcPts val="1000"/>
              </a:spcAft>
              <a:buChar char="•"/>
            </a:pPr>
            <a:r>
              <a:rPr sz="1500">
                <a:solidFill>
                  <a:schemeClr val="tx1"/>
                </a:solidFill>
              </a:rPr>
              <a:t>5 of 19 due actions off plan with no recovery plan</a:t>
            </a:r>
          </a:p>
          <a:p>
            <a:pPr marL="228600" indent="-228600">
              <a:spcAft>
                <a:spcPts val="1000"/>
              </a:spcAft>
              <a:buChar char="•"/>
            </a:pPr>
            <a:r>
              <a:rPr sz="1500">
                <a:solidFill>
                  <a:schemeClr val="tx1"/>
                </a:solidFill>
              </a:rPr>
              <a:t>Elimu Pepe (21%) and Devices (9%) far below target</a:t>
            </a:r>
          </a:p>
          <a:p>
            <a:pPr marL="228600" indent="-228600">
              <a:spcAft>
                <a:spcPts val="1000"/>
              </a:spcAft>
              <a:buChar char="•"/>
            </a:pPr>
            <a:r>
              <a:rPr sz="1500">
                <a:solidFill>
                  <a:schemeClr val="tx1"/>
                </a:solidFill>
              </a:rPr>
              <a:t>Survey eNPS below the target of 50</a:t>
            </a:r>
          </a:p>
          <a:p>
            <a:pPr marL="228600" indent="-228600">
              <a:spcAft>
                <a:spcPts val="1000"/>
              </a:spcAft>
              <a:buChar char="•"/>
            </a:pPr>
            <a:r>
              <a:rPr sz="1500">
                <a:solidFill>
                  <a:schemeClr val="tx1"/>
                </a:solidFill>
              </a:rPr>
              <a:t>75% of sales from two lines</a:t>
            </a:r>
          </a:p>
        </p:txBody>
      </p:sp>
      <p:sp>
        <p:nvSpPr>
          <p:cNvPr id="33" name="Carry forward or change card"/>
          <p:cNvSpPr/>
          <p:nvPr/>
        </p:nvSpPr>
        <p:spPr>
          <a:xfrm>
            <a:off x="8046719" y="1371600"/>
            <a:ext cx="3593592" cy="452628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arry forward or change header"/>
          <p:cNvSpPr/>
          <p:nvPr/>
        </p:nvSpPr>
        <p:spPr>
          <a:xfrm>
            <a:off x="8275319" y="1600200"/>
            <a:ext cx="3136392" cy="548640"/>
          </a:xfrm>
          <a:prstGeom prst="roundRect">
            <a:avLst>
              <a:gd name="adj" fmla="val 20000"/>
            </a:avLst>
          </a:prstGeom>
          <a:solidFill>
            <a:srgbClr val="0B3C49"/>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l"/>
            <a:r>
              <a:rPr sz="1800" b="1">
                <a:solidFill>
                  <a:srgbClr val="FFFFFF"/>
                </a:solidFill>
                <a:latin typeface="Cambria"/>
              </a:rPr>
              <a:t>Carry forward or change</a:t>
            </a:r>
          </a:p>
        </p:txBody>
      </p:sp>
      <p:sp>
        <p:nvSpPr>
          <p:cNvPr id="35" name="Carry forward or change list"/>
          <p:cNvSpPr txBox="1"/>
          <p:nvPr/>
        </p:nvSpPr>
        <p:spPr>
          <a:xfrm>
            <a:off x="8275319" y="2423160"/>
            <a:ext cx="3154680" cy="3383280"/>
          </a:xfrm>
          <a:prstGeom prst="rect">
            <a:avLst/>
          </a:prstGeom>
          <a:noFill/>
        </p:spPr>
        <p:txBody>
          <a:bodyPr wrap="square" lIns="0" rIns="0" tIns="0" bIns="0">
            <a:spAutoFit/>
          </a:bodyPr>
          <a:lstStyle/>
          <a:p>
            <a:pPr marL="228600" indent="-228600">
              <a:spcAft>
                <a:spcPts val="1000"/>
              </a:spcAft>
              <a:buChar char="•"/>
            </a:pPr>
            <a:r>
              <a:rPr sz="1500">
                <a:solidFill>
                  <a:schemeClr val="tx1"/>
                </a:solidFill>
              </a:rPr>
              <a:t>Carry: mid-month runway report and bi-weekly collections review</a:t>
            </a:r>
          </a:p>
          <a:p>
            <a:pPr marL="228600" indent="-228600">
              <a:spcAft>
                <a:spcPts val="1000"/>
              </a:spcAft>
              <a:buChar char="•"/>
            </a:pPr>
            <a:r>
              <a:rPr sz="1500">
                <a:solidFill>
                  <a:schemeClr val="tx1"/>
                </a:solidFill>
              </a:rPr>
              <a:t>Change: an owner, date and recovery step for every off-plan action</a:t>
            </a:r>
          </a:p>
          <a:p>
            <a:pPr marL="228600" indent="-228600">
              <a:spcAft>
                <a:spcPts val="1000"/>
              </a:spcAft>
              <a:buChar char="•"/>
            </a:pPr>
            <a:r>
              <a:rPr sz="1500">
                <a:solidFill>
                  <a:schemeClr val="tx1"/>
                </a:solidFill>
              </a:rPr>
              <a:t>Change: monthly targets and owners for each revenue line</a:t>
            </a:r>
          </a:p>
          <a:p>
            <a:pPr marL="228600" indent="-228600">
              <a:spcAft>
                <a:spcPts val="1000"/>
              </a:spcAft>
              <a:buChar char="•"/>
            </a:pPr>
            <a:r>
              <a:rPr sz="1500">
                <a:solidFill>
                  <a:schemeClr val="tx1"/>
                </a:solidFill>
              </a:rPr>
              <a:t>Change: review statutory balances every month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target: KES 28.5M, 7.5 times Q1 sales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3  Q2 PRIORITIES &amp; EXECUTION</a:t>
            </a:r>
          </a:p>
        </p:txBody>
      </p:sp>
      <p:graphicFrame>
        <p:nvGraphicFramePr>
          <p:cNvPr id="27" name="Q1 vs Q2 target chart"/>
          <p:cNvGraphicFramePr>
            <a:graphicFrameLocks noGrp="1"/>
          </p:cNvGraphicFramePr>
          <p:nvPr/>
        </p:nvGraphicFramePr>
        <p:xfrm>
          <a:off x="548640" y="1280160"/>
          <a:ext cx="6949440" cy="4663440"/>
        </p:xfrm>
        <a:graphic>
          <a:graphicData uri="http://schemas.openxmlformats.org/drawingml/2006/chart">
            <c:chart xmlns:c="http://schemas.openxmlformats.org/drawingml/2006/chart" r:id="rId3"/>
          </a:graphicData>
        </a:graphic>
      </p:graphicFrame>
      <p:sp>
        <p:nvSpPr>
          <p:cNvPr id="28" name="Q2 sales target card"/>
          <p:cNvSpPr/>
          <p:nvPr/>
        </p:nvSpPr>
        <p:spPr>
          <a:xfrm>
            <a:off x="7772400" y="137160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Q2 sales target"/>
          <p:cNvSpPr txBox="1"/>
          <p:nvPr/>
        </p:nvSpPr>
        <p:spPr>
          <a:xfrm>
            <a:off x="8001000" y="1463040"/>
            <a:ext cx="3429000" cy="1188720"/>
          </a:xfrm>
          <a:prstGeom prst="rect">
            <a:avLst/>
          </a:prstGeom>
          <a:noFill/>
        </p:spPr>
        <p:txBody>
          <a:bodyPr wrap="square" lIns="0" rIns="0" tIns="0" bIns="0" anchor="ctr">
            <a:spAutoFit/>
          </a:bodyPr>
          <a:lstStyle/>
          <a:p>
            <a:r>
              <a:rPr sz="2800" b="1">
                <a:solidFill>
                  <a:schemeClr val="tx2"/>
                </a:solidFill>
                <a:latin typeface="Cambria"/>
              </a:rPr>
              <a:t>KES 28.5M</a:t>
            </a:r>
          </a:p>
          <a:p>
            <a:r>
              <a:rPr sz="1500" b="1">
                <a:solidFill>
                  <a:schemeClr val="tx1"/>
                </a:solidFill>
              </a:rPr>
              <a:t>Q2 sales target</a:t>
            </a:r>
          </a:p>
          <a:p>
            <a:r>
              <a:rPr sz="1200" b="0">
                <a:solidFill>
                  <a:schemeClr val="accent5"/>
                </a:solidFill>
              </a:rPr>
              <a:t>October to December 2026</a:t>
            </a:r>
          </a:p>
        </p:txBody>
      </p:sp>
      <p:sp>
        <p:nvSpPr>
          <p:cNvPr id="30" name="Elimu Pepe share of Q2 card"/>
          <p:cNvSpPr/>
          <p:nvPr/>
        </p:nvSpPr>
        <p:spPr>
          <a:xfrm>
            <a:off x="7772400" y="288036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limu Pepe share of Q2"/>
          <p:cNvSpPr txBox="1"/>
          <p:nvPr/>
        </p:nvSpPr>
        <p:spPr>
          <a:xfrm>
            <a:off x="8001000" y="2971800"/>
            <a:ext cx="3429000" cy="1188720"/>
          </a:xfrm>
          <a:prstGeom prst="rect">
            <a:avLst/>
          </a:prstGeom>
          <a:noFill/>
        </p:spPr>
        <p:txBody>
          <a:bodyPr wrap="square" lIns="0" rIns="0" tIns="0" bIns="0" anchor="ctr">
            <a:spAutoFit/>
          </a:bodyPr>
          <a:lstStyle/>
          <a:p>
            <a:r>
              <a:rPr sz="2800" b="1">
                <a:solidFill>
                  <a:srgbClr val="D1495B"/>
                </a:solidFill>
                <a:latin typeface="Cambria"/>
              </a:rPr>
              <a:t>48%</a:t>
            </a:r>
          </a:p>
          <a:p>
            <a:r>
              <a:rPr sz="1500" b="1">
                <a:solidFill>
                  <a:schemeClr val="tx1"/>
                </a:solidFill>
              </a:rPr>
              <a:t>Elimu Pepe share of Q2</a:t>
            </a:r>
          </a:p>
          <a:p>
            <a:r>
              <a:rPr sz="1200" b="0">
                <a:solidFill>
                  <a:schemeClr val="accent5"/>
                </a:solidFill>
              </a:rPr>
              <a:t>KES 13.6M, up from KES 0.8M in Q1</a:t>
            </a:r>
          </a:p>
        </p:txBody>
      </p:sp>
      <p:sp>
        <p:nvSpPr>
          <p:cNvPr id="32" name="Full-year target card"/>
          <p:cNvSpPr/>
          <p:nvPr/>
        </p:nvSpPr>
        <p:spPr>
          <a:xfrm>
            <a:off x="7772400" y="4389120"/>
            <a:ext cx="3867912" cy="13716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ull-year target"/>
          <p:cNvSpPr txBox="1"/>
          <p:nvPr/>
        </p:nvSpPr>
        <p:spPr>
          <a:xfrm>
            <a:off x="8001000" y="4480559"/>
            <a:ext cx="3429000" cy="1188720"/>
          </a:xfrm>
          <a:prstGeom prst="rect">
            <a:avLst/>
          </a:prstGeom>
          <a:noFill/>
        </p:spPr>
        <p:txBody>
          <a:bodyPr wrap="square" lIns="0" rIns="0" tIns="0" bIns="0" anchor="ctr">
            <a:spAutoFit/>
          </a:bodyPr>
          <a:lstStyle/>
          <a:p>
            <a:r>
              <a:rPr sz="2800" b="1">
                <a:solidFill>
                  <a:srgbClr val="D1495B"/>
                </a:solidFill>
                <a:latin typeface="Cambria"/>
              </a:rPr>
              <a:t>KES 126M</a:t>
            </a:r>
          </a:p>
          <a:p>
            <a:r>
              <a:rPr sz="1500" b="1">
                <a:solidFill>
                  <a:schemeClr val="tx1"/>
                </a:solidFill>
              </a:rPr>
              <a:t>Full-year target</a:t>
            </a:r>
          </a:p>
          <a:p>
            <a:r>
              <a:rPr sz="1200" b="0">
                <a:solidFill>
                  <a:schemeClr val="accent5"/>
                </a:solidFill>
              </a:rPr>
              <a:t>Q1 delivered 3%; KES 122M left for 9 months</a:t>
            </a:r>
          </a:p>
        </p:txBody>
      </p:sp>
      <p:sp>
        <p:nvSpPr>
          <p:cNvPr id="34"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Target - revenue workbook. Monthly Q2 targets: October KES 8.19M, November KES 9.12M, December KES 11.22M.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a:spLocks noGrp="1"/>
          </p:cNvSpPr>
          <p:nvPr>
            <p:ph type="title" idx="101"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Q2 execution: deliverables, owners and measures</a:t>
            </a: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
        <p:nvSpPr>
          <p:cNvPr id="26" name="Section label"/>
          <p:cNvSpPr txBox="1"/>
          <p:nvPr/>
        </p:nvSpPr>
        <p:spPr>
          <a:xfrm>
            <a:off x="548640" y="73152"/>
            <a:ext cx="7315200" cy="246888"/>
          </a:xfrm>
          <a:prstGeom prst="rect">
            <a:avLst/>
          </a:prstGeom>
          <a:noFill/>
        </p:spPr>
        <p:txBody>
          <a:bodyPr wrap="square" lIns="0" tIns="0" bIns="0" rIns="0">
            <a:spAutoFit/>
          </a:bodyPr>
          <a:lstStyle/>
          <a:p>
            <a:pPr algn="l"/>
            <a:r>
              <a:rPr sz="1100" b="1">
                <a:solidFill>
                  <a:schemeClr val="accent1"/>
                </a:solidFill>
              </a:rPr>
              <a:t>3  Q2 PRIORITIES &amp; EXECUTION</a:t>
            </a:r>
          </a:p>
        </p:txBody>
      </p:sp>
      <p:graphicFrame>
        <p:nvGraphicFramePr>
          <p:cNvPr id="27" name="Q2 execution table"/>
          <p:cNvGraphicFramePr>
            <a:graphicFrameLocks noGrp="1"/>
          </p:cNvGraphicFramePr>
          <p:nvPr/>
        </p:nvGraphicFramePr>
        <p:xfrm>
          <a:off x="548640" y="1280160"/>
          <a:ext cx="11091671" cy="4608576"/>
        </p:xfrm>
        <a:graphic>
          <a:graphicData uri="http://schemas.openxmlformats.org/drawingml/2006/table">
            <a:tbl>
              <a:tblPr firstRow="0" bandRow="0">
                <a:tableStyleId>{2D5ABB26-0587-4C30-8999-92F81FD0307C}</a:tableStyleId>
              </a:tblPr>
              <a:tblGrid>
                <a:gridCol w="3840480"/>
                <a:gridCol w="1097280"/>
                <a:gridCol w="1371600"/>
                <a:gridCol w="2926080"/>
                <a:gridCol w="1856231"/>
              </a:tblGrid>
              <a:tr h="658368">
                <a:tc>
                  <a:txBody>
                    <a:bodyPr wrap="square"/>
                    <a:lstStyle/>
                    <a:p>
                      <a:r>
                        <a:rPr sz="1200" b="1">
                          <a:solidFill>
                            <a:srgbClr val="FFFFFF"/>
                          </a:solidFill>
                        </a:rPr>
                        <a:t>Deliverable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Owner</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By when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Success measure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c>
                  <a:txBody>
                    <a:bodyPr wrap="square"/>
                    <a:lstStyle/>
                    <a:p>
                      <a:r>
                        <a:rPr sz="1200" b="1">
                          <a:solidFill>
                            <a:srgbClr val="FFFFFF"/>
                          </a:solidFill>
                        </a:rPr>
                        <a:t>What we need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0B3C49"/>
                    </a:solidFill>
                  </a:tcPr>
                </a:tc>
              </a:tr>
              <a:tr h="658368">
                <a:tc>
                  <a:txBody>
                    <a:bodyPr wrap="square"/>
                    <a:lstStyle/>
                    <a:p>
                      <a:r>
                        <a:rPr sz="1200" b="1">
                          <a:solidFill>
                            <a:srgbClr val="13262B"/>
                          </a:solidFill>
                        </a:rPr>
                        <a:t>Cash runway report and 12-month forecast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Mid-month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Runway of 6 months or more shown for the 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Sales forecast each month</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Collections: reconcile debtors, escalate accounts, dated recovery milestones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31 Oct, then bi-weekly</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95% collections discipline; 50% of invoices paid in 30 days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Sales support on school follow-up</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Statutory remittance schedule agreed and executed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31 Oct</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Statutory accounts reconciled and paid on due dates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Approval of cash release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FY2025/26 audit completed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Finance</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31 Dec</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Audit signed off</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Timely answers to auditor queries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Recover 5 off-plan actions: Safe Space, manager training, rotation pilot, skills gaps, escalation paths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Operations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30 Nov to 31 Dec</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Owner, date and evidence for each action</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Manager time and host departments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r h="658368">
                <a:tc>
                  <a:txBody>
                    <a:bodyPr wrap="square"/>
                    <a:lstStyle/>
                    <a:p>
                      <a:r>
                        <a:rPr sz="1200" b="1">
                          <a:solidFill>
                            <a:srgbClr val="13262B"/>
                          </a:solidFill>
                        </a:rPr>
                        <a:t>Q1 performance reviews using OKR templates; brief staff on bonus rules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Operations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30 Nov</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Every staff member reviewed; bonus rules communicated</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c>
                  <a:txBody>
                    <a:bodyPr wrap="square"/>
                    <a:lstStyle/>
                    <a:p>
                      <a:r>
                        <a:rPr sz="1200">
                          <a:solidFill>
                            <a:srgbClr val="13262B"/>
                          </a:solidFill>
                        </a:rPr>
                        <a:t>KPI assessments from managers</a:t>
                      </a:r>
                    </a:p>
                  </a:txBody>
                  <a:tcPr anchor="ctr" marL="91440" marR="91440" marT="36576" marB="36576">
                    <a:lnL w="6350">
                      <a:solidFill>
                        <a:srgbClr val="D9E3E1"/>
                      </a:solidFill>
                    </a:lnL>
                    <a:lnR w="6350">
                      <a:solidFill>
                        <a:srgbClr val="D9E3E1"/>
                      </a:solidFill>
                    </a:lnR>
                    <a:lnT w="6350">
                      <a:solidFill>
                        <a:srgbClr val="D9E3E1"/>
                      </a:solidFill>
                    </a:lnT>
                    <a:lnB w="6350">
                      <a:solidFill>
                        <a:srgbClr val="D9E3E1"/>
                      </a:solidFill>
                    </a:lnB>
                    <a:solidFill>
                      <a:srgbClr val="FFFFFF"/>
                    </a:solidFill>
                  </a:tcPr>
                </a:tc>
              </a:tr>
            </a:tbl>
          </a:graphicData>
        </a:graphic>
      </p:graphicFrame>
      <p:sp>
        <p:nvSpPr>
          <p:cNvPr id="28" name="Source note"/>
          <p:cNvSpPr txBox="1"/>
          <p:nvPr/>
        </p:nvSpPr>
        <p:spPr>
          <a:xfrm>
            <a:off x="548640" y="6053328"/>
            <a:ext cx="11064240" cy="274320"/>
          </a:xfrm>
          <a:prstGeom prst="rect">
            <a:avLst/>
          </a:prstGeom>
          <a:noFill/>
        </p:spPr>
        <p:txBody>
          <a:bodyPr wrap="square" lIns="0" rIns="0" tIns="0" bIns="0" anchor="t">
            <a:spAutoFit/>
          </a:bodyPr>
          <a:lstStyle/>
          <a:p>
            <a:r>
              <a:rPr sz="1000" b="0" i="1">
                <a:solidFill>
                  <a:schemeClr val="accent5"/>
                </a:solidFill>
              </a:rPr>
              <a:t>Source: Q1 FY26/27 KPI Status (pending and next steps). Owners, dates and measures are proposals for confirmation.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731520" y="2011680"/>
            <a:ext cx="10698480" cy="164592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What we need from others</a:t>
            </a:r>
            <a:endParaRPr lang="en-US" sz="4400" dirty="0"/>
          </a:p>
        </p:txBody>
      </p:sp>
      <p:sp>
        <p:nvSpPr>
          <p:cNvPr id="3" name="Text 0"/>
          <p:cNvSpPr>
            <a:spLocks noGrp="1"/>
          </p:cNvSpPr>
          <p:nvPr>
            <p:ph type="body" idx="101" hasCustomPrompt="1"/>
          </p:nvPr>
        </p:nvSpPr>
        <p:spPr>
          <a:xfrm>
            <a:off x="731520" y="3840480"/>
            <a:ext cx="10698480" cy="1097280"/>
          </a:xfrm>
          <a:prstGeom prst="rect">
            <a:avLst/>
          </a:prstGeom>
          <a:noFill/>
          <a:ln/>
        </p:spPr>
        <p:txBody>
          <a:bodyPr wrap="square" lIns="0" tIns="0" rIns="0" bIns="0" rtlCol="0" anchor="t"/>
          <a:lstStyle/>
          <a:p>
            <a:pPr marL="0" indent="0">
              <a:spcAft>
                <a:spcPts val="1000"/>
              </a:spcAft>
              <a:buNone/>
            </a:pPr>
            <a:r>
              <a:rPr lang="en-US" sz="2000" dirty="0">
                <a:solidFill>
                  <a:schemeClr val="accent6"/>
                </a:solidFill>
              </a:rPr>
              <a:t>Sales: monthly forecast and help following up school debtors</a:t>
            </a:r>
            <a:endParaRPr lang="en-US" sz="2000" dirty="0"/>
          </a:p>
          <a:p>
            <a:pPr marL="0" indent="0">
              <a:spcAft>
                <a:spcPts val="1000"/>
              </a:spcAft>
              <a:buNone/>
            </a:pPr>
            <a:r>
              <a:rPr lang="en-US" sz="2000" dirty="0">
                <a:solidFill>
                  <a:schemeClr val="accent6"/>
                </a:solidFill>
              </a:rPr>
              <a:t>Management: approval of the statutory remittance schedule and audit timeline</a:t>
            </a:r>
            <a:endParaRPr lang="en-US" sz="2000" dirty="0"/>
          </a:p>
          <a:p>
            <a:pPr marL="0" indent="0">
              <a:spcAft>
                <a:spcPts val="1000"/>
              </a:spcAft>
              <a:buNone/>
            </a:pPr>
            <a:r>
              <a:rPr lang="en-US" sz="2000" dirty="0">
                <a:solidFill>
                  <a:schemeClr val="accent6"/>
                </a:solidFill>
              </a:rPr>
              <a:t>Managers: KPI assessments, training time and cross-department hosts</a:t>
            </a:r>
            <a:endParaRPr lang="en-US" sz="2000" dirty="0"/>
          </a:p>
          <a:p>
            <a:pPr marL="0" indent="0">
              <a:spcAft>
                <a:spcPts val="1000"/>
              </a:spcAft>
              <a:buNone/>
            </a:pPr>
            <a:r>
              <a:rPr lang="en-US" sz="2000" dirty="0">
                <a:solidFill>
                  <a:schemeClr val="accent6"/>
                </a:solidFill>
              </a:rPr>
              <a:t>All departments: timely approvals and documents for month-end close</a:t>
            </a:r>
            <a:endParaRPr lang="en-US" sz="2000" dirty="0"/>
          </a:p>
        </p:txBody>
      </p:sp>
    </p:spTree>
  </p:cSld>
  <p:clrMapOvr>
    <a:masterClrMapping/>
  </p:clrMapOvr>
</p:sld>
</file>

<file path=ppt/theme/theme1.xml><?xml version="1.0" encoding="utf-8"?>
<a:theme xmlns:a="http://schemas.openxmlformats.org/drawingml/2006/main" name="LoHo FinOps">
  <a:themeElements>
    <a:clrScheme name="LoHo FinOps">
      <a:dk1>
        <a:srgbClr val="13262B"/>
      </a:dk1>
      <a:lt1>
        <a:srgbClr val="FFFFFF"/>
      </a:lt1>
      <a:dk2>
        <a:srgbClr val="0B3C49"/>
      </a:dk2>
      <a:lt2>
        <a:srgbClr val="EEF4F3"/>
      </a:lt2>
      <a:accent1>
        <a:srgbClr val="1B7F79"/>
      </a:accent1>
      <a:accent2>
        <a:srgbClr val="F2A541"/>
      </a:accent2>
      <a:accent3>
        <a:srgbClr val="D1495B"/>
      </a:accent3>
      <a:accent4>
        <a:srgbClr val="6B8F71"/>
      </a:accent4>
      <a:accent5>
        <a:srgbClr val="5C7C8A"/>
      </a:accent5>
      <a:accent6>
        <a:srgbClr val="A8C5C0"/>
      </a:accent6>
      <a:hlink>
        <a:srgbClr val="1B7F79"/>
      </a:hlink>
      <a:folHlink>
        <a:srgbClr val="5C7C8A"/>
      </a:folHlink>
    </a:clrScheme>
    <a:fontScheme name="LoHo Fin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1142</Words>
  <Application>Microsoft Office PowerPoint</Application>
  <PresentationFormat>Widescreen</PresentationFormat>
  <Paragraphs>174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LoHo FinOps</vt:lpstr>
      <vt:lpstr>Finance &amp; Operations: Q1 review and Q2 outlook</vt:lpstr>
      <vt:lpstr>Q1: sales reached 63% of target</vt:lpstr>
      <vt:lpstr>Sales by line</vt:lpstr>
      <vt:lpstr>Q1 P&amp;L</vt:lpstr>
      <vt:lpstr>PowerPoint Presentation</vt:lpstr>
      <vt:lpstr>Liquidity: obligations far exceed cash</vt:lpstr>
      <vt:lpstr>Q2 priorities (October to December 2026)</vt:lpstr>
      <vt:lpstr>Q2 revenue focus</vt:lpstr>
      <vt:lpstr>Q2 : October to December</vt:lpstr>
    </vt:vector>
  </TitlesOfParts>
  <Company>LoHo Learning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&amp; Operations: Q1 FY2026/27 Review and Q2 Outlook</dc:title>
  <dc:subject>PptxGenJS Presentation</dc:subject>
  <dc:creator>Finance &amp; Operations</dc:creator>
  <cp:lastModifiedBy>Joyce Kihara</cp:lastModifiedBy>
  <cp:revision>6</cp:revision>
  <dcterms:created xsi:type="dcterms:W3CDTF">2026-10-08T11:23:17Z</dcterms:created>
  <dcterms:modified xsi:type="dcterms:W3CDTF">2026-10-08T12:10:27Z</dcterms:modified>
</cp:coreProperties>
</file>