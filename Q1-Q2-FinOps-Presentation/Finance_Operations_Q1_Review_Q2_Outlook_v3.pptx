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0" r:id="rId3"/>
    <p:sldId id="272" r:id="rId4"/>
    <p:sldId id="257" r:id="rId5"/>
    <p:sldId id="258" r:id="rId6"/>
    <p:sldId id="260" r:id="rId7"/>
    <p:sldId id="261" r:id="rId8"/>
    <p:sldId id="262" r:id="rId9"/>
    <p:sldId id="274" r:id="rId10"/>
    <p:sldId id="275" r:id="rId11"/>
    <p:sldId id="268" r:id="rId12"/>
    <p:sldId id="278" r:id="rId20"/>
    <p:sldId id="269" r:id="rId13"/>
    <p:sldId id="27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B35FF0-944E-83F7-FE77-5727E61F998B}">
          <p14:sldIdLst>
            <p14:sldId id="256"/>
            <p14:sldId id="270"/>
            <p14:sldId id="272"/>
            <p14:sldId id="257"/>
          </p14:sldIdLst>
        </p14:section>
        <p14:section name="Q1 review" id="{6E0CA945-EB0F-0C0B-B8C5-FE2937E5689F}">
          <p14:sldIdLst>
            <p14:sldId id="258"/>
          </p14:sldIdLst>
        </p14:section>
        <p14:section name="Finance" id="{EFB5C043-039C-1C78-DCCA-37927BF45555}">
          <p14:sldIdLst>
            <p14:sldId id="260"/>
            <p14:sldId id="261"/>
            <p14:sldId id="262"/>
            <p14:sldId id="274"/>
            <p14:sldId id="275"/>
          </p14:sldIdLst>
        </p14:section>
        <p14:section name="Q2 outlook" id="{14CF850D-0424-750A-5740-8FFB9895F78F}">
          <p14:sldIdLst>
            <p14:sldId id="268"/>
            <p14:sldId id="269"/>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2" d="100"/>
          <a:sy n="42" d="100"/>
        </p:scale>
        <p:origin x="76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col"/>
        <c:grouping val="clustered"/>
        <c:varyColors val="0"/>
        <c:ser>
          <c:idx val="0"/>
          <c:order val="0"/>
          <c:tx>
            <c:strRef>
              <c:f>Sheet1!$B$1</c:f>
              <c:strCache>
                <c:ptCount val="1"/>
                <c:pt idx="0">
                  <c:v>Q1 target</c:v>
                </c:pt>
              </c:strCache>
            </c:strRef>
          </c:tx>
          <c:spPr>
            <a:solidFill>
              <a:srgbClr val="A8C5C0"/>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Sheet1!$B$2:$B$5</c:f>
              <c:numCache>
                <c:formatCode>General</c:formatCode>
                <c:ptCount val="4"/>
                <c:pt idx="0">
                  <c:v>0.92300000000000004</c:v>
                </c:pt>
                <c:pt idx="1">
                  <c:v>3.85</c:v>
                </c:pt>
                <c:pt idx="2">
                  <c:v>1.2004999999999999</c:v>
                </c:pt>
                <c:pt idx="3">
                  <c:v>0</c:v>
                </c:pt>
              </c:numCache>
            </c:numRef>
          </c:val>
          <c:extLst>
            <c:ext xmlns:c16="http://schemas.microsoft.com/office/drawing/2014/chart" uri="{C3380CC4-5D6E-409C-BE32-E72D297353CC}">
              <c16:uniqueId val="{00000000-27BC-4E26-9987-8BE537D0422A}"/>
            </c:ext>
          </c:extLst>
        </c:ser>
        <c:ser>
          <c:idx val="1"/>
          <c:order val="1"/>
          <c:tx>
            <c:strRef>
              <c:f>Sheet1!$C$1</c:f>
              <c:strCache>
                <c:ptCount val="1"/>
                <c:pt idx="0">
                  <c:v>Q1 achieved</c:v>
                </c:pt>
              </c:strCache>
            </c:strRef>
          </c:tx>
          <c:spPr>
            <a:solidFill>
              <a:srgbClr val="1B7F79"/>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Sheet1!$C$2:$C$5</c:f>
              <c:numCache>
                <c:formatCode>General</c:formatCode>
                <c:ptCount val="4"/>
                <c:pt idx="0">
                  <c:v>1.359</c:v>
                </c:pt>
                <c:pt idx="1">
                  <c:v>0.82</c:v>
                </c:pt>
                <c:pt idx="2">
                  <c:v>0.107</c:v>
                </c:pt>
                <c:pt idx="3">
                  <c:v>1.5</c:v>
                </c:pt>
              </c:numCache>
            </c:numRef>
          </c:val>
          <c:extLst>
            <c:ext xmlns:c16="http://schemas.microsoft.com/office/drawing/2014/chart" uri="{C3380CC4-5D6E-409C-BE32-E72D297353CC}">
              <c16:uniqueId val="{00000001-27BC-4E26-9987-8BE537D042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D9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bar"/>
        <c:grouping val="clustered"/>
        <c:varyColors val="0"/>
        <c:ser>
          <c:idx val="0"/>
          <c:order val="0"/>
          <c:tx>
            <c:strRef>
              <c:f>Sheet1!$B$1</c:f>
              <c:strCache>
                <c:ptCount val="1"/>
                <c:pt idx="0">
                  <c:v>Q1 operating costs</c:v>
                </c:pt>
              </c:strCache>
            </c:strRef>
          </c:tx>
          <c:spPr>
            <a:solidFill>
              <a:srgbClr val="1B7F79"/>
            </a:solidFill>
            <a:effectLst/>
          </c:spPr>
          <c:invertIfNegative val="0"/>
          <c:dLbls>
            <c:numFmt formatCode="0.0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Staff costs</c:v>
                </c:pt>
                <c:pt idx="1">
                  <c:v>Amortisation (software)</c:v>
                </c:pt>
                <c:pt idx="2">
                  <c:v>Other admin</c:v>
                </c:pt>
                <c:pt idx="3">
                  <c:v>Sales &amp; marketing</c:v>
                </c:pt>
                <c:pt idx="4">
                  <c:v>Telephone &amp; internet</c:v>
                </c:pt>
                <c:pt idx="5">
                  <c:v>Depreciation &amp; repairs</c:v>
                </c:pt>
              </c:strCache>
            </c:strRef>
          </c:cat>
          <c:val>
            <c:numRef>
              <c:f>Sheet1!$B$2:$B$7</c:f>
              <c:numCache>
                <c:formatCode>General</c:formatCode>
                <c:ptCount val="6"/>
                <c:pt idx="0">
                  <c:v>2.1059999999999999</c:v>
                </c:pt>
                <c:pt idx="1">
                  <c:v>1.8819999999999999</c:v>
                </c:pt>
                <c:pt idx="2">
                  <c:v>0.90300000000000002</c:v>
                </c:pt>
                <c:pt idx="3">
                  <c:v>0.26200000000000001</c:v>
                </c:pt>
                <c:pt idx="4">
                  <c:v>3.5000000000000003E-2</c:v>
                </c:pt>
                <c:pt idx="5">
                  <c:v>1.4999999999999999E-2</c:v>
                </c:pt>
              </c:numCache>
            </c:numRef>
          </c:val>
          <c:extLst>
            <c:ext xmlns:c16="http://schemas.microsoft.com/office/drawing/2014/chart" uri="{C3380CC4-5D6E-409C-BE32-E72D297353CC}">
              <c16:uniqueId val="{00000000-9681-4762-B227-8933323F263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2.6"/>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0">
                <a:solidFill>
                  <a:srgbClr val="5C7C8A"/>
                </a:solidFill>
              </a:rPr>
              <a:t>KES millions</a:t>
            </a:r>
          </a:p>
        </c:rich>
      </c:tx>
      <c:layout/>
      <c:overlay val="0"/>
    </c:title>
    <c:autoTitleDeleted val="0"/>
    <c:plotArea>
      <c:layout/>
      <c:barChart>
        <c:barDir val="col"/>
        <c:grouping val="clustered"/>
        <c:varyColors val="1"/>
        <c:ser>
          <c:idx val="0"/>
          <c:order val="0"/>
          <c:tx>
            <c:strRef>
              <c:f>Sheet1!$B$1</c:f>
              <c:strCache>
                <c:ptCount val="1"/>
                <c:pt idx="0">
                  <c:v>Q1 achieved</c:v>
                </c:pt>
              </c:strCache>
            </c:strRef>
          </c:tx>
          <c:spPr>
            <a:solidFill>
              <a:srgbClr val="A8C5C0"/>
            </a:solidFill>
          </c:spPr>
          <c:invertIfNegative val="1"/>
          <c:dLbls>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CaaS eBooks</c:v>
                </c:pt>
                <c:pt idx="1">
                  <c:v>Elimu Pepe</c:v>
                </c:pt>
                <c:pt idx="2">
                  <c:v>LoHo Devices</c:v>
                </c:pt>
                <c:pt idx="3">
                  <c:v>LoHo Campus</c:v>
                </c:pt>
                <c:pt idx="4">
                  <c:v>MTN Academy (Ug)</c:v>
                </c:pt>
              </c:strCache>
            </c:strRef>
          </c:cat>
          <c:val>
            <c:numRef>
              <c:f>Sheet1!$B$2:$B$6</c:f>
              <c:numCache>
                <c:formatCode>General</c:formatCode>
                <c:ptCount val="5"/>
                <c:pt idx="0">
                  <c:v>1.359</c:v>
                </c:pt>
                <c:pt idx="1">
                  <c:v>0.82</c:v>
                </c:pt>
                <c:pt idx="2">
                  <c:v>0.107</c:v>
                </c:pt>
                <c:pt idx="3">
                  <c:v>0</c:v>
                </c:pt>
                <c:pt idx="4">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58E-461A-96B4-17CBE181EE84}"/>
            </c:ext>
          </c:extLst>
        </c:ser>
        <c:ser>
          <c:idx val="1"/>
          <c:order val="1"/>
          <c:tx>
            <c:strRef>
              <c:f>Sheet1!$C$1</c:f>
              <c:strCache>
                <c:ptCount val="1"/>
                <c:pt idx="0">
                  <c:v>Q2 target</c:v>
                </c:pt>
              </c:strCache>
            </c:strRef>
          </c:tx>
          <c:spPr>
            <a:solidFill>
              <a:srgbClr val="1B7F79"/>
            </a:solidFill>
          </c:spPr>
          <c:invertIfNegative val="1"/>
          <c:dLbls>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CaaS eBooks</c:v>
                </c:pt>
                <c:pt idx="1">
                  <c:v>Elimu Pepe</c:v>
                </c:pt>
                <c:pt idx="2">
                  <c:v>LoHo Devices</c:v>
                </c:pt>
                <c:pt idx="3">
                  <c:v>LoHo Campus</c:v>
                </c:pt>
                <c:pt idx="4">
                  <c:v>MTN Academy (Ug)</c:v>
                </c:pt>
              </c:strCache>
            </c:strRef>
          </c:cat>
          <c:val>
            <c:numRef>
              <c:f>Sheet1!$C$2:$C$6</c:f>
              <c:numCache>
                <c:formatCode>General</c:formatCode>
                <c:ptCount val="5"/>
                <c:pt idx="0">
                  <c:v>3.1469999999999998</c:v>
                </c:pt>
                <c:pt idx="1">
                  <c:v>13.625999999999999</c:v>
                </c:pt>
                <c:pt idx="2">
                  <c:v>4.9065000000000003</c:v>
                </c:pt>
                <c:pt idx="3">
                  <c:v>3.9064999999999999</c:v>
                </c:pt>
                <c:pt idx="4">
                  <c:v>2.9420000000000002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58E-461A-96B4-17CBE181EE84}"/>
            </c:ext>
          </c:extLst>
        </c:ser>
        <c:dLbls>
          <c:dLblPos val="outEnd"/>
          <c:showLegendKey val="0"/>
          <c:showVal val="1"/>
          <c:showCatName val="0"/>
          <c:showSerName val="0"/>
          <c:showPercent val="0"/>
          <c:showBubbleSize val="0"/>
        </c:dLbls>
        <c:gapWidth val="8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E3E1"/>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6"/>
          <c:min val="0"/>
        </c:scaling>
        <c:delete val="0"/>
        <c:axPos val="l"/>
        <c:majorGridlines>
          <c:spPr>
            <a:ln>
              <a:solidFill>
                <a:srgbClr val="D9E3E1"/>
              </a:solidFill>
            </a:ln>
          </c:spPr>
        </c:majorGridlines>
        <c:numFmt formatCode="General" sourceLinked="1"/>
        <c:majorTickMark val="out"/>
        <c:minorTickMark val="none"/>
        <c:tickLblPos val="nextTo"/>
        <c:spPr>
          <a:ln>
            <a:noFill/>
          </a:ln>
        </c:spPr>
        <c:txPr>
          <a:bodyPr/>
          <a:lstStyle/>
          <a:p>
            <a:pPr>
              <a:defRPr sz="1100">
                <a:solidFill>
                  <a:srgbClr val="5C7C8A"/>
                </a:solidFill>
              </a:defRPr>
            </a:pPr>
            <a:endParaRPr lang="en-US"/>
          </a:p>
        </c:txPr>
        <c:crossAx val="-2068027336"/>
        <c:crosses val="autoZero"/>
        <c:crossBetween val="between"/>
      </c:valAx>
    </c:plotArea>
    <c:legend>
      <c:legendPos val="b"/>
      <c:layout/>
      <c:overlay val="0"/>
      <c:txPr>
        <a:bodyPr/>
        <a:lstStyle/>
        <a:p>
          <a:pPr>
            <a:defRPr sz="120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96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review Q1 results across sales, finance and people operations, then agree Q2 priorities and the decisions needed. Allow about 25 minutes plus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strategic objectives and measures from the Q1 KPI Status for Finance and Operations. We own 21 breakthrough actions across five objectives, plus F2 (fundraising data room). The strategy document itself did not arrive as a separate file; objectives and measures here come from the KPI status report. Check wording against the strategy.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Objective 1.4. Measures: cash runway visibility of at least 6 months and 50% of B2B invoices paid within 30 days. The 95% collections discipline target is not yet reached: over 80% of receivables are under 90 days overdue. Next step is to reconcile debtor balances and agree accounts for escalation. The financial results that follow explain the numbers behind these actions.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63.4% of target, KES 2.19M short. Be clear that the operating result is a management view from the chart of accounts, unaudited and before tax. The point to land: revenue is concentrated in two lines, and the two lines that missed are the ones with the largest targets.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Elimu Pepe carried 64% of the total target (KES 3.85M of 5.97M), so its miss explains most of the gap. MTN Academy had no target; without it the quarter would have been KES 2.29M, or 38% of target. Do not name individual staff on screen; keep staff-level results for the sales head.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Q1 net changes from the chart of accounts. Amortisation: KES 1.88M in administration plus KES 0.13M in cost of sales (software). The cash-basis loss is an approximation to show the operating gap excluding non-cash charges. Check: 3,786,384 - 1,647,622 = 2,138,762; opex 5,202,977.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shares of KES 5,202,977 operating costs. Bank charges of KES 83K in a quarter are high relative to cash held; worth a check on tariffs and the number of accounts.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what the payroll payables of KES 19.3M are made of: net salary control 3.33M, payroll payables 11.68M and statutory control accounts about 4.2M. Several statutory accounts show no Q1 movement, so check with payroll whether remittances were posted. Do not present these as arrears until confirmed.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worked, what did not, what we carry forward or change. About one minute per column.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 target of 28,527,848 is 7.5 times Q1 actual sales (3,786,348) and 4.8 times the Q1 target (5,973,500). Monthly: Oct 8,185,000; Nov 9,121,000; Dec 11,221,848. Campus had no Q1 sales and now carries KES 3.9M. Finance angle: set a cash and cost plan against this ramp, and ask Sales for the pipeline behind Elimu Pepe.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Q2 sales target by line and month from the revenue target workbook: total KES 28,527,848 (October 8.185M, November 9.121M, December 11.222M). Q1 achieved was KES 3,786,348, so the Q2 target is 7.5 times Q1. Elimu Pepe is 48% of the target and needs a 16.6 times step-up. Devices needs 45.7 times. Campus had no Q1 sales. MTN Academy is billed in December only. Ask Sales for the pipeline behind each 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inside each month are not fixed in the source documents. Add owners and dates once the team agrees.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by asking each owner to confirm. Then open for questions.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we will deliver, who owns it, by when, how success is measured, and what we need from others. Next steps come from the Q1 KPI Status and the Q2 sales target. Owners, dates and measures are proposals; edit before presenting.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LoHo Learning  |  Finance &amp; Operations  |  Q1 FY2026/27 review, Q2 outlook</a:t>
            </a:r>
            <a:endParaRPr lang="en-US" sz="1000" dirty="0"/>
          </a:p>
        </p:txBody>
      </p:sp>
      <p:sp>
        <p:nvSpPr>
          <p:cNvPr id="3" name="Text 1"/>
          <p:cNvSpPr>
            <a:spLocks noGrp="1"/>
          </p:cNvSpPr>
          <p:nvPr>
            <p:ph type="title" idx="101" hasCustomPrompt="1"/>
          </p:nvPr>
        </p:nvSpPr>
        <p:spPr>
          <a:xfrm>
            <a:off x="548640" y="320040"/>
            <a:ext cx="11064240" cy="82296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Finance &amp; Operations: Q1 review and Q2 outlook</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buNone/>
            </a:pPr>
            <a:r>
              <a:rPr lang="en-US" sz="2000" dirty="0">
                <a:solidFill>
                  <a:schemeClr val="accent6"/>
                </a:solidFill>
              </a:rPr>
              <a:t>Q1 FY2026/27 (July to September 2026)  |  Outlook: October to December 2026</a:t>
            </a:r>
            <a:endParaRPr lang="en-US" sz="2000" dirty="0"/>
          </a:p>
          <a:p>
            <a:pPr marL="0" indent="0">
              <a:buNone/>
            </a:pPr>
            <a:r>
              <a:rPr lang="en-US" sz="2000" dirty="0">
                <a:solidFill>
                  <a:schemeClr val="accent6"/>
                </a:solidFill>
              </a:rPr>
              <a:t>LoHo Learning Limited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FY26/27 </a:t>
            </a:r>
            <a:r>
              <a:rPr lang="en-US" sz="3200" b="1" dirty="0" smtClean="0">
                <a:solidFill>
                  <a:schemeClr val="tx2"/>
                </a:solidFill>
                <a:latin typeface="Cambria" pitchFamily="34" charset="0"/>
                <a:ea typeface="Cambria" pitchFamily="34" charset="-122"/>
                <a:cs typeface="Cambria" pitchFamily="34" charset="-120"/>
              </a:rPr>
              <a:t>strategy</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1  FY26/27 STRATEGY REVIEW</a:t>
            </a:r>
          </a:p>
        </p:txBody>
      </p:sp>
      <p:graphicFrame>
        <p:nvGraphicFramePr>
          <p:cNvPr id="27" name="Strategy objectives table"/>
          <p:cNvGraphicFramePr>
            <a:graphicFrameLocks noGrp="1"/>
          </p:cNvGraphicFramePr>
          <p:nvPr>
            <p:extLst>
              <p:ext uri="{D42A27DB-BD31-4B8C-83A1-F6EECF244321}">
                <p14:modId xmlns:p14="http://schemas.microsoft.com/office/powerpoint/2010/main" val="2163485437"/>
              </p:ext>
            </p:extLst>
          </p:nvPr>
        </p:nvGraphicFramePr>
        <p:xfrm>
          <a:off x="548640" y="1371600"/>
          <a:ext cx="11091671" cy="4114800"/>
        </p:xfrm>
        <a:graphic>
          <a:graphicData uri="http://schemas.openxmlformats.org/drawingml/2006/table">
            <a:tbl>
              <a:tblPr>
                <a:tableStyleId>{2D5ABB26-0587-4C30-8999-92F81FD0307C}</a:tableStyleId>
              </a:tblPr>
              <a:tblGrid>
                <a:gridCol w="4023360">
                  <a:extLst>
                    <a:ext uri="{9D8B030D-6E8A-4147-A177-3AD203B41FA5}">
                      <a16:colId xmlns:a16="http://schemas.microsoft.com/office/drawing/2014/main" val="20000"/>
                    </a:ext>
                  </a:extLst>
                </a:gridCol>
                <a:gridCol w="7068311">
                  <a:extLst>
                    <a:ext uri="{9D8B030D-6E8A-4147-A177-3AD203B41FA5}">
                      <a16:colId xmlns:a16="http://schemas.microsoft.com/office/drawing/2014/main" val="20001"/>
                    </a:ext>
                  </a:extLst>
                </a:gridCol>
              </a:tblGrid>
              <a:tr h="685800">
                <a:tc>
                  <a:txBody>
                    <a:bodyPr/>
                    <a:lstStyle/>
                    <a:p>
                      <a:r>
                        <a:rPr sz="1400" b="1">
                          <a:solidFill>
                            <a:srgbClr val="FFFFFF"/>
                          </a:solidFill>
                        </a:rPr>
                        <a:t>Objective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400" b="1">
                          <a:solidFill>
                            <a:srgbClr val="FFFFFF"/>
                          </a:solidFill>
                        </a:rPr>
                        <a:t>Measures we are held to</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extLst>
                  <a:ext uri="{0D108BD9-81ED-4DB2-BD59-A6C34878D82A}">
                    <a16:rowId xmlns:a16="http://schemas.microsoft.com/office/drawing/2014/main" val="10000"/>
                  </a:ext>
                </a:extLst>
              </a:tr>
              <a:tr h="685800">
                <a:tc>
                  <a:txBody>
                    <a:bodyPr/>
                    <a:lstStyle/>
                    <a:p>
                      <a:r>
                        <a:rPr sz="1400" b="1">
                          <a:solidFill>
                            <a:srgbClr val="13262B"/>
                          </a:solidFill>
                        </a:rPr>
                        <a:t>1.4  Financial resilience and investor readiness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Cash runway visibility of at least 6 months; 50% of B2B invoices paid within 30 days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1"/>
                  </a:ext>
                </a:extLst>
              </a:tr>
              <a:tr h="685800">
                <a:tc>
                  <a:txBody>
                    <a:bodyPr/>
                    <a:lstStyle/>
                    <a:p>
                      <a:r>
                        <a:rPr sz="1400" b="1">
                          <a:solidFill>
                            <a:srgbClr val="13262B"/>
                          </a:solidFill>
                        </a:rPr>
                        <a:t>4.1  Safe and responsible work culture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Escalations resolved in SLA; tasks completed on time; 100% team participation per cycle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2"/>
                  </a:ext>
                </a:extLst>
              </a:tr>
              <a:tr h="685800">
                <a:tc>
                  <a:txBody>
                    <a:bodyPr/>
                    <a:lstStyle/>
                    <a:p>
                      <a:r>
                        <a:rPr sz="1400" b="1">
                          <a:solidFill>
                            <a:srgbClr val="13262B"/>
                          </a:solidFill>
                        </a:rPr>
                        <a:t>4.2  Revenue-linked, equitable incentive programme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eNPS of at least 50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3"/>
                  </a:ext>
                </a:extLst>
              </a:tr>
              <a:tr h="685800">
                <a:tc>
                  <a:txBody>
                    <a:bodyPr/>
                    <a:lstStyle/>
                    <a:p>
                      <a:r>
                        <a:rPr sz="1400" b="1">
                          <a:solidFill>
                            <a:srgbClr val="13262B"/>
                          </a:solidFill>
                        </a:rPr>
                        <a:t>4.3  Capability: onboarding, succession, talent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Internal SLA compliance at least 90%; OKR achievement at least 70%; quarterly review completion at least 95%</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4"/>
                  </a:ext>
                </a:extLst>
              </a:tr>
              <a:tr h="685800">
                <a:tc>
                  <a:txBody>
                    <a:bodyPr/>
                    <a:lstStyle/>
                    <a:p>
                      <a:r>
                        <a:rPr sz="1400" b="1">
                          <a:solidFill>
                            <a:srgbClr val="13262B"/>
                          </a:solidFill>
                        </a:rPr>
                        <a:t>4.4  Rigorous performance management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80% staff retention; internal promotion at least 30% of open roles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Financial resilience: all four actions on plan</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graphicFrame>
        <p:nvGraphicFramePr>
          <p:cNvPr id="27" name="Financial resilience table"/>
          <p:cNvGraphicFramePr>
            <a:graphicFrameLocks noGrp="1"/>
          </p:cNvGraphicFramePr>
          <p:nvPr/>
        </p:nvGraphicFramePr>
        <p:xfrm>
          <a:off x="548640" y="1371600"/>
          <a:ext cx="11091672" cy="38862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tblGrid>
              <a:tr h="777240">
                <a:tc>
                  <a:txBody>
                    <a:bodyPr/>
                    <a:lstStyle/>
                    <a:p>
                      <a:r>
                        <a:rPr sz="1400" b="1">
                          <a:solidFill>
                            <a:srgbClr val="FFFFFF"/>
                          </a:solidFill>
                        </a:rPr>
                        <a:t>Action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400" b="1">
                          <a:solidFill>
                            <a:srgbClr val="FFFFFF"/>
                          </a:solidFill>
                        </a:rPr>
                        <a:t>Target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400" b="1">
                          <a:solidFill>
                            <a:srgbClr val="FFFFFF"/>
                          </a:solidFill>
                        </a:rPr>
                        <a:t>Q1 achieved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400" b="1">
                          <a:solidFill>
                            <a:srgbClr val="FFFFFF"/>
                          </a:solidFill>
                        </a:rPr>
                        <a:t>Status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extLst>
                  <a:ext uri="{0D108BD9-81ED-4DB2-BD59-A6C34878D82A}">
                    <a16:rowId xmlns:a16="http://schemas.microsoft.com/office/drawing/2014/main" val="10000"/>
                  </a:ext>
                </a:extLst>
              </a:tr>
              <a:tr h="777240">
                <a:tc>
                  <a:txBody>
                    <a:bodyPr/>
                    <a:lstStyle/>
                    <a:p>
                      <a:r>
                        <a:rPr sz="1400" b="1">
                          <a:solidFill>
                            <a:srgbClr val="13262B"/>
                          </a:solidFill>
                        </a:rPr>
                        <a:t>1.4.1  Cash runway monitoring</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Runway visibility of 6 months or more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Cash position report to the CEO every mid-month</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b="1" dirty="0">
                          <a:solidFill>
                            <a:srgbClr val="1B7F79"/>
                          </a:solidFill>
                        </a:rPr>
                        <a:t>On plan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1"/>
                  </a:ext>
                </a:extLst>
              </a:tr>
              <a:tr h="777240">
                <a:tc>
                  <a:txBody>
                    <a:bodyPr/>
                    <a:lstStyle/>
                    <a:p>
                      <a:r>
                        <a:rPr sz="1400" b="1">
                          <a:solidFill>
                            <a:srgbClr val="13262B"/>
                          </a:solidFill>
                        </a:rPr>
                        <a:t>1.4.2  Rolling 12-month forecast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Monthly board visibility</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Sales tracker records revenue daily against targets; weekly Monday report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b="1">
                          <a:solidFill>
                            <a:srgbClr val="1B7F79"/>
                          </a:solidFill>
                        </a:rPr>
                        <a:t>On plan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2"/>
                  </a:ext>
                </a:extLst>
              </a:tr>
              <a:tr h="777240">
                <a:tc>
                  <a:txBody>
                    <a:bodyPr/>
                    <a:lstStyle/>
                    <a:p>
                      <a:r>
                        <a:rPr sz="1400" b="1">
                          <a:solidFill>
                            <a:srgbClr val="13262B"/>
                          </a:solidFill>
                        </a:rPr>
                        <a:t>1.4.3  Collections discipline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95% collections discipline; 50% of invoices paid in 30 days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Over 80% of receivables under 90 days overdue (September 2026)</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b="1">
                          <a:solidFill>
                            <a:srgbClr val="1B7F79"/>
                          </a:solidFill>
                        </a:rPr>
                        <a:t>On plan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3"/>
                  </a:ext>
                </a:extLst>
              </a:tr>
              <a:tr h="777240">
                <a:tc>
                  <a:txBody>
                    <a:bodyPr/>
                    <a:lstStyle/>
                    <a:p>
                      <a:r>
                        <a:rPr sz="1400" b="1">
                          <a:solidFill>
                            <a:srgbClr val="13262B"/>
                          </a:solidFill>
                        </a:rPr>
                        <a:t>F2  Fundraising data room</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Documents ready in Q1</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a:solidFill>
                            <a:srgbClr val="13262B"/>
                          </a:solidFill>
                        </a:rPr>
                        <a:t>Documents consolidated and kept updated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400" b="1" dirty="0">
                          <a:solidFill>
                            <a:srgbClr val="1B7F79"/>
                          </a:solidFill>
                        </a:rPr>
                        <a:t>On plan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4"/>
                  </a:ext>
                </a:extLst>
              </a:tr>
            </a:tbl>
          </a:graphicData>
        </a:graphic>
      </p:graphicFrame>
      <p:sp>
        <p:nvSpPr>
          <p:cNvPr id="28" name="Next step note"/>
          <p:cNvSpPr txBox="1"/>
          <p:nvPr/>
        </p:nvSpPr>
        <p:spPr>
          <a:xfrm>
            <a:off x="548640" y="5440680"/>
            <a:ext cx="11064240" cy="457200"/>
          </a:xfrm>
          <a:prstGeom prst="rect">
            <a:avLst/>
          </a:prstGeom>
          <a:noFill/>
        </p:spPr>
        <p:txBody>
          <a:bodyPr wrap="square" lIns="0" tIns="0" rIns="0" bIns="0" anchor="t">
            <a:spAutoFit/>
          </a:bodyPr>
          <a:lstStyle/>
          <a:p>
            <a:r>
              <a:rPr sz="1400" b="1" dirty="0">
                <a:solidFill>
                  <a:schemeClr val="tx2"/>
                </a:solidFill>
              </a:rPr>
              <a:t>Next: reconcile debtor balances, agree accounts for escalation and set a dated recovery milestone, reviewed bi-weekly.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smtClean="0">
                <a:solidFill>
                  <a:schemeClr val="tx2"/>
                </a:solidFill>
                <a:latin typeface="Cambria" pitchFamily="34" charset="0"/>
                <a:ea typeface="Cambria" pitchFamily="34" charset="-122"/>
                <a:cs typeface="Cambria" pitchFamily="34" charset="-120"/>
              </a:rPr>
              <a:t>Q1: </a:t>
            </a:r>
            <a:r>
              <a:rPr lang="en-US" dirty="0" smtClean="0"/>
              <a:t>Revenue</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reached 63% of target</a:t>
            </a:r>
            <a:endParaRPr lang="en-US" sz="3200" dirty="0"/>
          </a:p>
        </p:txBody>
      </p:sp>
      <p:sp>
        <p:nvSpPr>
          <p:cNvPr id="3" name="Sales card"/>
          <p:cNvSpPr/>
          <p:nvPr/>
        </p:nvSpPr>
        <p:spPr>
          <a:xfrm>
            <a:off x="548640" y="1463040"/>
            <a:ext cx="2651760" cy="1828800"/>
          </a:xfrm>
          <a:prstGeom prst="roundRect">
            <a:avLst>
              <a:gd name="adj" fmla="val 6000"/>
            </a:avLst>
          </a:prstGeom>
          <a:solidFill>
            <a:schemeClr val="bg2"/>
          </a:solidFill>
          <a:ln w="12700">
            <a:solidFill>
              <a:schemeClr val="bg2"/>
            </a:solidFill>
            <a:prstDash val="solid"/>
          </a:ln>
        </p:spPr>
      </p:sp>
      <p:sp>
        <p:nvSpPr>
          <p:cNvPr id="4" name="Sales value"/>
          <p:cNvSpPr txBox="1"/>
          <p:nvPr/>
        </p:nvSpPr>
        <p:spPr>
          <a:xfrm>
            <a:off x="777240" y="17068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3.79M</a:t>
            </a:r>
            <a:endParaRPr lang="en-US" sz="3200" dirty="0"/>
          </a:p>
        </p:txBody>
      </p:sp>
      <p:sp>
        <p:nvSpPr>
          <p:cNvPr id="5" name="Sales label"/>
          <p:cNvSpPr txBox="1"/>
          <p:nvPr/>
        </p:nvSpPr>
        <p:spPr>
          <a:xfrm>
            <a:off x="77724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Q1 sales</a:t>
            </a:r>
            <a:endParaRPr lang="en-US" sz="1600" dirty="0"/>
          </a:p>
        </p:txBody>
      </p:sp>
      <p:sp>
        <p:nvSpPr>
          <p:cNvPr id="6" name="Sales note"/>
          <p:cNvSpPr txBox="1"/>
          <p:nvPr/>
        </p:nvSpPr>
        <p:spPr>
          <a:xfrm>
            <a:off x="77724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Target KES 5.97M (63.4%)</a:t>
            </a:r>
            <a:endParaRPr lang="en-US" sz="1200" dirty="0"/>
          </a:p>
        </p:txBody>
      </p:sp>
      <p:sp>
        <p:nvSpPr>
          <p:cNvPr id="7" name="Shortfall card"/>
          <p:cNvSpPr/>
          <p:nvPr/>
        </p:nvSpPr>
        <p:spPr>
          <a:xfrm>
            <a:off x="3383280" y="1463040"/>
            <a:ext cx="2651760" cy="1828800"/>
          </a:xfrm>
          <a:prstGeom prst="roundRect">
            <a:avLst>
              <a:gd name="adj" fmla="val 6000"/>
            </a:avLst>
          </a:prstGeom>
          <a:solidFill>
            <a:schemeClr val="bg2"/>
          </a:solidFill>
          <a:ln w="12700">
            <a:solidFill>
              <a:schemeClr val="bg2"/>
            </a:solidFill>
            <a:prstDash val="solid"/>
          </a:ln>
        </p:spPr>
      </p:sp>
      <p:sp>
        <p:nvSpPr>
          <p:cNvPr id="8" name="Shortfall value"/>
          <p:cNvSpPr txBox="1"/>
          <p:nvPr/>
        </p:nvSpPr>
        <p:spPr>
          <a:xfrm>
            <a:off x="3611880" y="164592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2.19M</a:t>
            </a:r>
            <a:endParaRPr lang="en-US" sz="3200" dirty="0"/>
          </a:p>
        </p:txBody>
      </p:sp>
      <p:sp>
        <p:nvSpPr>
          <p:cNvPr id="9" name="Shortfall label"/>
          <p:cNvSpPr txBox="1"/>
          <p:nvPr/>
        </p:nvSpPr>
        <p:spPr>
          <a:xfrm>
            <a:off x="361188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Shortfall to target</a:t>
            </a:r>
            <a:endParaRPr lang="en-US" sz="1600" dirty="0"/>
          </a:p>
        </p:txBody>
      </p:sp>
      <p:sp>
        <p:nvSpPr>
          <p:cNvPr id="10" name="Shortfall note"/>
          <p:cNvSpPr txBox="1"/>
          <p:nvPr/>
        </p:nvSpPr>
        <p:spPr>
          <a:xfrm>
            <a:off x="361188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Elimu Pepe and Devices: KES 4.12M short</a:t>
            </a:r>
            <a:endParaRPr lang="en-US" sz="1200" dirty="0"/>
          </a:p>
        </p:txBody>
      </p:sp>
      <p:sp>
        <p:nvSpPr>
          <p:cNvPr id="11" name="Headcount card"/>
          <p:cNvSpPr/>
          <p:nvPr/>
        </p:nvSpPr>
        <p:spPr>
          <a:xfrm>
            <a:off x="6217920" y="1463040"/>
            <a:ext cx="2651760" cy="1828800"/>
          </a:xfrm>
          <a:prstGeom prst="roundRect">
            <a:avLst>
              <a:gd name="adj" fmla="val 6000"/>
            </a:avLst>
          </a:prstGeom>
          <a:solidFill>
            <a:schemeClr val="bg2"/>
          </a:solidFill>
          <a:ln w="12700">
            <a:solidFill>
              <a:schemeClr val="bg2"/>
            </a:solidFill>
            <a:prstDash val="solid"/>
          </a:ln>
        </p:spPr>
      </p:sp>
      <p:sp>
        <p:nvSpPr>
          <p:cNvPr id="12" name="Headcount value"/>
          <p:cNvSpPr txBox="1"/>
          <p:nvPr/>
        </p:nvSpPr>
        <p:spPr>
          <a:xfrm>
            <a:off x="6446520" y="164592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17</a:t>
            </a:r>
            <a:endParaRPr lang="en-US" sz="3200" dirty="0"/>
          </a:p>
        </p:txBody>
      </p:sp>
      <p:sp>
        <p:nvSpPr>
          <p:cNvPr id="13" name="Headcount label"/>
          <p:cNvSpPr txBox="1"/>
          <p:nvPr/>
        </p:nvSpPr>
        <p:spPr>
          <a:xfrm>
            <a:off x="644652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Headcount</a:t>
            </a:r>
            <a:endParaRPr lang="en-US" sz="1600" dirty="0"/>
          </a:p>
        </p:txBody>
      </p:sp>
      <p:sp>
        <p:nvSpPr>
          <p:cNvPr id="14" name="Headcount note"/>
          <p:cNvSpPr txBox="1"/>
          <p:nvPr/>
        </p:nvSpPr>
        <p:spPr>
          <a:xfrm>
            <a:off x="644652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12 permanent, 5 consultants; +2, no exits</a:t>
            </a:r>
            <a:endParaRPr lang="en-US" sz="1200" dirty="0"/>
          </a:p>
        </p:txBody>
      </p:sp>
      <p:sp>
        <p:nvSpPr>
          <p:cNvPr id="15" name="Result card"/>
          <p:cNvSpPr/>
          <p:nvPr/>
        </p:nvSpPr>
        <p:spPr>
          <a:xfrm>
            <a:off x="9052560" y="1463040"/>
            <a:ext cx="2587752" cy="1828800"/>
          </a:xfrm>
          <a:prstGeom prst="roundRect">
            <a:avLst>
              <a:gd name="adj" fmla="val 6000"/>
            </a:avLst>
          </a:prstGeom>
          <a:solidFill>
            <a:schemeClr val="bg2"/>
          </a:solidFill>
          <a:ln w="12700">
            <a:solidFill>
              <a:schemeClr val="bg2"/>
            </a:solidFill>
            <a:prstDash val="solid"/>
          </a:ln>
        </p:spPr>
      </p:sp>
      <p:sp>
        <p:nvSpPr>
          <p:cNvPr id="16" name="Result value"/>
          <p:cNvSpPr txBox="1"/>
          <p:nvPr/>
        </p:nvSpPr>
        <p:spPr>
          <a:xfrm>
            <a:off x="9281160" y="164592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3.06M</a:t>
            </a:r>
            <a:endParaRPr lang="en-US" sz="3200" dirty="0"/>
          </a:p>
        </p:txBody>
      </p:sp>
      <p:sp>
        <p:nvSpPr>
          <p:cNvPr id="17" name="Result label"/>
          <p:cNvSpPr txBox="1"/>
          <p:nvPr/>
        </p:nvSpPr>
        <p:spPr>
          <a:xfrm>
            <a:off x="9281160" y="246888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Q1 operating result</a:t>
            </a:r>
            <a:endParaRPr lang="en-US" sz="1600" dirty="0"/>
          </a:p>
        </p:txBody>
      </p:sp>
      <p:sp>
        <p:nvSpPr>
          <p:cNvPr id="18" name="Result note"/>
          <p:cNvSpPr txBox="1"/>
          <p:nvPr/>
        </p:nvSpPr>
        <p:spPr>
          <a:xfrm>
            <a:off x="9281160" y="2761488"/>
            <a:ext cx="2130552" cy="411480"/>
          </a:xfrm>
          <a:prstGeom prst="rect">
            <a:avLst/>
          </a:prstGeom>
          <a:noFill/>
          <a:ln/>
        </p:spPr>
        <p:txBody>
          <a:bodyPr wrap="square" lIns="0" tIns="0" rIns="0" bIns="0" rtlCol="0" anchor="t"/>
          <a:lstStyle/>
          <a:p>
            <a:pPr marL="0" indent="0">
              <a:buNone/>
            </a:pPr>
            <a:endParaRPr lang="en-US" sz="1200" dirty="0"/>
          </a:p>
        </p:txBody>
      </p:sp>
      <p:sp>
        <p:nvSpPr>
          <p:cNvPr id="19" name="Takeaway panel"/>
          <p:cNvSpPr/>
          <p:nvPr/>
        </p:nvSpPr>
        <p:spPr>
          <a:xfrm>
            <a:off x="548640" y="3657600"/>
            <a:ext cx="11091672" cy="2103120"/>
          </a:xfrm>
          <a:prstGeom prst="roundRect">
            <a:avLst>
              <a:gd name="adj" fmla="val 5217"/>
            </a:avLst>
          </a:prstGeom>
          <a:solidFill>
            <a:schemeClr val="bg2"/>
          </a:solidFill>
          <a:ln w="12700">
            <a:solidFill>
              <a:schemeClr val="bg2"/>
            </a:solidFill>
            <a:prstDash val="solid"/>
          </a:ln>
        </p:spPr>
      </p:sp>
      <p:sp>
        <p:nvSpPr>
          <p:cNvPr id="20" name="Text 18"/>
          <p:cNvSpPr txBox="1"/>
          <p:nvPr/>
        </p:nvSpPr>
        <p:spPr>
          <a:xfrm>
            <a:off x="822960" y="384048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the numbers say</a:t>
            </a:r>
            <a:endParaRPr lang="en-US" sz="2000" dirty="0"/>
          </a:p>
        </p:txBody>
      </p:sp>
      <p:sp>
        <p:nvSpPr>
          <p:cNvPr id="21" name="Commentary"/>
          <p:cNvSpPr txBox="1"/>
          <p:nvPr/>
        </p:nvSpPr>
        <p:spPr>
          <a:xfrm>
            <a:off x="822960" y="4297680"/>
            <a:ext cx="10515600" cy="1371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CaaS eBooks (147% of target) and MTN Academy (KES 1.5M, unbudgeted) carried the quarter.</a:t>
            </a:r>
            <a:endParaRPr lang="en-US" sz="1600" dirty="0"/>
          </a:p>
          <a:p>
            <a:pPr marL="342900" indent="-342900">
              <a:spcAft>
                <a:spcPts val="1000"/>
              </a:spcAft>
              <a:buSzPct val="100000"/>
              <a:buChar char="•"/>
            </a:pPr>
            <a:r>
              <a:rPr lang="en-US" sz="1600" dirty="0">
                <a:solidFill>
                  <a:schemeClr val="tx1"/>
                </a:solidFill>
              </a:rPr>
              <a:t>Elimu Pepe (21%) and LoHo Devices (9%) are the recovery priority for Q2</a:t>
            </a:r>
            <a:r>
              <a:rPr lang="en-US" sz="1600" dirty="0" smtClean="0">
                <a:solidFill>
                  <a:schemeClr val="tx1"/>
                </a:solidFill>
              </a:rPr>
              <a: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Sales by </a:t>
            </a:r>
            <a:r>
              <a:rPr lang="en-US" sz="3200" b="1" dirty="0" smtClean="0">
                <a:solidFill>
                  <a:schemeClr val="tx2"/>
                </a:solidFill>
                <a:latin typeface="Cambria" pitchFamily="34" charset="0"/>
                <a:ea typeface="Cambria" pitchFamily="34" charset="-122"/>
                <a:cs typeface="Cambria" pitchFamily="34" charset="-120"/>
              </a:rPr>
              <a:t>line</a:t>
            </a:r>
            <a:endParaRPr lang="en-US" sz="3200" dirty="0"/>
          </a:p>
        </p:txBody>
      </p:sp>
      <p:graphicFrame>
        <p:nvGraphicFramePr>
          <p:cNvPr id="3" name="Target vs achieved chart"/>
          <p:cNvGraphicFramePr/>
          <p:nvPr/>
        </p:nvGraphicFramePr>
        <p:xfrm>
          <a:off x="548640" y="128016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mmentary panel"/>
          <p:cNvSpPr/>
          <p:nvPr/>
        </p:nvSpPr>
        <p:spPr>
          <a:xfrm>
            <a:off x="7772400" y="1371600"/>
            <a:ext cx="3867912" cy="4480560"/>
          </a:xfrm>
          <a:prstGeom prst="roundRect">
            <a:avLst>
              <a:gd name="adj" fmla="val 2837"/>
            </a:avLst>
          </a:prstGeom>
          <a:solidFill>
            <a:schemeClr val="bg2"/>
          </a:solidFill>
          <a:ln w="12700">
            <a:solidFill>
              <a:schemeClr val="bg2"/>
            </a:solidFill>
            <a:prstDash val="solid"/>
          </a:ln>
        </p:spPr>
      </p:sp>
      <p:sp>
        <p:nvSpPr>
          <p:cNvPr id="5" name="Text 2"/>
          <p:cNvSpPr txBox="1"/>
          <p:nvPr/>
        </p:nvSpPr>
        <p:spPr>
          <a:xfrm>
            <a:off x="8046720" y="1554480"/>
            <a:ext cx="338328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Variance to target</a:t>
            </a:r>
            <a:endParaRPr lang="en-US" sz="2000" dirty="0"/>
          </a:p>
        </p:txBody>
      </p:sp>
      <p:sp>
        <p:nvSpPr>
          <p:cNvPr id="6" name="Commentary"/>
          <p:cNvSpPr txBox="1"/>
          <p:nvPr/>
        </p:nvSpPr>
        <p:spPr>
          <a:xfrm>
            <a:off x="8046720" y="2103120"/>
            <a:ext cx="33832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eBooks: +KES 436K (147.3%)</a:t>
            </a:r>
            <a:endParaRPr lang="en-US" sz="1500" dirty="0"/>
          </a:p>
          <a:p>
            <a:pPr marL="342900" indent="-342900">
              <a:spcAft>
                <a:spcPts val="1000"/>
              </a:spcAft>
              <a:buSzPct val="100000"/>
              <a:buChar char="•"/>
            </a:pPr>
            <a:r>
              <a:rPr lang="en-US" sz="1500" dirty="0">
                <a:solidFill>
                  <a:schemeClr val="tx1"/>
                </a:solidFill>
              </a:rPr>
              <a:t>Elimu Pepe: -KES 3.03M (21.3%)</a:t>
            </a:r>
            <a:endParaRPr lang="en-US" sz="1500" dirty="0"/>
          </a:p>
          <a:p>
            <a:pPr marL="342900" indent="-342900">
              <a:spcAft>
                <a:spcPts val="1000"/>
              </a:spcAft>
              <a:buSzPct val="100000"/>
              <a:buChar char="•"/>
            </a:pPr>
            <a:r>
              <a:rPr lang="en-US" sz="1500" dirty="0">
                <a:solidFill>
                  <a:schemeClr val="tx1"/>
                </a:solidFill>
              </a:rPr>
              <a:t>Devices: -KES 1.09M (8.9%)</a:t>
            </a:r>
            <a:endParaRPr lang="en-US" sz="1500" dirty="0"/>
          </a:p>
          <a:p>
            <a:pPr marL="342900" indent="-342900">
              <a:spcAft>
                <a:spcPts val="1000"/>
              </a:spcAft>
              <a:buSzPct val="100000"/>
              <a:buChar char="•"/>
            </a:pPr>
            <a:r>
              <a:rPr lang="en-US" sz="1500" dirty="0">
                <a:solidFill>
                  <a:schemeClr val="tx1"/>
                </a:solidFill>
              </a:rPr>
              <a:t>MTN Academy: +KES 1.5M, no target set</a:t>
            </a:r>
            <a:endParaRPr lang="en-US" sz="1500" dirty="0"/>
          </a:p>
          <a:p>
            <a:pPr marL="342900" indent="-342900">
              <a:spcAft>
                <a:spcPts val="1000"/>
              </a:spcAft>
              <a:buSzPct val="100000"/>
              <a:buChar char="•"/>
            </a:pPr>
            <a:r>
              <a:rPr lang="en-US" sz="1500" dirty="0">
                <a:solidFill>
                  <a:schemeClr val="tx1"/>
                </a:solidFill>
              </a:rPr>
              <a:t>LoHo Campus: no target, no sales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a:t>
            </a:r>
            <a:r>
              <a:rPr lang="en-US" dirty="0" smtClean="0"/>
              <a:t>Performance </a:t>
            </a:r>
            <a:endParaRPr lang="en-US" sz="3200" dirty="0"/>
          </a:p>
        </p:txBody>
      </p:sp>
      <p:graphicFrame>
        <p:nvGraphicFramePr>
          <p:cNvPr id="6" name="Income statement table"/>
          <p:cNvGraphicFramePr>
            <a:graphicFrameLocks noGrp="1"/>
          </p:cNvGraphicFramePr>
          <p:nvPr>
            <p:extLst>
              <p:ext uri="{D42A27DB-BD31-4B8C-83A1-F6EECF244321}">
                <p14:modId xmlns:p14="http://schemas.microsoft.com/office/powerpoint/2010/main" val="1677490459"/>
              </p:ext>
            </p:extLst>
          </p:nvPr>
        </p:nvGraphicFramePr>
        <p:xfrm>
          <a:off x="548640" y="1371600"/>
          <a:ext cx="6766560" cy="3803904"/>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7548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Q1 FY2026/27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KES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3,786,384</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Cost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(1,647,622)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3262B"/>
                          </a:solidFill>
                          <a:latin typeface="Calibri" pitchFamily="34" charset="0"/>
                          <a:ea typeface="Calibri" pitchFamily="34" charset="-122"/>
                          <a:cs typeface="Calibri" pitchFamily="34" charset="-120"/>
                        </a:rPr>
                        <a:t>Gross profit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2,138,762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56.5%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Staff costs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(2,105,859)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Amortisation and depreciation</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(1,894,031)</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Other </a:t>
                      </a:r>
                      <a:r>
                        <a:rPr lang="en-US" sz="1400" dirty="0" smtClean="0">
                          <a:solidFill>
                            <a:srgbClr val="13262B"/>
                          </a:solidFill>
                          <a:latin typeface="Calibri" pitchFamily="34" charset="0"/>
                          <a:ea typeface="Calibri" pitchFamily="34" charset="-122"/>
                          <a:cs typeface="Calibri" pitchFamily="34" charset="-120"/>
                        </a:rPr>
                        <a:t>cost-</a:t>
                      </a:r>
                      <a:r>
                        <a:rPr lang="en-US" sz="1400" baseline="0" dirty="0" smtClean="0">
                          <a:solidFill>
                            <a:srgbClr val="13262B"/>
                          </a:solidFill>
                          <a:latin typeface="Calibri" pitchFamily="34" charset="0"/>
                          <a:ea typeface="Calibri" pitchFamily="34" charset="-122"/>
                          <a:cs typeface="Calibri" pitchFamily="34" charset="-120"/>
                        </a:rPr>
                        <a:t> Admin, sales &amp; Marketing</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(1,203,087)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31.8%</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D1495B"/>
                          </a:solidFill>
                          <a:latin typeface="Calibri" pitchFamily="34" charset="0"/>
                          <a:ea typeface="Calibri" pitchFamily="34" charset="-122"/>
                          <a:cs typeface="Calibri" pitchFamily="34" charset="-120"/>
                        </a:rPr>
                        <a:t>Net operating result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(3,064,215)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-80.9%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7"/>
                  </a:ext>
                </a:extLst>
              </a:tr>
            </a:tbl>
          </a:graphicData>
        </a:graphic>
      </p:graphicFrame>
      <p:sp>
        <p:nvSpPr>
          <p:cNvPr id="4" name="Cash loss card"/>
          <p:cNvSpPr/>
          <p:nvPr/>
        </p:nvSpPr>
        <p:spPr>
          <a:xfrm>
            <a:off x="7680960" y="1371600"/>
            <a:ext cx="3959352" cy="1828800"/>
          </a:xfrm>
          <a:prstGeom prst="roundRect">
            <a:avLst>
              <a:gd name="adj" fmla="val 6000"/>
            </a:avLst>
          </a:prstGeom>
          <a:solidFill>
            <a:schemeClr val="bg2"/>
          </a:solidFill>
          <a:ln w="12700">
            <a:solidFill>
              <a:schemeClr val="bg2"/>
            </a:solidFill>
            <a:prstDash val="solid"/>
          </a:ln>
        </p:spPr>
      </p:sp>
      <p:sp>
        <p:nvSpPr>
          <p:cNvPr id="5" name="Cash loss value"/>
          <p:cNvSpPr txBox="1"/>
          <p:nvPr/>
        </p:nvSpPr>
        <p:spPr>
          <a:xfrm>
            <a:off x="7909560" y="1554480"/>
            <a:ext cx="35021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1.04M</a:t>
            </a:r>
            <a:endParaRPr lang="en-US" sz="3200" dirty="0"/>
          </a:p>
        </p:txBody>
      </p:sp>
      <p:sp>
        <p:nvSpPr>
          <p:cNvPr id="3" name="Cash loss label"/>
          <p:cNvSpPr txBox="1"/>
          <p:nvPr/>
        </p:nvSpPr>
        <p:spPr>
          <a:xfrm>
            <a:off x="7909560" y="2377440"/>
            <a:ext cx="3502152" cy="320040"/>
          </a:xfrm>
          <a:prstGeom prst="rect">
            <a:avLst/>
          </a:prstGeom>
          <a:noFill/>
          <a:ln/>
        </p:spPr>
        <p:txBody>
          <a:bodyPr wrap="square" lIns="0" tIns="0" rIns="0" bIns="0" rtlCol="0" anchor="ctr"/>
          <a:lstStyle/>
          <a:p>
            <a:pPr marL="0" indent="0">
              <a:buNone/>
            </a:pPr>
            <a:r>
              <a:rPr lang="en-US" sz="1600" b="1" dirty="0">
                <a:solidFill>
                  <a:schemeClr val="tx1"/>
                </a:solidFill>
              </a:rPr>
              <a:t>Loss before non-cash items</a:t>
            </a:r>
            <a:endParaRPr lang="en-US" sz="1600" dirty="0"/>
          </a:p>
        </p:txBody>
      </p:sp>
      <p:sp>
        <p:nvSpPr>
          <p:cNvPr id="7" name="Cash loss note"/>
          <p:cNvSpPr txBox="1"/>
          <p:nvPr/>
        </p:nvSpPr>
        <p:spPr>
          <a:xfrm>
            <a:off x="7909560" y="2670048"/>
            <a:ext cx="3502152" cy="411480"/>
          </a:xfrm>
          <a:prstGeom prst="rect">
            <a:avLst/>
          </a:prstGeom>
          <a:noFill/>
          <a:ln/>
        </p:spPr>
        <p:txBody>
          <a:bodyPr wrap="square" lIns="0" tIns="0" rIns="0" bIns="0" rtlCol="0" anchor="t"/>
          <a:lstStyle/>
          <a:p>
            <a:pPr marL="0" indent="0">
              <a:buNone/>
            </a:pPr>
            <a:r>
              <a:rPr lang="en-US" sz="1200" dirty="0">
                <a:solidFill>
                  <a:schemeClr val="accent5"/>
                </a:solidFill>
              </a:rPr>
              <a:t>Excludes amortisation and depreciation of KES 2.03M</a:t>
            </a:r>
            <a:endParaRPr lang="en-US" sz="1200" dirty="0"/>
          </a:p>
        </p:txBody>
      </p:sp>
      <p:sp>
        <p:nvSpPr>
          <p:cNvPr id="8" name="Insight card"/>
          <p:cNvSpPr/>
          <p:nvPr/>
        </p:nvSpPr>
        <p:spPr>
          <a:xfrm>
            <a:off x="7680960" y="3429000"/>
            <a:ext cx="3959352" cy="192024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7909560" y="3611880"/>
            <a:ext cx="3520440" cy="1554480"/>
          </a:xfrm>
          <a:prstGeom prst="rect">
            <a:avLst/>
          </a:prstGeom>
          <a:noFill/>
          <a:ln/>
        </p:spPr>
        <p:txBody>
          <a:bodyPr wrap="square" lIns="0" tIns="0" rIns="0" bIns="0" rtlCol="0" anchor="t"/>
          <a:lstStyle/>
          <a:p>
            <a:pPr marL="0" indent="0">
              <a:buNone/>
            </a:pPr>
            <a:r>
              <a:rPr lang="en-US" sz="1500" dirty="0">
                <a:solidFill>
                  <a:schemeClr val="tx1"/>
                </a:solidFill>
              </a:rPr>
              <a:t>Staff costs are 56% of sales. At a 57% gross margin, sales must roughly double before payroll is covered.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t>Where the KES 5.2M of operating costs went</a:t>
            </a:r>
            <a:endParaRPr lang="en-US" sz="3200" dirty="0"/>
          </a:p>
        </p:txBody>
      </p:sp>
      <p:graphicFrame>
        <p:nvGraphicFramePr>
          <p:cNvPr id="3" name="Operating cost chart"/>
          <p:cNvGraphicFramePr/>
          <p:nvPr/>
        </p:nvGraphicFramePr>
        <p:xfrm>
          <a:off x="548640" y="1280160"/>
          <a:ext cx="67665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st notes panel"/>
          <p:cNvSpPr/>
          <p:nvPr/>
        </p:nvSpPr>
        <p:spPr>
          <a:xfrm>
            <a:off x="7680960" y="1371600"/>
            <a:ext cx="3959352" cy="4480560"/>
          </a:xfrm>
          <a:prstGeom prst="roundRect">
            <a:avLst>
              <a:gd name="adj" fmla="val 2771"/>
            </a:avLst>
          </a:prstGeom>
          <a:solidFill>
            <a:schemeClr val="bg2"/>
          </a:solidFill>
          <a:ln w="12700">
            <a:solidFill>
              <a:schemeClr val="bg2"/>
            </a:solidFill>
            <a:prstDash val="solid"/>
          </a:ln>
        </p:spPr>
      </p:sp>
      <p:sp>
        <p:nvSpPr>
          <p:cNvPr id="5" name="Text 2"/>
          <p:cNvSpPr txBox="1"/>
          <p:nvPr/>
        </p:nvSpPr>
        <p:spPr>
          <a:xfrm>
            <a:off x="7909560" y="1554480"/>
            <a:ext cx="352044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Worth a conversation</a:t>
            </a:r>
            <a:endParaRPr lang="en-US" sz="2000" dirty="0"/>
          </a:p>
        </p:txBody>
      </p:sp>
      <p:sp>
        <p:nvSpPr>
          <p:cNvPr id="6" name="Commentary"/>
          <p:cNvSpPr txBox="1"/>
          <p:nvPr/>
        </p:nvSpPr>
        <p:spPr>
          <a:xfrm>
            <a:off x="7909560" y="2103120"/>
            <a:ext cx="35204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Staff costs: 40% of operating costs</a:t>
            </a:r>
            <a:endParaRPr lang="en-US" sz="1500" dirty="0"/>
          </a:p>
          <a:p>
            <a:pPr marL="342900" indent="-342900">
              <a:spcAft>
                <a:spcPts val="1000"/>
              </a:spcAft>
              <a:buSzPct val="100000"/>
              <a:buChar char="•"/>
            </a:pPr>
            <a:r>
              <a:rPr lang="en-US" sz="1500" dirty="0">
                <a:solidFill>
                  <a:schemeClr val="tx1"/>
                </a:solidFill>
              </a:rPr>
              <a:t>Amortisation: 36%, non-cash</a:t>
            </a:r>
            <a:endParaRPr lang="en-US" sz="1500" dirty="0"/>
          </a:p>
          <a:p>
            <a:pPr marL="342900" indent="-342900">
              <a:spcAft>
                <a:spcPts val="1000"/>
              </a:spcAft>
              <a:buSzPct val="100000"/>
              <a:buChar char="•"/>
            </a:pPr>
            <a:r>
              <a:rPr lang="en-US" sz="1500" dirty="0">
                <a:solidFill>
                  <a:schemeClr val="tx1"/>
                </a:solidFill>
              </a:rPr>
              <a:t>Consultancy KES 345K and software support KES 197K</a:t>
            </a:r>
            <a:endParaRPr lang="en-US" sz="1500" dirty="0"/>
          </a:p>
          <a:p>
            <a:pPr marL="342900" indent="-342900">
              <a:spcAft>
                <a:spcPts val="1000"/>
              </a:spcAft>
              <a:buSzPct val="100000"/>
              <a:buChar char="•"/>
            </a:pPr>
            <a:r>
              <a:rPr lang="en-US" sz="1500" dirty="0">
                <a:solidFill>
                  <a:schemeClr val="tx1"/>
                </a:solidFill>
              </a:rPr>
              <a:t>Local travel KES 167K</a:t>
            </a:r>
            <a:endParaRPr lang="en-US" sz="1500" dirty="0"/>
          </a:p>
          <a:p>
            <a:pPr marL="342900" indent="-342900">
              <a:spcAft>
                <a:spcPts val="1000"/>
              </a:spcAft>
              <a:buSzPct val="100000"/>
              <a:buChar char="•"/>
            </a:pPr>
            <a:r>
              <a:rPr lang="en-US" sz="1500" dirty="0">
                <a:solidFill>
                  <a:schemeClr val="tx1"/>
                </a:solidFill>
              </a:rPr>
              <a:t>Bank charges KES </a:t>
            </a:r>
            <a:r>
              <a:rPr lang="en-US" sz="1500" dirty="0" smtClean="0">
                <a:solidFill>
                  <a:schemeClr val="tx1"/>
                </a:solidFill>
              </a:rPr>
              <a:t>83K</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Liquidity: obligations far exceed cash</a:t>
            </a:r>
            <a:endParaRPr lang="en-US" sz="3200" dirty="0"/>
          </a:p>
        </p:txBody>
      </p:sp>
      <p:sp>
        <p:nvSpPr>
          <p:cNvPr id="3" name="Cash card"/>
          <p:cNvSpPr/>
          <p:nvPr/>
        </p:nvSpPr>
        <p:spPr>
          <a:xfrm>
            <a:off x="548640" y="1371600"/>
            <a:ext cx="2651760" cy="1828800"/>
          </a:xfrm>
          <a:prstGeom prst="roundRect">
            <a:avLst>
              <a:gd name="adj" fmla="val 6000"/>
            </a:avLst>
          </a:prstGeom>
          <a:solidFill>
            <a:schemeClr val="bg2"/>
          </a:solidFill>
          <a:ln w="12700">
            <a:solidFill>
              <a:schemeClr val="bg2"/>
            </a:solidFill>
            <a:prstDash val="solid"/>
          </a:ln>
        </p:spPr>
      </p:sp>
      <p:sp>
        <p:nvSpPr>
          <p:cNvPr id="4" name="Cash value"/>
          <p:cNvSpPr txBox="1"/>
          <p:nvPr/>
        </p:nvSpPr>
        <p:spPr>
          <a:xfrm>
            <a:off x="77724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0.77M</a:t>
            </a:r>
            <a:endParaRPr lang="en-US" sz="3200" dirty="0"/>
          </a:p>
        </p:txBody>
      </p:sp>
      <p:sp>
        <p:nvSpPr>
          <p:cNvPr id="5" name="Cash label"/>
          <p:cNvSpPr txBox="1"/>
          <p:nvPr/>
        </p:nvSpPr>
        <p:spPr>
          <a:xfrm>
            <a:off x="77724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Cash and bank</a:t>
            </a:r>
            <a:endParaRPr lang="en-US" sz="1600" dirty="0"/>
          </a:p>
        </p:txBody>
      </p:sp>
      <p:sp>
        <p:nvSpPr>
          <p:cNvPr id="6" name="Cash note"/>
          <p:cNvSpPr txBox="1"/>
          <p:nvPr/>
        </p:nvSpPr>
        <p:spPr>
          <a:xfrm>
            <a:off x="77724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Standard Chartered, Sidian, petty cash</a:t>
            </a:r>
            <a:endParaRPr lang="en-US" sz="1200" dirty="0"/>
          </a:p>
        </p:txBody>
      </p:sp>
      <p:sp>
        <p:nvSpPr>
          <p:cNvPr id="7" name="Receivables card"/>
          <p:cNvSpPr/>
          <p:nvPr/>
        </p:nvSpPr>
        <p:spPr>
          <a:xfrm>
            <a:off x="3383280" y="1371600"/>
            <a:ext cx="2651760" cy="1828800"/>
          </a:xfrm>
          <a:prstGeom prst="roundRect">
            <a:avLst>
              <a:gd name="adj" fmla="val 6000"/>
            </a:avLst>
          </a:prstGeom>
          <a:solidFill>
            <a:schemeClr val="bg2"/>
          </a:solidFill>
          <a:ln w="12700">
            <a:solidFill>
              <a:schemeClr val="bg2"/>
            </a:solidFill>
            <a:prstDash val="solid"/>
          </a:ln>
        </p:spPr>
      </p:sp>
      <p:sp>
        <p:nvSpPr>
          <p:cNvPr id="8" name="Receivables value"/>
          <p:cNvSpPr txBox="1"/>
          <p:nvPr/>
        </p:nvSpPr>
        <p:spPr>
          <a:xfrm>
            <a:off x="361188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4.03M</a:t>
            </a:r>
            <a:endParaRPr lang="en-US" sz="3200" dirty="0"/>
          </a:p>
        </p:txBody>
      </p:sp>
      <p:sp>
        <p:nvSpPr>
          <p:cNvPr id="9" name="Receivables label"/>
          <p:cNvSpPr txBox="1"/>
          <p:nvPr/>
        </p:nvSpPr>
        <p:spPr>
          <a:xfrm>
            <a:off x="361188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Net trade receivables</a:t>
            </a:r>
            <a:endParaRPr lang="en-US" sz="1600" dirty="0"/>
          </a:p>
        </p:txBody>
      </p:sp>
      <p:sp>
        <p:nvSpPr>
          <p:cNvPr id="10" name="Receivables note"/>
          <p:cNvSpPr txBox="1"/>
          <p:nvPr/>
        </p:nvSpPr>
        <p:spPr>
          <a:xfrm>
            <a:off x="361188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After KES 1.3M provision; gross KES 5.33M</a:t>
            </a:r>
            <a:endParaRPr lang="en-US" sz="1200" dirty="0"/>
          </a:p>
        </p:txBody>
      </p:sp>
      <p:sp>
        <p:nvSpPr>
          <p:cNvPr id="11" name="Payables card"/>
          <p:cNvSpPr/>
          <p:nvPr/>
        </p:nvSpPr>
        <p:spPr>
          <a:xfrm>
            <a:off x="6217920" y="1371600"/>
            <a:ext cx="2651760" cy="1828800"/>
          </a:xfrm>
          <a:prstGeom prst="roundRect">
            <a:avLst>
              <a:gd name="adj" fmla="val 6000"/>
            </a:avLst>
          </a:prstGeom>
          <a:solidFill>
            <a:schemeClr val="bg2"/>
          </a:solidFill>
          <a:ln w="12700">
            <a:solidFill>
              <a:schemeClr val="bg2"/>
            </a:solidFill>
            <a:prstDash val="solid"/>
          </a:ln>
        </p:spPr>
      </p:sp>
      <p:sp>
        <p:nvSpPr>
          <p:cNvPr id="12" name="Payables value"/>
          <p:cNvSpPr txBox="1"/>
          <p:nvPr/>
        </p:nvSpPr>
        <p:spPr>
          <a:xfrm>
            <a:off x="6446520" y="155448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11.77M</a:t>
            </a:r>
            <a:endParaRPr lang="en-US" sz="3200" dirty="0"/>
          </a:p>
        </p:txBody>
      </p:sp>
      <p:sp>
        <p:nvSpPr>
          <p:cNvPr id="13" name="Payables label"/>
          <p:cNvSpPr txBox="1"/>
          <p:nvPr/>
        </p:nvSpPr>
        <p:spPr>
          <a:xfrm>
            <a:off x="644652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Trade payables</a:t>
            </a:r>
            <a:endParaRPr lang="en-US" sz="1600" dirty="0"/>
          </a:p>
        </p:txBody>
      </p:sp>
      <p:sp>
        <p:nvSpPr>
          <p:cNvPr id="14" name="Payables note"/>
          <p:cNvSpPr txBox="1"/>
          <p:nvPr/>
        </p:nvSpPr>
        <p:spPr>
          <a:xfrm>
            <a:off x="644652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Supplier balances at 30 September</a:t>
            </a:r>
            <a:endParaRPr lang="en-US" sz="1200" dirty="0"/>
          </a:p>
        </p:txBody>
      </p:sp>
      <p:sp>
        <p:nvSpPr>
          <p:cNvPr id="15" name="Payroll card"/>
          <p:cNvSpPr/>
          <p:nvPr/>
        </p:nvSpPr>
        <p:spPr>
          <a:xfrm>
            <a:off x="9052560" y="1371600"/>
            <a:ext cx="2587752" cy="1828800"/>
          </a:xfrm>
          <a:prstGeom prst="roundRect">
            <a:avLst>
              <a:gd name="adj" fmla="val 6000"/>
            </a:avLst>
          </a:prstGeom>
          <a:solidFill>
            <a:schemeClr val="bg2"/>
          </a:solidFill>
          <a:ln w="12700">
            <a:solidFill>
              <a:schemeClr val="bg2"/>
            </a:solidFill>
            <a:prstDash val="solid"/>
          </a:ln>
        </p:spPr>
      </p:sp>
      <p:sp>
        <p:nvSpPr>
          <p:cNvPr id="16" name="Payroll value"/>
          <p:cNvSpPr txBox="1"/>
          <p:nvPr/>
        </p:nvSpPr>
        <p:spPr>
          <a:xfrm>
            <a:off x="9281160" y="155448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19.30M</a:t>
            </a:r>
            <a:endParaRPr lang="en-US" sz="3200" dirty="0"/>
          </a:p>
        </p:txBody>
      </p:sp>
      <p:sp>
        <p:nvSpPr>
          <p:cNvPr id="17" name="Payroll label"/>
          <p:cNvSpPr txBox="1"/>
          <p:nvPr/>
        </p:nvSpPr>
        <p:spPr>
          <a:xfrm>
            <a:off x="9281160" y="237744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Payroll-related payables</a:t>
            </a:r>
            <a:endParaRPr lang="en-US" sz="1600" dirty="0"/>
          </a:p>
        </p:txBody>
      </p:sp>
      <p:sp>
        <p:nvSpPr>
          <p:cNvPr id="18" name="Payroll note"/>
          <p:cNvSpPr txBox="1"/>
          <p:nvPr/>
        </p:nvSpPr>
        <p:spPr>
          <a:xfrm>
            <a:off x="9281160" y="2670048"/>
            <a:ext cx="2130552" cy="411480"/>
          </a:xfrm>
          <a:prstGeom prst="rect">
            <a:avLst/>
          </a:prstGeom>
          <a:noFill/>
          <a:ln/>
        </p:spPr>
        <p:txBody>
          <a:bodyPr wrap="square" lIns="0" tIns="0" rIns="0" bIns="0" rtlCol="0" anchor="t"/>
          <a:lstStyle/>
          <a:p>
            <a:pPr marL="0" indent="0">
              <a:buNone/>
            </a:pPr>
            <a:r>
              <a:rPr lang="en-US" sz="1200" dirty="0">
                <a:solidFill>
                  <a:schemeClr val="accent5"/>
                </a:solidFill>
              </a:rPr>
              <a:t>Includes statutory control accounts</a:t>
            </a:r>
            <a:endParaRPr lang="en-US" sz="1200" dirty="0"/>
          </a:p>
        </p:txBody>
      </p:sp>
      <p:sp>
        <p:nvSpPr>
          <p:cNvPr id="19" name="Liquidity insight panel"/>
          <p:cNvSpPr/>
          <p:nvPr/>
        </p:nvSpPr>
        <p:spPr>
          <a:xfrm>
            <a:off x="548640" y="3520440"/>
            <a:ext cx="11091672"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2960" y="370332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matters for Q2</a:t>
            </a:r>
            <a:endParaRPr lang="en-US" sz="2000" dirty="0"/>
          </a:p>
        </p:txBody>
      </p:sp>
      <p:sp>
        <p:nvSpPr>
          <p:cNvPr id="21" name="Commentary"/>
          <p:cNvSpPr txBox="1"/>
          <p:nvPr/>
        </p:nvSpPr>
        <p:spPr>
          <a:xfrm>
            <a:off x="822960" y="4160520"/>
            <a:ext cx="10515600" cy="16459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Collections worked: gross trade receivables fell by KES 4.10M in Q1, more than the KES 3.79M billed.</a:t>
            </a:r>
            <a:endParaRPr lang="en-US" sz="1600" dirty="0"/>
          </a:p>
          <a:p>
            <a:pPr marL="342900" indent="-342900">
              <a:spcAft>
                <a:spcPts val="1000"/>
              </a:spcAft>
              <a:buSzPct val="100000"/>
              <a:buChar char="•"/>
            </a:pPr>
            <a:r>
              <a:rPr lang="en-US" sz="1600" dirty="0">
                <a:solidFill>
                  <a:schemeClr val="tx1"/>
                </a:solidFill>
              </a:rPr>
              <a:t>Current assets of KES 4.99M against current liabilities of KES 31.21M. Cash alone covers about 2% of liabilities</a:t>
            </a:r>
            <a:r>
              <a:rPr lang="en-US" sz="1600" dirty="0" smtClean="0">
                <a:solidFill>
                  <a:schemeClr val="tx1"/>
                </a:solidFill>
              </a:rPr>
              <a: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learnings: </a:t>
            </a:r>
            <a:r>
              <a:rPr lang="en-US" sz="3200" b="1" dirty="0" smtClean="0">
                <a:solidFill>
                  <a:schemeClr val="tx2"/>
                </a:solidFill>
                <a:latin typeface="Cambria" pitchFamily="34" charset="0"/>
                <a:ea typeface="Cambria" pitchFamily="34" charset="-122"/>
                <a:cs typeface="Cambria" pitchFamily="34" charset="-120"/>
              </a:rPr>
              <a:t>What </a:t>
            </a:r>
            <a:r>
              <a:rPr lang="en-US" sz="3200" b="1" dirty="0">
                <a:solidFill>
                  <a:schemeClr val="tx2"/>
                </a:solidFill>
                <a:latin typeface="Cambria" pitchFamily="34" charset="0"/>
                <a:ea typeface="Cambria" pitchFamily="34" charset="-122"/>
                <a:cs typeface="Cambria" pitchFamily="34" charset="-120"/>
              </a:rPr>
              <a:t>to keep and what to change</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
        <p:nvSpPr>
          <p:cNvPr id="27" name="What worked card"/>
          <p:cNvSpPr/>
          <p:nvPr/>
        </p:nvSpPr>
        <p:spPr>
          <a:xfrm>
            <a:off x="548640"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What worked header"/>
          <p:cNvSpPr/>
          <p:nvPr/>
        </p:nvSpPr>
        <p:spPr>
          <a:xfrm>
            <a:off x="777240" y="1600200"/>
            <a:ext cx="3136392" cy="548640"/>
          </a:xfrm>
          <a:prstGeom prst="roundRect">
            <a:avLst>
              <a:gd name="adj" fmla="val 20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1800" b="1">
                <a:solidFill>
                  <a:srgbClr val="FFFFFF"/>
                </a:solidFill>
                <a:latin typeface="Cambria"/>
              </a:rPr>
              <a:t>What worked</a:t>
            </a:r>
          </a:p>
        </p:txBody>
      </p:sp>
      <p:sp>
        <p:nvSpPr>
          <p:cNvPr id="29" name="What worked list"/>
          <p:cNvSpPr txBox="1"/>
          <p:nvPr/>
        </p:nvSpPr>
        <p:spPr>
          <a:xfrm>
            <a:off x="777240" y="2423160"/>
            <a:ext cx="3154680" cy="1410643"/>
          </a:xfrm>
          <a:prstGeom prst="rect">
            <a:avLst/>
          </a:prstGeom>
          <a:noFill/>
        </p:spPr>
        <p:txBody>
          <a:bodyPr wrap="square" lIns="0" tIns="0" rIns="0" bIns="0">
            <a:spAutoFit/>
          </a:bodyPr>
          <a:lstStyle/>
          <a:p>
            <a:pPr marL="228600" indent="-228600">
              <a:spcAft>
                <a:spcPts val="1000"/>
              </a:spcAft>
              <a:buChar char="•"/>
            </a:pPr>
            <a:r>
              <a:rPr sz="1500" dirty="0">
                <a:solidFill>
                  <a:schemeClr val="tx1"/>
                </a:solidFill>
              </a:rPr>
              <a:t>Cash runway report to the CEO every mid-month</a:t>
            </a:r>
          </a:p>
          <a:p>
            <a:pPr marL="228600" indent="-228600">
              <a:spcAft>
                <a:spcPts val="1000"/>
              </a:spcAft>
              <a:buChar char="•"/>
            </a:pPr>
            <a:r>
              <a:rPr sz="1500" dirty="0" smtClean="0">
                <a:solidFill>
                  <a:schemeClr val="tx1"/>
                </a:solidFill>
              </a:rPr>
              <a:t>Staff </a:t>
            </a:r>
            <a:r>
              <a:rPr sz="1500" dirty="0">
                <a:solidFill>
                  <a:schemeClr val="tx1"/>
                </a:solidFill>
              </a:rPr>
              <a:t>survey and bonus system completed</a:t>
            </a:r>
          </a:p>
          <a:p>
            <a:pPr>
              <a:spcAft>
                <a:spcPts val="1000"/>
              </a:spcAft>
            </a:pPr>
            <a:endParaRPr sz="1500" dirty="0">
              <a:solidFill>
                <a:schemeClr val="tx1"/>
              </a:solidFill>
            </a:endParaRPr>
          </a:p>
        </p:txBody>
      </p:sp>
      <p:sp>
        <p:nvSpPr>
          <p:cNvPr id="30" name="What did not work card"/>
          <p:cNvSpPr/>
          <p:nvPr/>
        </p:nvSpPr>
        <p:spPr>
          <a:xfrm>
            <a:off x="4297679"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What did not work header"/>
          <p:cNvSpPr/>
          <p:nvPr/>
        </p:nvSpPr>
        <p:spPr>
          <a:xfrm>
            <a:off x="4526279" y="1600200"/>
            <a:ext cx="3136392" cy="548640"/>
          </a:xfrm>
          <a:prstGeom prst="roundRect">
            <a:avLst>
              <a:gd name="adj" fmla="val 2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1800" b="1">
                <a:solidFill>
                  <a:srgbClr val="FFFFFF"/>
                </a:solidFill>
                <a:latin typeface="Cambria"/>
              </a:rPr>
              <a:t>What did not work</a:t>
            </a:r>
          </a:p>
        </p:txBody>
      </p:sp>
      <p:sp>
        <p:nvSpPr>
          <p:cNvPr id="32" name="What did not work list"/>
          <p:cNvSpPr txBox="1"/>
          <p:nvPr/>
        </p:nvSpPr>
        <p:spPr>
          <a:xfrm>
            <a:off x="4526279" y="2423160"/>
            <a:ext cx="3154680" cy="1410643"/>
          </a:xfrm>
          <a:prstGeom prst="rect">
            <a:avLst/>
          </a:prstGeom>
          <a:noFill/>
        </p:spPr>
        <p:txBody>
          <a:bodyPr wrap="square" lIns="0" tIns="0" rIns="0" bIns="0">
            <a:spAutoFit/>
          </a:bodyPr>
          <a:lstStyle/>
          <a:p>
            <a:pPr marL="228600" indent="-228600">
              <a:spcAft>
                <a:spcPts val="1000"/>
              </a:spcAft>
              <a:buChar char="•"/>
            </a:pPr>
            <a:r>
              <a:rPr sz="1500" dirty="0">
                <a:solidFill>
                  <a:schemeClr val="tx1"/>
                </a:solidFill>
              </a:rPr>
              <a:t>5 of 19 due actions off plan with no recovery plan</a:t>
            </a:r>
          </a:p>
          <a:p>
            <a:pPr marL="228600" indent="-228600">
              <a:spcAft>
                <a:spcPts val="1000"/>
              </a:spcAft>
              <a:buChar char="•"/>
            </a:pPr>
            <a:r>
              <a:rPr sz="1500" dirty="0" err="1">
                <a:solidFill>
                  <a:schemeClr val="tx1"/>
                </a:solidFill>
              </a:rPr>
              <a:t>Elimu</a:t>
            </a:r>
            <a:r>
              <a:rPr sz="1500" dirty="0">
                <a:solidFill>
                  <a:schemeClr val="tx1"/>
                </a:solidFill>
              </a:rPr>
              <a:t> Pepe (21%) and Devices (9%) far below target</a:t>
            </a:r>
          </a:p>
          <a:p>
            <a:pPr marL="228600" indent="-228600">
              <a:spcAft>
                <a:spcPts val="1000"/>
              </a:spcAft>
              <a:buChar char="•"/>
            </a:pPr>
            <a:r>
              <a:rPr sz="1500" dirty="0">
                <a:solidFill>
                  <a:schemeClr val="tx1"/>
                </a:solidFill>
              </a:rPr>
              <a:t>Survey </a:t>
            </a:r>
            <a:r>
              <a:rPr sz="1500" dirty="0" err="1">
                <a:solidFill>
                  <a:schemeClr val="tx1"/>
                </a:solidFill>
              </a:rPr>
              <a:t>eNPS</a:t>
            </a:r>
            <a:r>
              <a:rPr sz="1500" dirty="0">
                <a:solidFill>
                  <a:schemeClr val="tx1"/>
                </a:solidFill>
              </a:rPr>
              <a:t> below the target of </a:t>
            </a:r>
            <a:r>
              <a:rPr sz="1500" dirty="0" smtClean="0">
                <a:solidFill>
                  <a:schemeClr val="tx1"/>
                </a:solidFill>
              </a:rPr>
              <a:t>50</a:t>
            </a:r>
            <a:endParaRPr sz="1500" dirty="0">
              <a:solidFill>
                <a:schemeClr val="tx1"/>
              </a:solidFill>
            </a:endParaRPr>
          </a:p>
        </p:txBody>
      </p:sp>
      <p:sp>
        <p:nvSpPr>
          <p:cNvPr id="33" name="Carry forward or change card"/>
          <p:cNvSpPr/>
          <p:nvPr/>
        </p:nvSpPr>
        <p:spPr>
          <a:xfrm>
            <a:off x="8046719"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arry forward or change header"/>
          <p:cNvSpPr/>
          <p:nvPr/>
        </p:nvSpPr>
        <p:spPr>
          <a:xfrm>
            <a:off x="8275319" y="1600200"/>
            <a:ext cx="3136392" cy="548640"/>
          </a:xfrm>
          <a:prstGeom prst="roundRect">
            <a:avLst>
              <a:gd name="adj" fmla="val 2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1800" b="1">
                <a:solidFill>
                  <a:srgbClr val="FFFFFF"/>
                </a:solidFill>
                <a:latin typeface="Cambria"/>
              </a:rPr>
              <a:t>Carry forward or change</a:t>
            </a:r>
          </a:p>
        </p:txBody>
      </p:sp>
      <p:sp>
        <p:nvSpPr>
          <p:cNvPr id="35" name="Carry forward or change list"/>
          <p:cNvSpPr txBox="1"/>
          <p:nvPr/>
        </p:nvSpPr>
        <p:spPr>
          <a:xfrm>
            <a:off x="8275319" y="2423160"/>
            <a:ext cx="3154680" cy="1051570"/>
          </a:xfrm>
          <a:prstGeom prst="rect">
            <a:avLst/>
          </a:prstGeom>
          <a:noFill/>
        </p:spPr>
        <p:txBody>
          <a:bodyPr wrap="square" lIns="0" tIns="0" rIns="0" bIns="0">
            <a:spAutoFit/>
          </a:bodyPr>
          <a:lstStyle/>
          <a:p>
            <a:pPr marL="228600" indent="-228600">
              <a:spcAft>
                <a:spcPts val="1000"/>
              </a:spcAft>
              <a:buChar char="•"/>
            </a:pPr>
            <a:r>
              <a:rPr sz="1500" dirty="0">
                <a:solidFill>
                  <a:schemeClr val="tx1"/>
                </a:solidFill>
              </a:rPr>
              <a:t>Carry: mid-month runway report and bi-weekly collections review</a:t>
            </a:r>
          </a:p>
          <a:p>
            <a:pPr marL="228600" indent="-228600">
              <a:spcAft>
                <a:spcPts val="1000"/>
              </a:spcAft>
              <a:buChar char="•"/>
            </a:pPr>
            <a:r>
              <a:rPr sz="1500" dirty="0" smtClean="0">
                <a:solidFill>
                  <a:schemeClr val="tx1"/>
                </a:solidFill>
              </a:rPr>
              <a:t>Change</a:t>
            </a:r>
            <a:r>
              <a:rPr sz="1500" dirty="0">
                <a:solidFill>
                  <a:schemeClr val="tx1"/>
                </a:solidFill>
              </a:rPr>
              <a:t>: review statutory balances every month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target: KES 28.5M, 7.5 times Q1 sales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10</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graphicFrame>
        <p:nvGraphicFramePr>
          <p:cNvPr id="27" name="Q1 vs Q2 target chart"/>
          <p:cNvGraphicFramePr>
            <a:graphicFrameLocks noGrp="1"/>
          </p:cNvGraphicFramePr>
          <p:nvPr/>
        </p:nvGraphicFramePr>
        <p:xfrm>
          <a:off x="548640" y="128016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8" name="Q2 sales target card"/>
          <p:cNvSpPr/>
          <p:nvPr/>
        </p:nvSpPr>
        <p:spPr>
          <a:xfrm>
            <a:off x="7772400" y="137160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Q2 sales target"/>
          <p:cNvSpPr txBox="1"/>
          <p:nvPr/>
        </p:nvSpPr>
        <p:spPr>
          <a:xfrm>
            <a:off x="8001000" y="1463040"/>
            <a:ext cx="3429000" cy="1188720"/>
          </a:xfrm>
          <a:prstGeom prst="rect">
            <a:avLst/>
          </a:prstGeom>
          <a:noFill/>
        </p:spPr>
        <p:txBody>
          <a:bodyPr wrap="square" lIns="0" tIns="0" rIns="0" bIns="0" anchor="ctr">
            <a:spAutoFit/>
          </a:bodyPr>
          <a:lstStyle/>
          <a:p>
            <a:r>
              <a:rPr sz="2800" b="1">
                <a:solidFill>
                  <a:schemeClr val="tx2"/>
                </a:solidFill>
                <a:latin typeface="Cambria"/>
              </a:rPr>
              <a:t>KES 28.5M</a:t>
            </a:r>
          </a:p>
          <a:p>
            <a:r>
              <a:rPr sz="1500" b="1">
                <a:solidFill>
                  <a:schemeClr val="tx1"/>
                </a:solidFill>
              </a:rPr>
              <a:t>Q2 sales target</a:t>
            </a:r>
          </a:p>
          <a:p>
            <a:r>
              <a:rPr sz="1200" b="0">
                <a:solidFill>
                  <a:schemeClr val="accent5"/>
                </a:solidFill>
              </a:rPr>
              <a:t>October to December 2026</a:t>
            </a:r>
          </a:p>
        </p:txBody>
      </p:sp>
      <p:sp>
        <p:nvSpPr>
          <p:cNvPr id="30" name="Elimu Pepe share of Q2 card"/>
          <p:cNvSpPr/>
          <p:nvPr/>
        </p:nvSpPr>
        <p:spPr>
          <a:xfrm>
            <a:off x="7772400" y="288036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limu Pepe share of Q2"/>
          <p:cNvSpPr txBox="1"/>
          <p:nvPr/>
        </p:nvSpPr>
        <p:spPr>
          <a:xfrm>
            <a:off x="8001000" y="2971800"/>
            <a:ext cx="3429000" cy="1188720"/>
          </a:xfrm>
          <a:prstGeom prst="rect">
            <a:avLst/>
          </a:prstGeom>
          <a:noFill/>
        </p:spPr>
        <p:txBody>
          <a:bodyPr wrap="square" lIns="0" tIns="0" rIns="0" bIns="0" anchor="ctr">
            <a:spAutoFit/>
          </a:bodyPr>
          <a:lstStyle/>
          <a:p>
            <a:r>
              <a:rPr sz="2800" b="1">
                <a:solidFill>
                  <a:srgbClr val="D1495B"/>
                </a:solidFill>
                <a:latin typeface="Cambria"/>
              </a:rPr>
              <a:t>48%</a:t>
            </a:r>
          </a:p>
          <a:p>
            <a:r>
              <a:rPr sz="1500" b="1">
                <a:solidFill>
                  <a:schemeClr val="tx1"/>
                </a:solidFill>
              </a:rPr>
              <a:t>Elimu Pepe share of Q2</a:t>
            </a:r>
          </a:p>
          <a:p>
            <a:r>
              <a:rPr sz="1200" b="0">
                <a:solidFill>
                  <a:schemeClr val="accent5"/>
                </a:solidFill>
              </a:rPr>
              <a:t>KES 13.6M, up from KES 0.8M in Q1</a:t>
            </a:r>
          </a:p>
        </p:txBody>
      </p:sp>
      <p:sp>
        <p:nvSpPr>
          <p:cNvPr id="32" name="Full-year target card"/>
          <p:cNvSpPr/>
          <p:nvPr/>
        </p:nvSpPr>
        <p:spPr>
          <a:xfrm>
            <a:off x="7772400" y="438912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ull-year target"/>
          <p:cNvSpPr txBox="1"/>
          <p:nvPr/>
        </p:nvSpPr>
        <p:spPr>
          <a:xfrm>
            <a:off x="8001000" y="4480559"/>
            <a:ext cx="3429000" cy="1188720"/>
          </a:xfrm>
          <a:prstGeom prst="rect">
            <a:avLst/>
          </a:prstGeom>
          <a:noFill/>
        </p:spPr>
        <p:txBody>
          <a:bodyPr wrap="square" lIns="0" tIns="0" rIns="0" bIns="0" anchor="ctr">
            <a:spAutoFit/>
          </a:bodyPr>
          <a:lstStyle/>
          <a:p>
            <a:r>
              <a:rPr sz="2800" b="1">
                <a:solidFill>
                  <a:srgbClr val="D1495B"/>
                </a:solidFill>
                <a:latin typeface="Cambria"/>
              </a:rPr>
              <a:t>KES 126M</a:t>
            </a:r>
          </a:p>
          <a:p>
            <a:r>
              <a:rPr sz="1500" b="1">
                <a:solidFill>
                  <a:schemeClr val="tx1"/>
                </a:solidFill>
              </a:rPr>
              <a:t>Full-year target</a:t>
            </a:r>
          </a:p>
          <a:p>
            <a:r>
              <a:rPr sz="1200" b="0">
                <a:solidFill>
                  <a:schemeClr val="accent5"/>
                </a:solidFill>
              </a:rPr>
              <a:t>Q1 delivered 3%; KES 122M left for 9 months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sales target by line and month</a:t>
            </a:r>
            <a:endParaRPr lang="en-US" sz="3200" dirty="0"/>
          </a:p>
        </p:txBody>
      </p:sp>
      <p:sp>
        <p:nvSpPr>
          <p:cNvPr id="4" name="Text 1"/>
          <p:cNvSpPr txBox="1"/>
          <p:nvPr/>
        </p:nvSpPr>
        <p:spPr>
          <a:xfrm>
            <a:off x="548640" y="5532120"/>
            <a:ext cx="11091672" cy="411480"/>
          </a:xfrm>
          <a:prstGeom prst="rect">
            <a:avLst/>
          </a:prstGeom>
          <a:noFill/>
          <a:ln/>
        </p:spPr>
        <p:txBody>
          <a:bodyPr wrap="square" lIns="0" tIns="0" rIns="0" bIns="0" rtlCol="0" anchor="ctr"/>
          <a:lstStyle/>
          <a:p>
            <a:pPr marL="0" indent="0">
              <a:buNone/>
            </a:pPr>
            <a:r>
              <a:rPr lang="en-US" sz="1500" b="1" dirty="0">
                <a:solidFill>
                  <a:schemeClr val="accent3"/>
                </a:solidFill>
              </a:rPr>
              <a:t>Q2 target is 7.5 times Q1 sales. Finance needs a monthly cash and cost plan against it.</a:t>
            </a:r>
            <a:endParaRPr lang="en-US" sz="1500" dirty="0"/>
          </a:p>
        </p:txBody>
      </p:sp>
      <p:sp>
        <p:nvSpPr>
          <p:cNvPr id="5"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Target - revenue workbook (FY26/27 monthly targets, KES); Q1 Target vs Achieved Report. Step-up = Q2 target / Q1 achieved.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graphicFrame>
        <p:nvGraphicFramePr>
          <p:cNvPr id="27" name="Q2 sales target table"/>
          <p:cNvGraphicFramePr>
            <a:graphicFrameLocks noGrp="1"/>
          </p:cNvGraphicFramePr>
          <p:nvPr/>
        </p:nvGraphicFramePr>
        <p:xfrm>
          <a:off x="548640" y="1325880"/>
          <a:ext cx="11091672" cy="4096512"/>
        </p:xfrm>
        <a:graphic>
          <a:graphicData uri="http://schemas.openxmlformats.org/drawingml/2006/table">
            <a:tbl>
              <a:tblPr firstRow="0" bandRow="0">
                <a:tableStyleId>{2D5ABB26-0587-4C30-8999-92F81FD0307C}</a:tableStyleId>
              </a:tblPr>
              <a:tblGrid>
                <a:gridCol w="2377440"/>
                <a:gridCol w="1325880"/>
                <a:gridCol w="1325880"/>
                <a:gridCol w="1417320"/>
                <a:gridCol w="1645920"/>
                <a:gridCol w="1600200"/>
                <a:gridCol w="1399032"/>
              </a:tblGrid>
              <a:tr h="585216">
                <a:tc>
                  <a:txBody>
                    <a:bodyPr wrap="square"/>
                    <a:lstStyle/>
                    <a:p>
                      <a:r>
                        <a:rPr sz="1400" b="1">
                          <a:solidFill>
                            <a:srgbClr val="FFFFFF"/>
                          </a:solidFill>
                        </a:rPr>
                        <a:t>Revenue line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October</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November</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December</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Q2 target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Q1 achieved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pPr algn="r"/>
                      <a:r>
                        <a:rPr sz="1400" b="1">
                          <a:solidFill>
                            <a:srgbClr val="FFFFFF"/>
                          </a:solidFill>
                        </a:rPr>
                        <a:t>Step-up</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585216">
                <a:tc>
                  <a:txBody>
                    <a:bodyPr wrap="square"/>
                    <a:lstStyle/>
                    <a:p>
                      <a:r>
                        <a:rPr sz="1400" b="1">
                          <a:solidFill>
                            <a:srgbClr val="13262B"/>
                          </a:solidFill>
                        </a:rPr>
                        <a:t>CaaS eBooks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1,518,500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1,300,500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328,000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b="1">
                          <a:solidFill>
                            <a:srgbClr val="1B7F79"/>
                          </a:solidFill>
                        </a:rPr>
                        <a:t>3,147,000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1,359,161</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2.3x</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585216">
                <a:tc>
                  <a:txBody>
                    <a:bodyPr wrap="square"/>
                    <a:lstStyle/>
                    <a:p>
                      <a:r>
                        <a:rPr sz="1400" b="1">
                          <a:solidFill>
                            <a:srgbClr val="13262B"/>
                          </a:solidFill>
                        </a:rPr>
                        <a:t>Elimu Pepe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4,111,000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4,547,000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4,968,000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b="1">
                          <a:solidFill>
                            <a:srgbClr val="1B7F79"/>
                          </a:solidFill>
                        </a:rPr>
                        <a:t>13,626,000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819,797</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16.6x</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585216">
                <a:tc>
                  <a:txBody>
                    <a:bodyPr wrap="square"/>
                    <a:lstStyle/>
                    <a:p>
                      <a:r>
                        <a:rPr sz="1400" b="1">
                          <a:solidFill>
                            <a:srgbClr val="13262B"/>
                          </a:solidFill>
                        </a:rPr>
                        <a:t>LoHo Devices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1,777,750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1,636,750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1,492,000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b="1">
                          <a:solidFill>
                            <a:srgbClr val="1B7F79"/>
                          </a:solidFill>
                        </a:rPr>
                        <a:t>4,906,500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107,390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45.7x</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585216">
                <a:tc>
                  <a:txBody>
                    <a:bodyPr wrap="square"/>
                    <a:lstStyle/>
                    <a:p>
                      <a:r>
                        <a:rPr sz="1400" b="1">
                          <a:solidFill>
                            <a:srgbClr val="13262B"/>
                          </a:solidFill>
                        </a:rPr>
                        <a:t>LoHo Campus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777,750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1,636,750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1,492,000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b="1">
                          <a:solidFill>
                            <a:srgbClr val="1B7F79"/>
                          </a:solidFill>
                        </a:rPr>
                        <a:t>3,906,500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new</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585216">
                <a:tc>
                  <a:txBody>
                    <a:bodyPr wrap="square"/>
                    <a:lstStyle/>
                    <a:p>
                      <a:r>
                        <a:rPr sz="1400" b="1">
                          <a:solidFill>
                            <a:srgbClr val="13262B"/>
                          </a:solidFill>
                        </a:rPr>
                        <a:t>MTN Academy (Ug)</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2,941,848</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b="1">
                          <a:solidFill>
                            <a:srgbClr val="1B7F79"/>
                          </a:solidFill>
                        </a:rPr>
                        <a:t>2,941,848</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1,500,000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pPr algn="r"/>
                      <a:r>
                        <a:rPr sz="1400">
                          <a:solidFill>
                            <a:srgbClr val="13262B"/>
                          </a:solidFill>
                        </a:rPr>
                        <a:t>2.0x</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585216">
                <a:tc>
                  <a:txBody>
                    <a:bodyPr wrap="square"/>
                    <a:lstStyle/>
                    <a:p>
                      <a:r>
                        <a:rPr sz="1400" b="1">
                          <a:solidFill>
                            <a:srgbClr val="13262B"/>
                          </a:solidFill>
                        </a:rPr>
                        <a:t>Total (KES)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3262B"/>
                          </a:solidFill>
                        </a:rPr>
                        <a:t>8,185,000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3262B"/>
                          </a:solidFill>
                        </a:rPr>
                        <a:t>9,121,000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3262B"/>
                          </a:solidFill>
                        </a:rPr>
                        <a:t>11,221,848</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B7F79"/>
                          </a:solidFill>
                        </a:rPr>
                        <a:t>28,527,848</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3262B"/>
                          </a:solidFill>
                        </a:rPr>
                        <a:t>3,786,348</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wrap="square"/>
                    <a:lstStyle/>
                    <a:p>
                      <a:pPr algn="r"/>
                      <a:r>
                        <a:rPr sz="1400" b="1">
                          <a:solidFill>
                            <a:srgbClr val="13262B"/>
                          </a:solidFill>
                        </a:rPr>
                        <a:t>7.5x</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October to December</a:t>
            </a:r>
            <a:endParaRPr lang="en-US" sz="3200" dirty="0"/>
          </a:p>
        </p:txBody>
      </p:sp>
      <p:sp>
        <p:nvSpPr>
          <p:cNvPr id="3" name="October header"/>
          <p:cNvSpPr/>
          <p:nvPr/>
        </p:nvSpPr>
        <p:spPr>
          <a:xfrm>
            <a:off x="548640" y="1371600"/>
            <a:ext cx="3593592" cy="914400"/>
          </a:xfrm>
          <a:prstGeom prst="roundRect">
            <a:avLst>
              <a:gd name="adj" fmla="val 10000"/>
            </a:avLst>
          </a:prstGeom>
          <a:solidFill>
            <a:schemeClr val="tx2"/>
          </a:solidFill>
          <a:ln w="12700">
            <a:solidFill>
              <a:schemeClr val="tx2"/>
            </a:solidFill>
            <a:prstDash val="solid"/>
          </a:ln>
        </p:spPr>
        <p:txBody>
          <a:bodyPr/>
          <a:lstStyle/>
          <a:p>
            <a:endParaRPr/>
          </a:p>
        </p:txBody>
      </p:sp>
      <p:sp>
        <p:nvSpPr>
          <p:cNvPr id="4" name="Text 2"/>
          <p:cNvSpPr txBox="1"/>
          <p:nvPr/>
        </p:nvSpPr>
        <p:spPr>
          <a:xfrm>
            <a:off x="77724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October</a:t>
            </a:r>
            <a:endParaRPr lang="en-US" sz="2200" dirty="0"/>
          </a:p>
          <a:p>
            <a:pPr marL="0" indent="0">
              <a:buNone/>
            </a:pPr>
            <a:r>
              <a:rPr lang="en-US" sz="1400" dirty="0">
                <a:solidFill>
                  <a:schemeClr val="bg1"/>
                </a:solidFill>
              </a:rPr>
              <a:t>Close and set up</a:t>
            </a:r>
            <a:endParaRPr lang="en-US" sz="2200" dirty="0"/>
          </a:p>
        </p:txBody>
      </p:sp>
      <p:sp>
        <p:nvSpPr>
          <p:cNvPr id="5" name="October card"/>
          <p:cNvSpPr/>
          <p:nvPr/>
        </p:nvSpPr>
        <p:spPr>
          <a:xfrm>
            <a:off x="54864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6" name="Text 4"/>
          <p:cNvSpPr txBox="1"/>
          <p:nvPr/>
        </p:nvSpPr>
        <p:spPr>
          <a:xfrm>
            <a:off x="77724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smtClean="0">
                <a:solidFill>
                  <a:schemeClr val="tx1"/>
                </a:solidFill>
              </a:rPr>
              <a:t>Statutory </a:t>
            </a:r>
            <a:r>
              <a:rPr lang="en-US" sz="1500" dirty="0">
                <a:solidFill>
                  <a:schemeClr val="tx1"/>
                </a:solidFill>
              </a:rPr>
              <a:t>remittance plan agreed</a:t>
            </a:r>
            <a:endParaRPr lang="en-US" sz="1500" dirty="0"/>
          </a:p>
          <a:p>
            <a:pPr marL="342900" indent="-342900">
              <a:spcAft>
                <a:spcPts val="1200"/>
              </a:spcAft>
              <a:buSzPct val="100000"/>
              <a:buChar char="•"/>
            </a:pPr>
            <a:r>
              <a:rPr lang="en-US" sz="1500" dirty="0">
                <a:solidFill>
                  <a:schemeClr val="tx1"/>
                </a:solidFill>
              </a:rPr>
              <a:t>Start performance reviews</a:t>
            </a:r>
            <a:endParaRPr lang="en-US" sz="1500" dirty="0"/>
          </a:p>
          <a:p>
            <a:pPr marL="342900" indent="-342900">
              <a:spcAft>
                <a:spcPts val="1200"/>
              </a:spcAft>
              <a:buSzPct val="100000"/>
              <a:buChar char="•"/>
            </a:pPr>
            <a:r>
              <a:rPr lang="en-US" sz="1500" dirty="0">
                <a:solidFill>
                  <a:schemeClr val="tx1"/>
                </a:solidFill>
              </a:rPr>
              <a:t>Reconcile debtor </a:t>
            </a:r>
            <a:r>
              <a:rPr lang="en-US" sz="1500" dirty="0" smtClean="0">
                <a:solidFill>
                  <a:schemeClr val="tx1"/>
                </a:solidFill>
              </a:rPr>
              <a:t>balances</a:t>
            </a:r>
            <a:endParaRPr lang="en-US" sz="1500" dirty="0"/>
          </a:p>
        </p:txBody>
      </p:sp>
      <p:sp>
        <p:nvSpPr>
          <p:cNvPr id="7" name="November header"/>
          <p:cNvSpPr/>
          <p:nvPr/>
        </p:nvSpPr>
        <p:spPr>
          <a:xfrm>
            <a:off x="4297680" y="1371600"/>
            <a:ext cx="3593592" cy="914400"/>
          </a:xfrm>
          <a:prstGeom prst="roundRect">
            <a:avLst>
              <a:gd name="adj" fmla="val 10000"/>
            </a:avLst>
          </a:prstGeom>
          <a:solidFill>
            <a:schemeClr val="accent1"/>
          </a:solidFill>
          <a:ln w="12700">
            <a:solidFill>
              <a:schemeClr val="tx2"/>
            </a:solidFill>
            <a:prstDash val="solid"/>
          </a:ln>
        </p:spPr>
        <p:txBody>
          <a:bodyPr/>
          <a:lstStyle/>
          <a:p>
            <a:endParaRPr/>
          </a:p>
        </p:txBody>
      </p:sp>
      <p:sp>
        <p:nvSpPr>
          <p:cNvPr id="8" name="Text 6"/>
          <p:cNvSpPr txBox="1"/>
          <p:nvPr/>
        </p:nvSpPr>
        <p:spPr>
          <a:xfrm>
            <a:off x="452628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November</a:t>
            </a:r>
            <a:endParaRPr lang="en-US" sz="2200" dirty="0"/>
          </a:p>
          <a:p>
            <a:pPr marL="0" indent="0">
              <a:buNone/>
            </a:pPr>
            <a:r>
              <a:rPr lang="en-US" sz="1400" dirty="0">
                <a:solidFill>
                  <a:schemeClr val="bg1"/>
                </a:solidFill>
              </a:rPr>
              <a:t>Execute and review</a:t>
            </a:r>
            <a:endParaRPr lang="en-US" sz="2200" dirty="0"/>
          </a:p>
        </p:txBody>
      </p:sp>
      <p:sp>
        <p:nvSpPr>
          <p:cNvPr id="9" name="November card"/>
          <p:cNvSpPr/>
          <p:nvPr/>
        </p:nvSpPr>
        <p:spPr>
          <a:xfrm>
            <a:off x="429768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10" name="Text 8"/>
          <p:cNvSpPr txBox="1"/>
          <p:nvPr/>
        </p:nvSpPr>
        <p:spPr>
          <a:xfrm>
            <a:off x="452628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Mid-quarter sales and cost review</a:t>
            </a:r>
            <a:endParaRPr lang="en-US" sz="1500" dirty="0"/>
          </a:p>
          <a:p>
            <a:pPr marL="342900" indent="-342900">
              <a:spcAft>
                <a:spcPts val="1200"/>
              </a:spcAft>
              <a:buSzPct val="100000"/>
              <a:buChar char="•"/>
            </a:pPr>
            <a:r>
              <a:rPr lang="en-US" sz="1500" dirty="0">
                <a:solidFill>
                  <a:schemeClr val="tx1"/>
                </a:solidFill>
              </a:rPr>
              <a:t>Complete performance reviews</a:t>
            </a:r>
            <a:endParaRPr lang="en-US" sz="1500" dirty="0"/>
          </a:p>
          <a:p>
            <a:pPr marL="342900" indent="-342900">
              <a:spcAft>
                <a:spcPts val="1200"/>
              </a:spcAft>
              <a:buSzPct val="100000"/>
              <a:buChar char="•"/>
            </a:pPr>
            <a:r>
              <a:rPr lang="en-US" sz="1500" dirty="0" smtClean="0">
                <a:solidFill>
                  <a:schemeClr val="tx1"/>
                </a:solidFill>
              </a:rPr>
              <a:t>Share </a:t>
            </a:r>
            <a:r>
              <a:rPr lang="en-US" sz="1500" dirty="0">
                <a:solidFill>
                  <a:schemeClr val="tx1"/>
                </a:solidFill>
              </a:rPr>
              <a:t>survey response with staff</a:t>
            </a:r>
            <a:endParaRPr lang="en-US" sz="1500" dirty="0"/>
          </a:p>
          <a:p>
            <a:pPr marL="342900" indent="-342900">
              <a:spcAft>
                <a:spcPts val="1200"/>
              </a:spcAft>
              <a:buSzPct val="100000"/>
              <a:buChar char="•"/>
            </a:pPr>
            <a:r>
              <a:rPr lang="en-US" sz="1500" dirty="0" smtClean="0">
                <a:solidFill>
                  <a:schemeClr val="tx1"/>
                </a:solidFill>
              </a:rPr>
              <a:t>Skills-gap </a:t>
            </a:r>
            <a:r>
              <a:rPr lang="en-US" sz="1500" dirty="0" smtClean="0">
                <a:solidFill>
                  <a:schemeClr val="tx1"/>
                </a:solidFill>
              </a:rPr>
              <a:t>assessment</a:t>
            </a:r>
            <a:endParaRPr lang="en-US" sz="1500" dirty="0"/>
          </a:p>
        </p:txBody>
      </p:sp>
      <p:sp>
        <p:nvSpPr>
          <p:cNvPr id="11" name="December header"/>
          <p:cNvSpPr/>
          <p:nvPr/>
        </p:nvSpPr>
        <p:spPr>
          <a:xfrm>
            <a:off x="8046720" y="1371600"/>
            <a:ext cx="3593592" cy="914400"/>
          </a:xfrm>
          <a:prstGeom prst="roundRect">
            <a:avLst>
              <a:gd name="adj" fmla="val 10000"/>
            </a:avLst>
          </a:prstGeom>
          <a:solidFill>
            <a:schemeClr val="tx2"/>
          </a:solidFill>
          <a:ln w="12700">
            <a:solidFill>
              <a:schemeClr val="tx2"/>
            </a:solidFill>
            <a:prstDash val="solid"/>
          </a:ln>
        </p:spPr>
        <p:txBody>
          <a:bodyPr/>
          <a:lstStyle/>
          <a:p>
            <a:endParaRPr/>
          </a:p>
        </p:txBody>
      </p:sp>
      <p:sp>
        <p:nvSpPr>
          <p:cNvPr id="12" name="Text 10"/>
          <p:cNvSpPr txBox="1"/>
          <p:nvPr/>
        </p:nvSpPr>
        <p:spPr>
          <a:xfrm>
            <a:off x="827532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December</a:t>
            </a:r>
            <a:endParaRPr lang="en-US" sz="2200" dirty="0"/>
          </a:p>
          <a:p>
            <a:pPr marL="0" indent="0">
              <a:buNone/>
            </a:pPr>
            <a:r>
              <a:rPr lang="en-US" sz="1400" dirty="0">
                <a:solidFill>
                  <a:schemeClr val="bg1"/>
                </a:solidFill>
              </a:rPr>
              <a:t>Land and plan</a:t>
            </a:r>
            <a:endParaRPr lang="en-US" sz="2200" dirty="0"/>
          </a:p>
        </p:txBody>
      </p:sp>
      <p:sp>
        <p:nvSpPr>
          <p:cNvPr id="13" name="December card"/>
          <p:cNvSpPr/>
          <p:nvPr/>
        </p:nvSpPr>
        <p:spPr>
          <a:xfrm>
            <a:off x="804672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14" name="Text 12"/>
          <p:cNvSpPr txBox="1"/>
          <p:nvPr/>
        </p:nvSpPr>
        <p:spPr>
          <a:xfrm>
            <a:off x="827532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Engagement event</a:t>
            </a:r>
            <a:endParaRPr lang="en-US" sz="1500" dirty="0"/>
          </a:p>
          <a:p>
            <a:pPr marL="342900" indent="-342900">
              <a:spcAft>
                <a:spcPts val="1200"/>
              </a:spcAft>
              <a:buSzPct val="100000"/>
              <a:buChar char="•"/>
            </a:pPr>
            <a:r>
              <a:rPr lang="en-US" sz="1500" dirty="0">
                <a:solidFill>
                  <a:schemeClr val="tx1"/>
                </a:solidFill>
              </a:rPr>
              <a:t>Half-year close preparation</a:t>
            </a:r>
            <a:endParaRPr lang="en-US" sz="1500" dirty="0"/>
          </a:p>
          <a:p>
            <a:pPr marL="342900" indent="-342900">
              <a:spcAft>
                <a:spcPts val="1200"/>
              </a:spcAft>
              <a:buSzPct val="100000"/>
              <a:buChar char="•"/>
            </a:pPr>
            <a:r>
              <a:rPr lang="en-US" sz="1500" dirty="0">
                <a:solidFill>
                  <a:schemeClr val="tx1"/>
                </a:solidFill>
              </a:rPr>
              <a:t>Q2 results against </a:t>
            </a:r>
            <a:r>
              <a:rPr lang="en-US" sz="1500" dirty="0" smtClean="0">
                <a:solidFill>
                  <a:schemeClr val="tx1"/>
                </a:solidFill>
              </a:rPr>
              <a:t>targets</a:t>
            </a:r>
            <a:endParaRPr lang="en-US" sz="1500" dirty="0"/>
          </a:p>
          <a:p>
            <a:pPr marL="342900" indent="-342900">
              <a:spcAft>
                <a:spcPts val="1200"/>
              </a:spcAft>
              <a:buSzPct val="100000"/>
              <a:buChar char="•"/>
            </a:pPr>
            <a:r>
              <a:rPr lang="en-US" sz="1500" dirty="0">
                <a:solidFill>
                  <a:schemeClr val="tx1"/>
                </a:solidFill>
              </a:rPr>
              <a:t>Escalation paths </a:t>
            </a:r>
            <a:r>
              <a:rPr lang="en-US" sz="1500" dirty="0" smtClean="0">
                <a:solidFill>
                  <a:schemeClr val="tx1"/>
                </a:solidFill>
              </a:rPr>
              <a:t>documented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12</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What we need from others</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spcAft>
                <a:spcPts val="1000"/>
              </a:spcAft>
              <a:buNone/>
            </a:pPr>
            <a:r>
              <a:rPr lang="en-US" sz="2000" dirty="0">
                <a:solidFill>
                  <a:schemeClr val="accent6"/>
                </a:solidFill>
              </a:rPr>
              <a:t>Sales: monthly forecast and help following up school debtors</a:t>
            </a:r>
            <a:endParaRPr lang="en-US" sz="2000" dirty="0"/>
          </a:p>
          <a:p>
            <a:pPr marL="0" indent="0">
              <a:spcAft>
                <a:spcPts val="1000"/>
              </a:spcAft>
              <a:buNone/>
            </a:pPr>
            <a:r>
              <a:rPr lang="en-US" sz="2000" dirty="0">
                <a:solidFill>
                  <a:schemeClr val="accent6"/>
                </a:solidFill>
              </a:rPr>
              <a:t>Management: approval of the statutory remittance schedule and audit timeline</a:t>
            </a:r>
            <a:endParaRPr lang="en-US" sz="2000" dirty="0"/>
          </a:p>
          <a:p>
            <a:pPr marL="0" indent="0">
              <a:spcAft>
                <a:spcPts val="1000"/>
              </a:spcAft>
              <a:buNone/>
            </a:pPr>
            <a:r>
              <a:rPr lang="en-US" sz="2000" dirty="0" smtClean="0">
                <a:solidFill>
                  <a:schemeClr val="accent6"/>
                </a:solidFill>
              </a:rPr>
              <a:t>All </a:t>
            </a:r>
            <a:r>
              <a:rPr lang="en-US" sz="2000" dirty="0">
                <a:solidFill>
                  <a:schemeClr val="accent6"/>
                </a:solidFill>
              </a:rPr>
              <a:t>departments: timely approvals and documents for month-end close</a:t>
            </a:r>
            <a:endParaRPr lang="en-US" sz="20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execution: deliverables, owners and measures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3  Q2 PRIORITIES &amp; EXECUTION</a:t>
            </a:r>
          </a:p>
        </p:txBody>
      </p:sp>
      <p:graphicFrame>
        <p:nvGraphicFramePr>
          <p:cNvPr id="27" name="Q2 execution table"/>
          <p:cNvGraphicFramePr>
            <a:graphicFrameLocks noGrp="1"/>
          </p:cNvGraphicFramePr>
          <p:nvPr/>
        </p:nvGraphicFramePr>
        <p:xfrm>
          <a:off x="548640" y="1280160"/>
          <a:ext cx="11091672" cy="4608576"/>
        </p:xfrm>
        <a:graphic>
          <a:graphicData uri="http://schemas.openxmlformats.org/drawingml/2006/table">
            <a:tbl>
              <a:tblPr firstRow="0" bandRow="0">
                <a:tableStyleId>{2D5ABB26-0587-4C30-8999-92F81FD0307C}</a:tableStyleId>
              </a:tblPr>
              <a:tblGrid>
                <a:gridCol w="3566160"/>
                <a:gridCol w="1371600"/>
                <a:gridCol w="1371600"/>
                <a:gridCol w="3017520"/>
                <a:gridCol w="1764792"/>
              </a:tblGrid>
              <a:tr h="658368">
                <a:tc>
                  <a:txBody>
                    <a:bodyPr wrap="square"/>
                    <a:lstStyle/>
                    <a:p>
                      <a:r>
                        <a:rPr sz="1200" b="1">
                          <a:solidFill>
                            <a:srgbClr val="FFFFFF"/>
                          </a:solidFill>
                        </a:rPr>
                        <a:t>Deliverable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Owner</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By when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Success measure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What we need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658368">
                <a:tc>
                  <a:txBody>
                    <a:bodyPr wrap="square"/>
                    <a:lstStyle/>
                    <a:p>
                      <a:r>
                        <a:rPr sz="1200" b="1">
                          <a:solidFill>
                            <a:srgbClr val="13262B"/>
                          </a:solidFill>
                        </a:rPr>
                        <a:t>Q2 sales tracked against KES 28.5M</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 with Sales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Weekly, monthly variance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Oct 8.19M, Nov 9.12M, Dec 11.22M</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Pipeline for Elimu Pepe and Campus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Cash runway report and 12-month forecast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Mid-month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Runway of 6 months or more shown for the 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Sales forecast each 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Collections: reconcile debtors, escalate accounts, dated recovery milestones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Oct, then bi-weekly</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95% collections discipline; 50% of invoices paid in 30 days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Sales support on school follow-up</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Statutory remittance schedule agreed and executed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Oct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Statutory accounts reconciled and paid on due dates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Approval of cash release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FY2025/26 audit completed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Dec</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Audit signed off</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Timely answers to auditor queries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Q1 performance reviews; recover the 5 off-plan actions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Operations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30 Nov to 31 Dec</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Every staff member reviewed; owner, date and evidence for each action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KPI assessments and manager time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bl>
          </a:graphicData>
        </a:graphic>
      </p:graphicFrame>
      <p:sp>
        <p:nvSpPr>
          <p:cNvPr id="28"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Target - revenue workbook. Owners, dates and measures are proposals for confirmation.</a:t>
            </a:r>
          </a:p>
        </p:txBody>
      </p:sp>
    </p:spTree>
  </p:cSld>
  <p:clrMapOvr>
    <a:masterClrMapping/>
  </p:clrMapOvr>
</p:sld>
</file>

<file path=ppt/theme/theme1.xml><?xml version="1.0" encoding="utf-8"?>
<a:theme xmlns:a="http://schemas.openxmlformats.org/drawingml/2006/main" name="LoHo FinOps">
  <a:themeElements>
    <a:clrScheme name="LoHo FinOps">
      <a:dk1>
        <a:srgbClr val="13262B"/>
      </a:dk1>
      <a:lt1>
        <a:srgbClr val="FFFFFF"/>
      </a:lt1>
      <a:dk2>
        <a:srgbClr val="0B3C49"/>
      </a:dk2>
      <a:lt2>
        <a:srgbClr val="EEF4F3"/>
      </a:lt2>
      <a:accent1>
        <a:srgbClr val="1B7F79"/>
      </a:accent1>
      <a:accent2>
        <a:srgbClr val="F2A541"/>
      </a:accent2>
      <a:accent3>
        <a:srgbClr val="D1495B"/>
      </a:accent3>
      <a:accent4>
        <a:srgbClr val="6B8F71"/>
      </a:accent4>
      <a:accent5>
        <a:srgbClr val="5C7C8A"/>
      </a:accent5>
      <a:accent6>
        <a:srgbClr val="A8C5C0"/>
      </a:accent6>
      <a:hlink>
        <a:srgbClr val="1B7F79"/>
      </a:hlink>
      <a:folHlink>
        <a:srgbClr val="5C7C8A"/>
      </a:folHlink>
    </a:clrScheme>
    <a:fontScheme name="LoHo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1583</Words>
  <Application>Microsoft Office PowerPoint</Application>
  <PresentationFormat>Widescreen</PresentationFormat>
  <Paragraphs>203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LoHo FinOps</vt:lpstr>
      <vt:lpstr>Finance &amp; Operations: Q1 review and Q2 outlook</vt:lpstr>
      <vt:lpstr>FY26/27 strategy</vt:lpstr>
      <vt:lpstr>Financial resilience: all four actions on plan</vt:lpstr>
      <vt:lpstr>Q1: Revenue reached 63% of target</vt:lpstr>
      <vt:lpstr>Sales by line</vt:lpstr>
      <vt:lpstr>Q1 Performance </vt:lpstr>
      <vt:lpstr>Where the KES 5.2M of operating costs went</vt:lpstr>
      <vt:lpstr>Liquidity: obligations far exceed cash</vt:lpstr>
      <vt:lpstr>Q1 learnings: What to keep and what to change</vt:lpstr>
      <vt:lpstr>Q2 target: KES 28.5M, 7.5 times Q1 sales</vt:lpstr>
      <vt:lpstr>Q2 revenue focus</vt:lpstr>
      <vt:lpstr>Q2 : October to December</vt:lpstr>
      <vt:lpstr>What we need from others</vt:lpstr>
    </vt:vector>
  </TitlesOfParts>
  <Company>LoHo Learning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&amp; Operations: Q1 FY2026/27 Review and Q2 Outlook</dc:title>
  <dc:subject>PptxGenJS Presentation</dc:subject>
  <dc:creator>Finance &amp; Operations</dc:creator>
  <cp:lastModifiedBy>Joyce Kihara</cp:lastModifiedBy>
  <cp:revision>9</cp:revision>
  <dcterms:created xsi:type="dcterms:W3CDTF">2026-10-08T11:23:17Z</dcterms:created>
  <dcterms:modified xsi:type="dcterms:W3CDTF">2026-10-08T12:39:48Z</dcterms:modified>
</cp:coreProperties>
</file>