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0" r:id="rId5"/>
    <p:sldId id="261" r:id="rId6"/>
    <p:sldId id="262" r:id="rId7"/>
    <p:sldId id="279" r:id="rId18"/>
    <p:sldId id="280" r:id="rId19"/>
    <p:sldId id="281" r:id="rId20"/>
    <p:sldId id="275" r:id="rId8"/>
    <p:sldId id="268" r:id="rId9"/>
    <p:sldId id="278" r:id="rId10"/>
    <p:sldId id="269" r:id="rId11"/>
    <p:sldId id="277"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7B35FF0-944E-83F7-FE77-5727E61F998B}">
          <p14:sldIdLst>
            <p14:sldId id="256"/>
            <p14:sldId id="257"/>
          </p14:sldIdLst>
        </p14:section>
        <p14:section name="Q1 review" id="{6E0CA945-EB0F-0C0B-B8C5-FE2937E5689F}">
          <p14:sldIdLst>
            <p14:sldId id="258"/>
          </p14:sldIdLst>
        </p14:section>
        <p14:section name="Finance" id="{EFB5C043-039C-1C78-DCCA-37927BF45555}">
          <p14:sldIdLst>
            <p14:sldId id="260"/>
            <p14:sldId id="261"/>
            <p14:sldId id="262"/>
            <p14:sldId id="275"/>
          </p14:sldIdLst>
        </p14:section>
        <p14:section name="Q2 outlook" id="{14CF850D-0424-750A-5740-8FFB9895F78F}">
          <p14:sldIdLst>
            <p14:sldId id="268"/>
            <p14:sldId id="278"/>
            <p14:sldId id="269"/>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8" d="100"/>
          <a:sy n="68" d="100"/>
        </p:scale>
        <p:origin x="59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C7C8A"/>
                </a:solidFill>
                <a:latin typeface="+mn-lt"/>
              </a:defRPr>
            </a:pPr>
            <a:r>
              <a:rPr lang="en-US" sz="1200" b="0" i="0" u="none" strike="noStrike">
                <a:solidFill>
                  <a:srgbClr val="5C7C8A"/>
                </a:solidFill>
                <a:latin typeface="+mn-lt"/>
              </a:rPr>
              <a:t>KES millions</a:t>
            </a:r>
          </a:p>
        </c:rich>
      </c:tx>
      <c:layout/>
      <c:overlay val="0"/>
    </c:title>
    <c:autoTitleDeleted val="0"/>
    <c:plotArea>
      <c:layout/>
      <c:barChart>
        <c:barDir val="col"/>
        <c:grouping val="clustered"/>
        <c:varyColors val="0"/>
        <c:ser>
          <c:idx val="0"/>
          <c:order val="0"/>
          <c:tx>
            <c:strRef>
              <c:f>Sheet1!$B$1</c:f>
              <c:strCache>
                <c:ptCount val="1"/>
                <c:pt idx="0">
                  <c:v>Q1 target</c:v>
                </c:pt>
              </c:strCache>
            </c:strRef>
          </c:tx>
          <c:spPr>
            <a:solidFill>
              <a:srgbClr val="A8C5C0"/>
            </a:solidFill>
            <a:effectLst/>
          </c:spPr>
          <c:invertIfNegative val="0"/>
          <c:dLbls>
            <c:numFmt formatCode="0.00" sourceLinked="0"/>
            <c:spPr>
              <a:noFill/>
              <a:ln>
                <a:noFill/>
              </a:ln>
              <a:effectLst/>
            </c:spPr>
            <c:txPr>
              <a:bodyPr/>
              <a:lstStyle/>
              <a:p>
                <a:pPr>
                  <a:defRPr sz="11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CaaS eBooks</c:v>
                </c:pt>
                <c:pt idx="1">
                  <c:v>Elimu Pepe</c:v>
                </c:pt>
                <c:pt idx="2">
                  <c:v>LoHo Devices</c:v>
                </c:pt>
                <c:pt idx="3">
                  <c:v>MTN Academy (Ug)</c:v>
                </c:pt>
              </c:strCache>
            </c:strRef>
          </c:cat>
          <c:val>
            <c:numRef>
              <c:f>Sheet1!$B$2:$B$5</c:f>
              <c:numCache>
                <c:formatCode>General</c:formatCode>
                <c:ptCount val="4"/>
                <c:pt idx="0">
                  <c:v>0.92300000000000004</c:v>
                </c:pt>
                <c:pt idx="1">
                  <c:v>3.85</c:v>
                </c:pt>
                <c:pt idx="2">
                  <c:v>1.2004999999999999</c:v>
                </c:pt>
                <c:pt idx="3">
                  <c:v>0</c:v>
                </c:pt>
              </c:numCache>
            </c:numRef>
          </c:val>
          <c:extLst>
            <c:ext xmlns:c16="http://schemas.microsoft.com/office/drawing/2014/chart" uri="{C3380CC4-5D6E-409C-BE32-E72D297353CC}">
              <c16:uniqueId val="{00000000-27BC-4E26-9987-8BE537D0422A}"/>
            </c:ext>
          </c:extLst>
        </c:ser>
        <c:ser>
          <c:idx val="1"/>
          <c:order val="1"/>
          <c:tx>
            <c:strRef>
              <c:f>Sheet1!$C$1</c:f>
              <c:strCache>
                <c:ptCount val="1"/>
                <c:pt idx="0">
                  <c:v>Q1 achieved</c:v>
                </c:pt>
              </c:strCache>
            </c:strRef>
          </c:tx>
          <c:spPr>
            <a:solidFill>
              <a:srgbClr val="1B7F79"/>
            </a:solidFill>
            <a:effectLst/>
          </c:spPr>
          <c:invertIfNegative val="0"/>
          <c:dLbls>
            <c:numFmt formatCode="0.00" sourceLinked="0"/>
            <c:spPr>
              <a:noFill/>
              <a:ln>
                <a:noFill/>
              </a:ln>
              <a:effectLst/>
            </c:spPr>
            <c:txPr>
              <a:bodyPr/>
              <a:lstStyle/>
              <a:p>
                <a:pPr>
                  <a:defRPr sz="11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CaaS eBooks</c:v>
                </c:pt>
                <c:pt idx="1">
                  <c:v>Elimu Pepe</c:v>
                </c:pt>
                <c:pt idx="2">
                  <c:v>LoHo Devices</c:v>
                </c:pt>
                <c:pt idx="3">
                  <c:v>MTN Academy (Ug)</c:v>
                </c:pt>
              </c:strCache>
            </c:strRef>
          </c:cat>
          <c:val>
            <c:numRef>
              <c:f>Sheet1!$C$2:$C$5</c:f>
              <c:numCache>
                <c:formatCode>General</c:formatCode>
                <c:ptCount val="4"/>
                <c:pt idx="0">
                  <c:v>1.359</c:v>
                </c:pt>
                <c:pt idx="1">
                  <c:v>0.82</c:v>
                </c:pt>
                <c:pt idx="2">
                  <c:v>0.107</c:v>
                </c:pt>
                <c:pt idx="3">
                  <c:v>1.5</c:v>
                </c:pt>
              </c:numCache>
            </c:numRef>
          </c:val>
          <c:extLst>
            <c:ext xmlns:c16="http://schemas.microsoft.com/office/drawing/2014/chart" uri="{C3380CC4-5D6E-409C-BE32-E72D297353CC}">
              <c16:uniqueId val="{00000001-27BC-4E26-9987-8BE537D0422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62B"/>
                </a:solidFill>
                <a:latin typeface="+mn-lt"/>
              </a:defRPr>
            </a:pPr>
            <a:endParaRPr lang="en-US"/>
          </a:p>
        </c:txPr>
        <c:crossAx val="2094734552"/>
        <c:crosses val="autoZero"/>
        <c:auto val="1"/>
        <c:lblAlgn val="ctr"/>
        <c:lblOffset val="100"/>
        <c:noMultiLvlLbl val="1"/>
      </c:catAx>
      <c:valAx>
        <c:axId val="2094734552"/>
        <c:scaling>
          <c:orientation val="minMax"/>
          <c:max val="4.5"/>
          <c:min val="0"/>
        </c:scaling>
        <c:delete val="0"/>
        <c:axPos val="l"/>
        <c:majorGridlines>
          <c:spPr>
            <a:ln w="9525" cap="flat">
              <a:solidFill>
                <a:srgbClr val="D9E3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7C8A"/>
                </a:solidFill>
                <a:latin typeface="+mn-lt"/>
              </a:defRPr>
            </a:pPr>
            <a:endParaRPr lang="en-US"/>
          </a:p>
        </c:txPr>
        <c:crossAx val="2094734554"/>
        <c:crosses val="autoZero"/>
        <c:crossBetween val="between"/>
      </c:valAx>
      <c:spPr>
        <a:noFill/>
        <a:ln>
          <a:noFill/>
        </a:ln>
        <a:effectLst/>
      </c:spPr>
    </c:plotArea>
    <c:legend>
      <c:legendPos val="b"/>
      <c:layout/>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C7C8A"/>
                </a:solidFill>
                <a:latin typeface="+mn-lt"/>
              </a:defRPr>
            </a:pPr>
            <a:r>
              <a:rPr lang="en-US" sz="1200" b="0" i="0" u="none" strike="noStrike">
                <a:solidFill>
                  <a:srgbClr val="5C7C8A"/>
                </a:solidFill>
                <a:latin typeface="+mn-lt"/>
              </a:rPr>
              <a:t>KES millions</a:t>
            </a:r>
          </a:p>
        </c:rich>
      </c:tx>
      <c:layout/>
      <c:overlay val="0"/>
    </c:title>
    <c:autoTitleDeleted val="0"/>
    <c:plotArea>
      <c:layout/>
      <c:barChart>
        <c:barDir val="bar"/>
        <c:grouping val="clustered"/>
        <c:varyColors val="0"/>
        <c:ser>
          <c:idx val="0"/>
          <c:order val="0"/>
          <c:tx>
            <c:strRef>
              <c:f>Sheet1!$B$1</c:f>
              <c:strCache>
                <c:ptCount val="1"/>
                <c:pt idx="0">
                  <c:v>Q1 operating costs</c:v>
                </c:pt>
              </c:strCache>
            </c:strRef>
          </c:tx>
          <c:spPr>
            <a:solidFill>
              <a:srgbClr val="1B7F79"/>
            </a:solidFill>
            <a:effectLst/>
          </c:spPr>
          <c:invertIfNegative val="0"/>
          <c:dLbls>
            <c:numFmt formatCode="0.00" sourceLinked="0"/>
            <c:spPr>
              <a:noFill/>
              <a:ln>
                <a:noFill/>
              </a:ln>
              <a:effectLst/>
            </c:spPr>
            <c:txPr>
              <a:bodyPr/>
              <a:lstStyle/>
              <a:p>
                <a:pPr>
                  <a:defRPr sz="12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Sheet1!$A$2:$A$7</c:f>
              <c:strCache>
                <c:ptCount val="6"/>
                <c:pt idx="0">
                  <c:v>Staff costs</c:v>
                </c:pt>
                <c:pt idx="1">
                  <c:v>Amortisation (software)</c:v>
                </c:pt>
                <c:pt idx="2">
                  <c:v>Other admin</c:v>
                </c:pt>
                <c:pt idx="3">
                  <c:v>Sales &amp; marketing</c:v>
                </c:pt>
                <c:pt idx="4">
                  <c:v>Telephone &amp; internet</c:v>
                </c:pt>
                <c:pt idx="5">
                  <c:v>Depreciation &amp; repairs</c:v>
                </c:pt>
              </c:strCache>
            </c:strRef>
          </c:cat>
          <c:val>
            <c:numRef>
              <c:f>Sheet1!$B$2:$B$7</c:f>
              <c:numCache>
                <c:formatCode>General</c:formatCode>
                <c:ptCount val="6"/>
                <c:pt idx="0">
                  <c:v>2.1059999999999999</c:v>
                </c:pt>
                <c:pt idx="1">
                  <c:v>1.8819999999999999</c:v>
                </c:pt>
                <c:pt idx="2">
                  <c:v>0.90300000000000002</c:v>
                </c:pt>
                <c:pt idx="3">
                  <c:v>0.26200000000000001</c:v>
                </c:pt>
                <c:pt idx="4">
                  <c:v>3.5000000000000003E-2</c:v>
                </c:pt>
                <c:pt idx="5">
                  <c:v>1.4999999999999999E-2</c:v>
                </c:pt>
              </c:numCache>
            </c:numRef>
          </c:val>
          <c:extLst>
            <c:ext xmlns:c16="http://schemas.microsoft.com/office/drawing/2014/chart" uri="{C3380CC4-5D6E-409C-BE32-E72D297353CC}">
              <c16:uniqueId val="{00000000-9681-4762-B227-8933323F2636}"/>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3262B"/>
                </a:solidFill>
                <a:latin typeface="+mn-lt"/>
              </a:defRPr>
            </a:pPr>
            <a:endParaRPr lang="en-US"/>
          </a:p>
        </c:txPr>
        <c:crossAx val="2094734552"/>
        <c:crosses val="autoZero"/>
        <c:auto val="1"/>
        <c:lblAlgn val="ctr"/>
        <c:lblOffset val="100"/>
        <c:noMultiLvlLbl val="1"/>
      </c:catAx>
      <c:valAx>
        <c:axId val="2094734552"/>
        <c:scaling>
          <c:orientation val="minMax"/>
          <c:max val="2.6"/>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200" b="0">
                <a:solidFill>
                  <a:srgbClr val="5C7C8A"/>
                </a:solidFill>
              </a:rPr>
              <a:t>KES millions</a:t>
            </a:r>
          </a:p>
        </c:rich>
      </c:tx>
      <c:layout/>
      <c:overlay val="0"/>
    </c:title>
    <c:autoTitleDeleted val="0"/>
    <c:plotArea>
      <c:layout/>
      <c:barChart>
        <c:barDir val="col"/>
        <c:grouping val="clustered"/>
        <c:varyColors val="1"/>
        <c:ser>
          <c:idx val="0"/>
          <c:order val="0"/>
          <c:tx>
            <c:strRef>
              <c:f>Sheet1!$B$1</c:f>
              <c:strCache>
                <c:ptCount val="1"/>
                <c:pt idx="0">
                  <c:v>Q1 achieved</c:v>
                </c:pt>
              </c:strCache>
            </c:strRef>
          </c:tx>
          <c:spPr>
            <a:solidFill>
              <a:srgbClr val="A8C5C0"/>
            </a:solidFill>
          </c:spPr>
          <c:invertIfNegative val="1"/>
          <c:dLbls>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CaaS eBooks</c:v>
                </c:pt>
                <c:pt idx="1">
                  <c:v>Elimu Pepe</c:v>
                </c:pt>
                <c:pt idx="2">
                  <c:v>LoHo Devices</c:v>
                </c:pt>
                <c:pt idx="3">
                  <c:v>LoHo Campus</c:v>
                </c:pt>
                <c:pt idx="4">
                  <c:v>MTN Academy (Ug)</c:v>
                </c:pt>
              </c:strCache>
            </c:strRef>
          </c:cat>
          <c:val>
            <c:numRef>
              <c:f>Sheet1!$B$2:$B$6</c:f>
              <c:numCache>
                <c:formatCode>General</c:formatCode>
                <c:ptCount val="5"/>
                <c:pt idx="0">
                  <c:v>1.359</c:v>
                </c:pt>
                <c:pt idx="1">
                  <c:v>0.82</c:v>
                </c:pt>
                <c:pt idx="2">
                  <c:v>0.107</c:v>
                </c:pt>
                <c:pt idx="3">
                  <c:v>0</c:v>
                </c:pt>
                <c:pt idx="4">
                  <c:v>1.5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58E-461A-96B4-17CBE181EE84}"/>
            </c:ext>
          </c:extLst>
        </c:ser>
        <c:ser>
          <c:idx val="1"/>
          <c:order val="1"/>
          <c:tx>
            <c:strRef>
              <c:f>Sheet1!$C$1</c:f>
              <c:strCache>
                <c:ptCount val="1"/>
                <c:pt idx="0">
                  <c:v>Q2 target</c:v>
                </c:pt>
              </c:strCache>
            </c:strRef>
          </c:tx>
          <c:spPr>
            <a:solidFill>
              <a:srgbClr val="1B7F79"/>
            </a:solidFill>
          </c:spPr>
          <c:invertIfNegative val="1"/>
          <c:dLbls>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CaaS eBooks</c:v>
                </c:pt>
                <c:pt idx="1">
                  <c:v>Elimu Pepe</c:v>
                </c:pt>
                <c:pt idx="2">
                  <c:v>LoHo Devices</c:v>
                </c:pt>
                <c:pt idx="3">
                  <c:v>LoHo Campus</c:v>
                </c:pt>
                <c:pt idx="4">
                  <c:v>MTN Academy (Ug)</c:v>
                </c:pt>
              </c:strCache>
            </c:strRef>
          </c:cat>
          <c:val>
            <c:numRef>
              <c:f>Sheet1!$C$2:$C$6</c:f>
              <c:numCache>
                <c:formatCode>General</c:formatCode>
                <c:ptCount val="5"/>
                <c:pt idx="0">
                  <c:v>3.1469999999999998</c:v>
                </c:pt>
                <c:pt idx="1">
                  <c:v>13.625999999999999</c:v>
                </c:pt>
                <c:pt idx="2">
                  <c:v>4.9065000000000003</c:v>
                </c:pt>
                <c:pt idx="3">
                  <c:v>3.9064999999999999</c:v>
                </c:pt>
                <c:pt idx="4">
                  <c:v>2.9420000000000002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58E-461A-96B4-17CBE181EE84}"/>
            </c:ext>
          </c:extLst>
        </c:ser>
        <c:dLbls>
          <c:dLblPos val="outEnd"/>
          <c:showLegendKey val="0"/>
          <c:showVal val="1"/>
          <c:showCatName val="0"/>
          <c:showSerName val="0"/>
          <c:showPercent val="0"/>
          <c:showBubbleSize val="0"/>
        </c:dLbls>
        <c:gapWidth val="80"/>
        <c:overlap val="-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E3E1"/>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16"/>
          <c:min val="0"/>
        </c:scaling>
        <c:delete val="0"/>
        <c:axPos val="l"/>
        <c:majorGridlines>
          <c:spPr>
            <a:ln>
              <a:solidFill>
                <a:srgbClr val="D9E3E1"/>
              </a:solidFill>
            </a:ln>
          </c:spPr>
        </c:majorGridlines>
        <c:numFmt formatCode="General" sourceLinked="1"/>
        <c:majorTickMark val="out"/>
        <c:minorTickMark val="none"/>
        <c:tickLblPos val="nextTo"/>
        <c:spPr>
          <a:ln>
            <a:noFill/>
          </a:ln>
        </c:spPr>
        <c:txPr>
          <a:bodyPr/>
          <a:lstStyle/>
          <a:p>
            <a:pPr>
              <a:defRPr sz="1100">
                <a:solidFill>
                  <a:srgbClr val="5C7C8A"/>
                </a:solidFill>
              </a:defRPr>
            </a:pPr>
            <a:endParaRPr lang="en-US"/>
          </a:p>
        </c:txPr>
        <c:crossAx val="-2068027336"/>
        <c:crosses val="autoZero"/>
        <c:crossBetween val="between"/>
      </c:valAx>
    </c:plotArea>
    <c:legend>
      <c:legendPos val="b"/>
      <c:layout/>
      <c:overlay val="0"/>
      <c:txPr>
        <a:bodyPr/>
        <a:lstStyle/>
        <a:p>
          <a:pPr>
            <a:defRPr sz="1200"/>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0">
                <a:solidFill>
                  <a:srgbClr val="5C7C8A"/>
                </a:solidFill>
              </a:rPr>
              <a:t>Headcount by month</a:t>
            </a:r>
          </a:p>
        </c:rich>
      </c:tx>
      <c:layout/>
      <c:overlay val="0"/>
    </c:title>
    <c:autoTitleDeleted val="0"/>
    <c:plotArea>
      <c:barChart>
        <c:barDir val="col"/>
        <c:grouping val="stacked"/>
        <c:ser>
          <c:idx val="0"/>
          <c:order val="0"/>
          <c:tx>
            <c:strRef>
              <c:f>Sheet1!$B$1</c:f>
              <c:strCache>
                <c:ptCount val="1"/>
                <c:pt idx="0">
                  <c:v>Permanent</c:v>
                </c:pt>
              </c:strCache>
            </c:strRef>
          </c:tx>
          <c:spPr>
            <a:solidFill>
              <a:srgbClr val="0B3C49"/>
            </a:solidFill>
          </c:spPr>
          <c:dLbls>
            <c:txPr>
              <a:bodyPr/>
              <a:lstStyle/>
              <a:p>
                <a:pPr>
                  <a:defRPr sz="1400" b="1">
                    <a:solidFill>
                      <a:srgbClr val="FFFFFF"/>
                    </a:solidFill>
                  </a:defRPr>
                </a:pPr>
              </a:p>
            </c:txPr>
            <c:dLblPos val="ctr"/>
            <c:showLegendKey val="0"/>
            <c:showVal val="1"/>
            <c:showCatName val="0"/>
            <c:showSerName val="0"/>
            <c:showPercent val="0"/>
            <c:showBubbleSize val="0"/>
            <c:showLeaderLines val="1"/>
          </c:dLbls>
          <c:cat>
            <c:strRef>
              <c:f>Sheet1!$A$2:$A$4</c:f>
              <c:strCache>
                <c:ptCount val="3"/>
                <c:pt idx="0">
                  <c:v>July</c:v>
                </c:pt>
                <c:pt idx="1">
                  <c:v>August</c:v>
                </c:pt>
                <c:pt idx="2">
                  <c:v>September</c:v>
                </c:pt>
              </c:strCache>
            </c:strRef>
          </c:cat>
          <c:val>
            <c:numRef>
              <c:f>Sheet1!$B$2:$B$4</c:f>
              <c:numCache>
                <c:formatCode>General</c:formatCode>
                <c:ptCount val="3"/>
                <c:pt idx="0">
                  <c:v>12</c:v>
                </c:pt>
                <c:pt idx="1">
                  <c:v>12</c:v>
                </c:pt>
                <c:pt idx="2">
                  <c:v>12</c:v>
                </c:pt>
              </c:numCache>
            </c:numRef>
          </c:val>
        </c:ser>
        <c:ser>
          <c:idx val="1"/>
          <c:order val="1"/>
          <c:tx>
            <c:strRef>
              <c:f>Sheet1!$C$1</c:f>
              <c:strCache>
                <c:ptCount val="1"/>
                <c:pt idx="0">
                  <c:v>Consultants</c:v>
                </c:pt>
              </c:strCache>
            </c:strRef>
          </c:tx>
          <c:spPr>
            <a:solidFill>
              <a:srgbClr val="5C7C8A"/>
            </a:solidFill>
          </c:spPr>
          <c:dLbls>
            <c:txPr>
              <a:bodyPr/>
              <a:lstStyle/>
              <a:p>
                <a:pPr>
                  <a:defRPr sz="1400" b="1">
                    <a:solidFill>
                      <a:srgbClr val="FFFFFF"/>
                    </a:solidFill>
                  </a:defRPr>
                </a:pPr>
              </a:p>
            </c:txPr>
            <c:dLblPos val="ctr"/>
            <c:showLegendKey val="0"/>
            <c:showVal val="1"/>
            <c:showCatName val="0"/>
            <c:showSerName val="0"/>
            <c:showPercent val="0"/>
            <c:showBubbleSize val="0"/>
            <c:showLeaderLines val="1"/>
          </c:dLbls>
          <c:cat>
            <c:strRef>
              <c:f>Sheet1!$A$2:$A$4</c:f>
              <c:strCache>
                <c:ptCount val="3"/>
                <c:pt idx="0">
                  <c:v>July</c:v>
                </c:pt>
                <c:pt idx="1">
                  <c:v>August</c:v>
                </c:pt>
                <c:pt idx="2">
                  <c:v>September</c:v>
                </c:pt>
              </c:strCache>
            </c:strRef>
          </c:cat>
          <c:val>
            <c:numRef>
              <c:f>Sheet1!$C$2:$C$4</c:f>
              <c:numCache>
                <c:formatCode>General</c:formatCode>
                <c:ptCount val="3"/>
                <c:pt idx="0">
                  <c:v>3</c:v>
                </c:pt>
                <c:pt idx="1">
                  <c:v>4</c:v>
                </c:pt>
                <c:pt idx="2">
                  <c:v>5</c:v>
                </c:pt>
              </c:numCache>
            </c:numRef>
          </c:val>
        </c:ser>
        <c:gapWidth val="70"/>
        <c:overlap val="100"/>
        <c:axId val="-2068027336"/>
        <c:axId val="-2113994440"/>
      </c:barChart>
      <c:catAx>
        <c:axId val="-2068027336"/>
        <c:scaling>
          <c:orientation val="minMax"/>
        </c:scaling>
        <c:delete val="0"/>
        <c:axPos val="b"/>
        <c:majorTickMark val="out"/>
        <c:minorTickMark val="none"/>
        <c:tickLblPos val="nextTo"/>
        <c:spPr>
          <a:ln>
            <a:solidFill>
              <a:srgbClr val="D9E3E1"/>
            </a:solidFill>
          </a:ln>
        </c:spPr>
        <c:txPr>
          <a:bodyPr/>
          <a:lstStyle/>
          <a:p>
            <a:pPr>
              <a:defRPr sz="1200"/>
            </a:pPr>
          </a:p>
        </c:txPr>
        <c:crossAx val="-2113994440"/>
        <c:crosses val="autoZero"/>
        <c:auto val="1"/>
        <c:lblAlgn val="ctr"/>
        <c:lblOffset val="100"/>
        <c:noMultiLvlLbl val="0"/>
      </c:catAx>
      <c:valAx>
        <c:axId val="-2113994440"/>
        <c:scaling>
          <c:max val="20.0"/>
          <c:min val="0.0"/>
        </c:scaling>
        <c:delete val="0"/>
        <c:axPos val="l"/>
        <c:majorGridlines>
          <c:spPr>
            <a:ln>
              <a:solidFill>
                <a:srgbClr val="D9E3E1"/>
              </a:solidFill>
            </a:ln>
          </c:spPr>
        </c:majorGridlines>
        <c:majorTickMark val="out"/>
        <c:minorTickMark val="none"/>
        <c:tickLblPos val="nextTo"/>
        <c:spPr>
          <a:ln>
            <a:noFill/>
          </a:ln>
        </c:spPr>
        <c:txPr>
          <a:bodyPr/>
          <a:lstStyle/>
          <a:p>
            <a:pPr>
              <a:defRPr sz="1100">
                <a:solidFill>
                  <a:srgbClr val="5C7C8A"/>
                </a:solidFill>
              </a:defRPr>
            </a:pPr>
          </a:p>
        </c:txPr>
        <c:crossAx val="-2068027336"/>
        <c:crosses val="autoZero"/>
      </c:valAx>
    </c:plotArea>
    <c:legend>
      <c:legendPos val="b"/>
      <c:overlay val="0"/>
      <c:txPr>
        <a:bodyPr/>
        <a:lstStyle/>
        <a:p>
          <a:pPr>
            <a:defRPr sz="12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962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purpose: review Q1 results across sales, finance and people operations, then agree Q2 priorities and the decisions needed. Allow about 25 minutes plus questions.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headline: 63.4% of target, KES 2.19M short. Be clear that the operating result is a management view from the chart of accounts, unaudited and before tax. The point to land: revenue is concentrated in two lines, and the two lines that missed are the ones with the largest targets.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Elimu Pepe carried 64% of the total target (KES 3.85M of 5.97M), so its miss explains most of the gap. MTN Academy had no target; without it the quarter would have been KES 2.29M, or 38% of target. Do not name individual staff on screen; keep staff-level results for the sales head.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Q1 net changes from the chart of accounts. Amortisation: KES 1.88M in administration plus KES 0.13M in cost of sales (software). The cash-basis loss is an approximation to show the operating gap excluding non-cash charges. Check: 3,786,384 - 1,647,622 = 2,138,762; opex 5,202,977.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Percentages are shares of KES 5,202,977 operating costs. Bank charges of KES 83K in a quarter are high relative to cash held; worth a check on tariffs and the number of accounts.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to explain what the payroll payables of KES 19.3M are made of: net salary control 3.33M, payroll payables 11.68M and statutory control accounts about 4.2M. Several statutory accounts show no Q1 movement, so check with payroll whether remittances were posted. Do not present these as arrears until confirmed.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Q2 target of 28,527,848 is 7.5 times Q1 actual sales (3,786,348) and 4.8 times the Q1 target (5,973,500). Monthly: Oct 8,185,000; Nov 9,121,000; Dec 11,221,848. Campus had no Q1 sales and now carries KES 3.9M. Finance angle: set a cash and cost plan against this ramp, and ask Sales for the pipeline behind Elimu Pepe.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Q2 sales target by line and month from the revenue target workbook: total KES 28,527,848 (October 8.185M, November 9.121M, December 11.222M). Q1 achieved was KES 3,786,348, so the Q2 target is 7.5 times Q1. Elimu Pepe is 48% of the target and needs a 16.6 times step-up. Devices needs 45.7 times. Campus had no Q1 sales. MTN Academy is billed in December only. Ask Sales for the pipeline behind each line.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we will deliver, who owns it, by when, how success is measured, and what we need from others. Next steps come from the Q1 KPI Status and the Q2 sales target. Owners, dates and measures are proposals; edit before presenting.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inside each month are not fixed in the source documents. Add owners and dates once the team agrees.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Close by asking each owner to confirm. Then open for questions.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Strategic objective tracker for HR and Operations. Overall status is on plan. Two objectives are complete and two are in progress. Staff satisfaction is marked completed because the survey was done, but the result is below the target of more than 50% (overall satisfaction 40%). Check: the KPI status says the bonus rules still need a formal briefing to all staff, while the tracker says the programme was communicated. The performance framework comment in the tracker pointed to a follow-up on 31 August, which has passed; the KPI status shows OKRs and SLAs published and the Q1 review cycle on plan.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Both Q1 additions are consultants, so permanent headcount is unchanged at 12. One Business Associate started in August and one software developer joined in mid-September. No exits. BA recruitment for the Safaricom outlets stands at 3 of 5 and was suspended in September. Internal developer recruitment started in September; total positions needed are to be confirmed. Employee Portal training was completed in July for all eligible staff. Q2: decide whether to resume or close BA recruitment and confirm the developer headcount.</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People objectives 4.1 to 4.4 cover 17 actions, 15 due in Q1: 2 complete, 8 on plan, 5 off plan with no recovery plan, and 2 not due until Q2 and Q3. 10 of 15 due actions are delivered or on plan. Survey: 50% response, overall satisfaction 40%. The strategy measure for objective 4.2 is eNPS of 50 or more; HR reports -75 in its table and 40 in its summary, so confirm the figure before stating a number. 4.1.3 has no recovery step recorded; agree one.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64592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840480"/>
            <a:ext cx="10698480" cy="1097280"/>
          </a:xfrm>
          <a:prstGeom prst="rect">
            <a:avLst/>
          </a:prstGeom>
          <a:noFill/>
          <a:ln/>
        </p:spPr>
        <p:txBody>
          <a:bodyPr wrap="square" rtlCol="0"/>
          <a:lstStyle>
            <a:lvl1pPr marL="0" indent="0">
              <a:buNone/>
              <a:defRPr lang="en-US" sz="2000" dirty="0">
                <a:solidFill>
                  <a:schemeClr val="accent6"/>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LoHo Learning  |  Finance &amp; Operations  |  Q1 FY2026/27 review, Q2 outlook</a:t>
            </a:r>
            <a:endParaRPr lang="en-US" sz="1000" dirty="0"/>
          </a:p>
        </p:txBody>
      </p:sp>
      <p:sp>
        <p:nvSpPr>
          <p:cNvPr id="3" name="Text 1"/>
          <p:cNvSpPr>
            <a:spLocks noGrp="1"/>
          </p:cNvSpPr>
          <p:nvPr>
            <p:ph type="title" idx="101" hasCustomPrompt="1"/>
          </p:nvPr>
        </p:nvSpPr>
        <p:spPr>
          <a:xfrm>
            <a:off x="548640" y="320040"/>
            <a:ext cx="11064240" cy="822960"/>
          </a:xfrm>
          <a:prstGeom prst="rect">
            <a:avLst/>
          </a:prstGeom>
          <a:noFill/>
          <a:ln/>
        </p:spPr>
        <p:txBody>
          <a:bodyPr wrap="square" rtlCol="0"/>
          <a:lstStyle>
            <a:lvl1pPr marL="0" indent="0" algn="l">
              <a:buNone/>
              <a:defRPr lang="en-US" sz="32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hart" Target="../charts/char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645920"/>
          </a:xfrm>
          <a:prstGeom prst="rect">
            <a:avLst/>
          </a:prstGeom>
          <a:noFill/>
          <a:ln/>
        </p:spPr>
        <p:txBody>
          <a:bodyPr wrap="square" lIns="0" tIns="0" rIns="0" bIns="0"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Finance &amp; Operations: Q1 review and Q2 outlook</a:t>
            </a:r>
            <a:endParaRPr lang="en-US" sz="4400" dirty="0"/>
          </a:p>
        </p:txBody>
      </p:sp>
      <p:sp>
        <p:nvSpPr>
          <p:cNvPr id="3" name="Text 0"/>
          <p:cNvSpPr>
            <a:spLocks noGrp="1"/>
          </p:cNvSpPr>
          <p:nvPr>
            <p:ph type="body" idx="101" hasCustomPrompt="1"/>
          </p:nvPr>
        </p:nvSpPr>
        <p:spPr>
          <a:xfrm>
            <a:off x="731520" y="3840480"/>
            <a:ext cx="10698480" cy="1097280"/>
          </a:xfrm>
          <a:prstGeom prst="rect">
            <a:avLst/>
          </a:prstGeom>
          <a:noFill/>
          <a:ln/>
        </p:spPr>
        <p:txBody>
          <a:bodyPr wrap="square" lIns="0" tIns="0" rIns="0" bIns="0" rtlCol="0" anchor="t"/>
          <a:lstStyle/>
          <a:p>
            <a:pPr marL="0" indent="0">
              <a:buNone/>
            </a:pPr>
            <a:r>
              <a:rPr lang="en-US" sz="2000" dirty="0">
                <a:solidFill>
                  <a:schemeClr val="accent6"/>
                </a:solidFill>
              </a:rPr>
              <a:t>Q1 FY2026/27 (July to September 2026)  |  Outlook: October to December 2026</a:t>
            </a:r>
            <a:endParaRPr lang="en-US" sz="2000" dirty="0"/>
          </a:p>
          <a:p>
            <a:pPr marL="0" indent="0">
              <a:buNone/>
            </a:pPr>
            <a:r>
              <a:rPr lang="en-US" sz="2000" dirty="0">
                <a:solidFill>
                  <a:schemeClr val="accent6"/>
                </a:solidFill>
              </a:rPr>
              <a:t>LoHo Learning Limited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smtClean="0">
                <a:solidFill>
                  <a:schemeClr val="tx2"/>
                </a:solidFill>
                <a:latin typeface="Cambria" pitchFamily="34" charset="0"/>
                <a:ea typeface="Cambria" pitchFamily="34" charset="-122"/>
                <a:cs typeface="Cambria" pitchFamily="34" charset="-120"/>
              </a:rPr>
              <a:t>Q1: </a:t>
            </a:r>
            <a:r>
              <a:rPr lang="en-US" dirty="0" smtClean="0"/>
              <a:t>Revenue</a:t>
            </a:r>
            <a:r>
              <a:rPr lang="en-US" sz="3200" b="1" dirty="0" smtClean="0">
                <a:solidFill>
                  <a:schemeClr val="tx2"/>
                </a:solidFill>
                <a:latin typeface="Cambria" pitchFamily="34" charset="0"/>
                <a:ea typeface="Cambria" pitchFamily="34" charset="-122"/>
                <a:cs typeface="Cambria" pitchFamily="34" charset="-120"/>
              </a:rPr>
              <a:t> </a:t>
            </a:r>
            <a:r>
              <a:rPr lang="en-US" sz="3200" b="1" dirty="0">
                <a:solidFill>
                  <a:schemeClr val="tx2"/>
                </a:solidFill>
                <a:latin typeface="Cambria" pitchFamily="34" charset="0"/>
                <a:ea typeface="Cambria" pitchFamily="34" charset="-122"/>
                <a:cs typeface="Cambria" pitchFamily="34" charset="-120"/>
              </a:rPr>
              <a:t>reached 63% of target</a:t>
            </a:r>
            <a:endParaRPr lang="en-US" sz="3200" dirty="0"/>
          </a:p>
        </p:txBody>
      </p:sp>
      <p:sp>
        <p:nvSpPr>
          <p:cNvPr id="3" name="Sales card"/>
          <p:cNvSpPr/>
          <p:nvPr/>
        </p:nvSpPr>
        <p:spPr>
          <a:xfrm>
            <a:off x="548640" y="1463040"/>
            <a:ext cx="2651760" cy="1828800"/>
          </a:xfrm>
          <a:prstGeom prst="roundRect">
            <a:avLst>
              <a:gd name="adj" fmla="val 6000"/>
            </a:avLst>
          </a:prstGeom>
          <a:solidFill>
            <a:schemeClr val="bg2"/>
          </a:solidFill>
          <a:ln w="12700">
            <a:solidFill>
              <a:schemeClr val="bg2"/>
            </a:solidFill>
            <a:prstDash val="solid"/>
          </a:ln>
        </p:spPr>
      </p:sp>
      <p:sp>
        <p:nvSpPr>
          <p:cNvPr id="4" name="Sales value"/>
          <p:cNvSpPr txBox="1"/>
          <p:nvPr/>
        </p:nvSpPr>
        <p:spPr>
          <a:xfrm>
            <a:off x="777240" y="1706880"/>
            <a:ext cx="2194560" cy="82296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KES 3.79M</a:t>
            </a:r>
            <a:endParaRPr lang="en-US" sz="3200" dirty="0"/>
          </a:p>
        </p:txBody>
      </p:sp>
      <p:sp>
        <p:nvSpPr>
          <p:cNvPr id="5" name="Sales label"/>
          <p:cNvSpPr txBox="1"/>
          <p:nvPr/>
        </p:nvSpPr>
        <p:spPr>
          <a:xfrm>
            <a:off x="777240" y="246888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Q1 sales</a:t>
            </a:r>
            <a:endParaRPr lang="en-US" sz="1600" dirty="0"/>
          </a:p>
        </p:txBody>
      </p:sp>
      <p:sp>
        <p:nvSpPr>
          <p:cNvPr id="6" name="Sales note"/>
          <p:cNvSpPr txBox="1"/>
          <p:nvPr/>
        </p:nvSpPr>
        <p:spPr>
          <a:xfrm>
            <a:off x="777240" y="276148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Target KES 5.97M (63.4%)</a:t>
            </a:r>
            <a:endParaRPr lang="en-US" sz="1200" dirty="0"/>
          </a:p>
        </p:txBody>
      </p:sp>
      <p:sp>
        <p:nvSpPr>
          <p:cNvPr id="7" name="Shortfall card"/>
          <p:cNvSpPr/>
          <p:nvPr/>
        </p:nvSpPr>
        <p:spPr>
          <a:xfrm>
            <a:off x="3383280" y="1463040"/>
            <a:ext cx="2651760" cy="1828800"/>
          </a:xfrm>
          <a:prstGeom prst="roundRect">
            <a:avLst>
              <a:gd name="adj" fmla="val 6000"/>
            </a:avLst>
          </a:prstGeom>
          <a:solidFill>
            <a:schemeClr val="bg2"/>
          </a:solidFill>
          <a:ln w="12700">
            <a:solidFill>
              <a:schemeClr val="bg2"/>
            </a:solidFill>
            <a:prstDash val="solid"/>
          </a:ln>
        </p:spPr>
      </p:sp>
      <p:sp>
        <p:nvSpPr>
          <p:cNvPr id="8" name="Shortfall value"/>
          <p:cNvSpPr txBox="1"/>
          <p:nvPr/>
        </p:nvSpPr>
        <p:spPr>
          <a:xfrm>
            <a:off x="3611880" y="1645920"/>
            <a:ext cx="2194560" cy="82296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KES 2.19M</a:t>
            </a:r>
            <a:endParaRPr lang="en-US" sz="3200" dirty="0"/>
          </a:p>
        </p:txBody>
      </p:sp>
      <p:sp>
        <p:nvSpPr>
          <p:cNvPr id="9" name="Shortfall label"/>
          <p:cNvSpPr txBox="1"/>
          <p:nvPr/>
        </p:nvSpPr>
        <p:spPr>
          <a:xfrm>
            <a:off x="3611880" y="246888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Shortfall to target</a:t>
            </a:r>
            <a:endParaRPr lang="en-US" sz="1600" dirty="0"/>
          </a:p>
        </p:txBody>
      </p:sp>
      <p:sp>
        <p:nvSpPr>
          <p:cNvPr id="10" name="Shortfall note"/>
          <p:cNvSpPr txBox="1"/>
          <p:nvPr/>
        </p:nvSpPr>
        <p:spPr>
          <a:xfrm>
            <a:off x="3611880" y="276148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Elimu Pepe and Devices: KES 4.12M short</a:t>
            </a:r>
            <a:endParaRPr lang="en-US" sz="1200" dirty="0"/>
          </a:p>
        </p:txBody>
      </p:sp>
      <p:sp>
        <p:nvSpPr>
          <p:cNvPr id="11" name="Headcount card"/>
          <p:cNvSpPr/>
          <p:nvPr/>
        </p:nvSpPr>
        <p:spPr>
          <a:xfrm>
            <a:off x="6217920" y="1463040"/>
            <a:ext cx="2651760" cy="1828800"/>
          </a:xfrm>
          <a:prstGeom prst="roundRect">
            <a:avLst>
              <a:gd name="adj" fmla="val 6000"/>
            </a:avLst>
          </a:prstGeom>
          <a:solidFill>
            <a:schemeClr val="bg2"/>
          </a:solidFill>
          <a:ln w="12700">
            <a:solidFill>
              <a:schemeClr val="bg2"/>
            </a:solidFill>
            <a:prstDash val="solid"/>
          </a:ln>
        </p:spPr>
      </p:sp>
      <p:sp>
        <p:nvSpPr>
          <p:cNvPr id="12" name="Headcount value"/>
          <p:cNvSpPr txBox="1"/>
          <p:nvPr/>
        </p:nvSpPr>
        <p:spPr>
          <a:xfrm>
            <a:off x="6446520" y="1645920"/>
            <a:ext cx="2194560" cy="82296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17</a:t>
            </a:r>
            <a:endParaRPr lang="en-US" sz="3200" dirty="0"/>
          </a:p>
        </p:txBody>
      </p:sp>
      <p:sp>
        <p:nvSpPr>
          <p:cNvPr id="13" name="Headcount label"/>
          <p:cNvSpPr txBox="1"/>
          <p:nvPr/>
        </p:nvSpPr>
        <p:spPr>
          <a:xfrm>
            <a:off x="6446520" y="246888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Headcount</a:t>
            </a:r>
            <a:endParaRPr lang="en-US" sz="1600" dirty="0"/>
          </a:p>
        </p:txBody>
      </p:sp>
      <p:sp>
        <p:nvSpPr>
          <p:cNvPr id="14" name="Headcount note"/>
          <p:cNvSpPr txBox="1"/>
          <p:nvPr/>
        </p:nvSpPr>
        <p:spPr>
          <a:xfrm>
            <a:off x="6446520" y="276148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12 permanent, 5 consultants; +2, no exits</a:t>
            </a:r>
            <a:endParaRPr lang="en-US" sz="1200" dirty="0"/>
          </a:p>
        </p:txBody>
      </p:sp>
      <p:sp>
        <p:nvSpPr>
          <p:cNvPr id="15" name="Result card"/>
          <p:cNvSpPr/>
          <p:nvPr/>
        </p:nvSpPr>
        <p:spPr>
          <a:xfrm>
            <a:off x="9052560" y="1463040"/>
            <a:ext cx="2587752" cy="1828800"/>
          </a:xfrm>
          <a:prstGeom prst="roundRect">
            <a:avLst>
              <a:gd name="adj" fmla="val 6000"/>
            </a:avLst>
          </a:prstGeom>
          <a:solidFill>
            <a:schemeClr val="bg2"/>
          </a:solidFill>
          <a:ln w="12700">
            <a:solidFill>
              <a:schemeClr val="bg2"/>
            </a:solidFill>
            <a:prstDash val="solid"/>
          </a:ln>
        </p:spPr>
      </p:sp>
      <p:sp>
        <p:nvSpPr>
          <p:cNvPr id="16" name="Result value"/>
          <p:cNvSpPr txBox="1"/>
          <p:nvPr/>
        </p:nvSpPr>
        <p:spPr>
          <a:xfrm>
            <a:off x="9281160" y="1645920"/>
            <a:ext cx="2130552" cy="82296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-KES 3.06M</a:t>
            </a:r>
            <a:endParaRPr lang="en-US" sz="3200" dirty="0"/>
          </a:p>
        </p:txBody>
      </p:sp>
      <p:sp>
        <p:nvSpPr>
          <p:cNvPr id="17" name="Result label"/>
          <p:cNvSpPr txBox="1"/>
          <p:nvPr/>
        </p:nvSpPr>
        <p:spPr>
          <a:xfrm>
            <a:off x="9281160" y="2468880"/>
            <a:ext cx="2130552" cy="320040"/>
          </a:xfrm>
          <a:prstGeom prst="rect">
            <a:avLst/>
          </a:prstGeom>
          <a:noFill/>
          <a:ln/>
        </p:spPr>
        <p:txBody>
          <a:bodyPr wrap="square" lIns="0" tIns="0" rIns="0" bIns="0" rtlCol="0" anchor="ctr"/>
          <a:lstStyle/>
          <a:p>
            <a:pPr marL="0" indent="0">
              <a:buNone/>
            </a:pPr>
            <a:r>
              <a:rPr lang="en-US" sz="1600" b="1" dirty="0">
                <a:solidFill>
                  <a:schemeClr val="tx1"/>
                </a:solidFill>
              </a:rPr>
              <a:t>Q1 operating result</a:t>
            </a:r>
            <a:endParaRPr lang="en-US" sz="1600" dirty="0"/>
          </a:p>
        </p:txBody>
      </p:sp>
      <p:sp>
        <p:nvSpPr>
          <p:cNvPr id="18" name="Result note"/>
          <p:cNvSpPr txBox="1"/>
          <p:nvPr/>
        </p:nvSpPr>
        <p:spPr>
          <a:xfrm>
            <a:off x="9281160" y="2761488"/>
            <a:ext cx="2130552" cy="411480"/>
          </a:xfrm>
          <a:prstGeom prst="rect">
            <a:avLst/>
          </a:prstGeom>
          <a:noFill/>
          <a:ln/>
        </p:spPr>
        <p:txBody>
          <a:bodyPr wrap="square" lIns="0" tIns="0" rIns="0" bIns="0" rtlCol="0" anchor="t"/>
          <a:lstStyle/>
          <a:p>
            <a:pPr marL="0" indent="0">
              <a:buNone/>
            </a:pPr>
            <a:endParaRPr lang="en-US" sz="1200" dirty="0"/>
          </a:p>
        </p:txBody>
      </p:sp>
      <p:sp>
        <p:nvSpPr>
          <p:cNvPr id="19" name="Takeaway panel"/>
          <p:cNvSpPr/>
          <p:nvPr/>
        </p:nvSpPr>
        <p:spPr>
          <a:xfrm>
            <a:off x="548640" y="3657600"/>
            <a:ext cx="11091672" cy="2103120"/>
          </a:xfrm>
          <a:prstGeom prst="roundRect">
            <a:avLst>
              <a:gd name="adj" fmla="val 5217"/>
            </a:avLst>
          </a:prstGeom>
          <a:solidFill>
            <a:schemeClr val="bg2"/>
          </a:solidFill>
          <a:ln w="12700">
            <a:solidFill>
              <a:schemeClr val="bg2"/>
            </a:solidFill>
            <a:prstDash val="solid"/>
          </a:ln>
        </p:spPr>
      </p:sp>
      <p:sp>
        <p:nvSpPr>
          <p:cNvPr id="20" name="Text 18"/>
          <p:cNvSpPr txBox="1"/>
          <p:nvPr/>
        </p:nvSpPr>
        <p:spPr>
          <a:xfrm>
            <a:off x="822960" y="3840480"/>
            <a:ext cx="5486400" cy="3657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What the numbers say</a:t>
            </a:r>
            <a:endParaRPr lang="en-US" sz="2000" dirty="0"/>
          </a:p>
        </p:txBody>
      </p:sp>
      <p:sp>
        <p:nvSpPr>
          <p:cNvPr id="21" name="Commentary"/>
          <p:cNvSpPr txBox="1"/>
          <p:nvPr/>
        </p:nvSpPr>
        <p:spPr>
          <a:xfrm>
            <a:off x="822960" y="4297680"/>
            <a:ext cx="10515600" cy="13716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CaaS eBooks (147% of target) and MTN Academy (KES 1.5M, unbudgeted) carried the quarter.</a:t>
            </a:r>
            <a:endParaRPr lang="en-US" sz="1600" dirty="0"/>
          </a:p>
          <a:p>
            <a:pPr marL="342900" indent="-342900">
              <a:spcAft>
                <a:spcPts val="1000"/>
              </a:spcAft>
              <a:buSzPct val="100000"/>
              <a:buChar char="•"/>
            </a:pPr>
            <a:r>
              <a:rPr lang="en-US" sz="1600" dirty="0">
                <a:solidFill>
                  <a:schemeClr val="tx1"/>
                </a:solidFill>
              </a:rPr>
              <a:t>Elimu Pepe (21%) and LoHo Devices (9%) are the recovery priority for Q2</a:t>
            </a:r>
            <a:r>
              <a:rPr lang="en-US" sz="1600" dirty="0" smtClean="0">
                <a:solidFill>
                  <a:schemeClr val="tx1"/>
                </a:solidFill>
              </a:rPr>
              <a: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2  Q1 PERFORMANCE REVIEW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Sales </a:t>
            </a:r>
            <a:r>
              <a:rPr lang="en-US" sz="3200" b="1" dirty="0" smtClean="0">
                <a:solidFill>
                  <a:schemeClr val="tx2"/>
                </a:solidFill>
                <a:latin typeface="Cambria" pitchFamily="34" charset="0"/>
                <a:ea typeface="Cambria" pitchFamily="34" charset="-122"/>
                <a:cs typeface="Cambria" pitchFamily="34" charset="-120"/>
              </a:rPr>
              <a:t>by Product</a:t>
            </a:r>
            <a:endParaRPr lang="en-US" sz="3200" dirty="0"/>
          </a:p>
        </p:txBody>
      </p:sp>
      <p:graphicFrame>
        <p:nvGraphicFramePr>
          <p:cNvPr id="3" name="Target vs achieved chart"/>
          <p:cNvGraphicFramePr/>
          <p:nvPr/>
        </p:nvGraphicFramePr>
        <p:xfrm>
          <a:off x="548640" y="128016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Commentary panel"/>
          <p:cNvSpPr/>
          <p:nvPr/>
        </p:nvSpPr>
        <p:spPr>
          <a:xfrm>
            <a:off x="7772400" y="1371600"/>
            <a:ext cx="3867912" cy="4480560"/>
          </a:xfrm>
          <a:prstGeom prst="roundRect">
            <a:avLst>
              <a:gd name="adj" fmla="val 2837"/>
            </a:avLst>
          </a:prstGeom>
          <a:solidFill>
            <a:schemeClr val="bg2"/>
          </a:solidFill>
          <a:ln w="12700">
            <a:solidFill>
              <a:schemeClr val="bg2"/>
            </a:solidFill>
            <a:prstDash val="solid"/>
          </a:ln>
        </p:spPr>
      </p:sp>
      <p:sp>
        <p:nvSpPr>
          <p:cNvPr id="5" name="Text 2"/>
          <p:cNvSpPr txBox="1"/>
          <p:nvPr/>
        </p:nvSpPr>
        <p:spPr>
          <a:xfrm>
            <a:off x="8046720" y="1554480"/>
            <a:ext cx="3383280" cy="3657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Variance to target</a:t>
            </a:r>
            <a:endParaRPr lang="en-US" sz="2000" dirty="0"/>
          </a:p>
        </p:txBody>
      </p:sp>
      <p:sp>
        <p:nvSpPr>
          <p:cNvPr id="6" name="Commentary"/>
          <p:cNvSpPr txBox="1"/>
          <p:nvPr/>
        </p:nvSpPr>
        <p:spPr>
          <a:xfrm>
            <a:off x="8046720" y="2103120"/>
            <a:ext cx="3383280" cy="3474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eBooks: +KES 436K (147.3%)</a:t>
            </a:r>
            <a:endParaRPr lang="en-US" sz="1500" dirty="0"/>
          </a:p>
          <a:p>
            <a:pPr marL="342900" indent="-342900">
              <a:spcAft>
                <a:spcPts val="1000"/>
              </a:spcAft>
              <a:buSzPct val="100000"/>
              <a:buChar char="•"/>
            </a:pPr>
            <a:r>
              <a:rPr lang="en-US" sz="1500" dirty="0">
                <a:solidFill>
                  <a:schemeClr val="tx1"/>
                </a:solidFill>
              </a:rPr>
              <a:t>Elimu Pepe: -KES 3.03M (21.3%)</a:t>
            </a:r>
            <a:endParaRPr lang="en-US" sz="1500" dirty="0"/>
          </a:p>
          <a:p>
            <a:pPr marL="342900" indent="-342900">
              <a:spcAft>
                <a:spcPts val="1000"/>
              </a:spcAft>
              <a:buSzPct val="100000"/>
              <a:buChar char="•"/>
            </a:pPr>
            <a:r>
              <a:rPr lang="en-US" sz="1500" dirty="0">
                <a:solidFill>
                  <a:schemeClr val="tx1"/>
                </a:solidFill>
              </a:rPr>
              <a:t>Devices: -KES 1.09M (8.9%)</a:t>
            </a:r>
            <a:endParaRPr lang="en-US" sz="1500" dirty="0"/>
          </a:p>
          <a:p>
            <a:pPr marL="342900" indent="-342900">
              <a:spcAft>
                <a:spcPts val="1000"/>
              </a:spcAft>
              <a:buSzPct val="100000"/>
              <a:buChar char="•"/>
            </a:pPr>
            <a:r>
              <a:rPr lang="en-US" sz="1500" dirty="0">
                <a:solidFill>
                  <a:schemeClr val="tx1"/>
                </a:solidFill>
              </a:rPr>
              <a:t>MTN Academy: +KES 1.5M, no target set</a:t>
            </a:r>
            <a:endParaRPr lang="en-US" sz="1500" dirty="0"/>
          </a:p>
          <a:p>
            <a:pPr marL="342900" indent="-342900">
              <a:spcAft>
                <a:spcPts val="1000"/>
              </a:spcAft>
              <a:buSzPct val="100000"/>
              <a:buChar char="•"/>
            </a:pPr>
            <a:r>
              <a:rPr lang="en-US" sz="1500" dirty="0">
                <a:solidFill>
                  <a:schemeClr val="tx1"/>
                </a:solidFill>
              </a:rPr>
              <a:t>LoHo Campus: no target, no sales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2  Q1 PERFORMANCE REVIEW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Q1 </a:t>
            </a:r>
            <a:r>
              <a:rPr lang="en-US" dirty="0" smtClean="0"/>
              <a:t>Performance </a:t>
            </a:r>
            <a:endParaRPr lang="en-US" sz="3200" dirty="0"/>
          </a:p>
        </p:txBody>
      </p:sp>
      <p:graphicFrame>
        <p:nvGraphicFramePr>
          <p:cNvPr id="6" name="Income statement table"/>
          <p:cNvGraphicFramePr>
            <a:graphicFrameLocks noGrp="1"/>
          </p:cNvGraphicFramePr>
          <p:nvPr>
            <p:extLst>
              <p:ext uri="{D42A27DB-BD31-4B8C-83A1-F6EECF244321}">
                <p14:modId xmlns:p14="http://schemas.microsoft.com/office/powerpoint/2010/main" val="1677490459"/>
              </p:ext>
            </p:extLst>
          </p:nvPr>
        </p:nvGraphicFramePr>
        <p:xfrm>
          <a:off x="548640" y="1371600"/>
          <a:ext cx="6766560" cy="3803904"/>
        </p:xfrm>
        <a:graphic>
          <a:graphicData uri="http://schemas.openxmlformats.org/drawingml/2006/table">
            <a:tbl>
              <a:tblPr/>
              <a:tblGrid>
                <a:gridCol w="3657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47548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Q1 FY2026/27</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marL="0" indent="0" algn="r">
                        <a:buNone/>
                      </a:pPr>
                      <a:r>
                        <a:rPr lang="en-US" sz="1400" b="1" dirty="0">
                          <a:solidFill>
                            <a:srgbClr val="FFFFFF"/>
                          </a:solidFill>
                          <a:latin typeface="Calibri" pitchFamily="34" charset="0"/>
                          <a:ea typeface="Calibri" pitchFamily="34" charset="-122"/>
                          <a:cs typeface="Calibri" pitchFamily="34" charset="-120"/>
                        </a:rPr>
                        <a:t>KES</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marL="0" indent="0" algn="r">
                        <a:buNone/>
                      </a:pPr>
                      <a:r>
                        <a:rPr lang="en-US" sz="1400" b="1" dirty="0">
                          <a:solidFill>
                            <a:srgbClr val="FFFFFF"/>
                          </a:solidFill>
                          <a:latin typeface="Calibri" pitchFamily="34" charset="0"/>
                          <a:ea typeface="Calibri" pitchFamily="34" charset="-122"/>
                          <a:cs typeface="Calibri" pitchFamily="34" charset="-120"/>
                        </a:rPr>
                        <a:t>% of sales</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extLst>
                  <a:ext uri="{0D108BD9-81ED-4DB2-BD59-A6C34878D82A}">
                    <a16:rowId xmlns:a16="http://schemas.microsoft.com/office/drawing/2014/main" val="10000"/>
                  </a:ext>
                </a:extLst>
              </a:tr>
              <a:tr h="475488">
                <a:tc>
                  <a:txBody>
                    <a:bodyPr/>
                    <a:lstStyle/>
                    <a:p>
                      <a:pPr marL="0" indent="0">
                        <a:buNone/>
                      </a:pPr>
                      <a:r>
                        <a:rPr lang="en-US" sz="1400" dirty="0">
                          <a:solidFill>
                            <a:srgbClr val="13262B"/>
                          </a:solidFill>
                          <a:latin typeface="Calibri" pitchFamily="34" charset="0"/>
                          <a:ea typeface="Calibri" pitchFamily="34" charset="-122"/>
                          <a:cs typeface="Calibri" pitchFamily="34" charset="-120"/>
                        </a:rPr>
                        <a:t>Sales</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3,786,384</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400" dirty="0">
                          <a:solidFill>
                            <a:srgbClr val="13262B"/>
                          </a:solidFill>
                          <a:latin typeface="Calibri" pitchFamily="34" charset="0"/>
                          <a:ea typeface="Calibri" pitchFamily="34" charset="-122"/>
                          <a:cs typeface="Calibri" pitchFamily="34" charset="-120"/>
                        </a:rPr>
                        <a:t>Cost of sales</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(1,647,622)</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43.5%</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400" b="1" dirty="0">
                          <a:solidFill>
                            <a:srgbClr val="13262B"/>
                          </a:solidFill>
                          <a:latin typeface="Calibri" pitchFamily="34" charset="0"/>
                          <a:ea typeface="Calibri" pitchFamily="34" charset="-122"/>
                          <a:cs typeface="Calibri" pitchFamily="34" charset="-120"/>
                        </a:rPr>
                        <a:t>Gross profit</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c>
                  <a:txBody>
                    <a:bodyPr/>
                    <a:lstStyle/>
                    <a:p>
                      <a:pPr marL="0" indent="0" algn="r">
                        <a:buNone/>
                      </a:pPr>
                      <a:r>
                        <a:rPr lang="en-US" sz="1400" b="1" dirty="0">
                          <a:solidFill>
                            <a:srgbClr val="13262B"/>
                          </a:solidFill>
                          <a:latin typeface="Calibri" pitchFamily="34" charset="0"/>
                          <a:ea typeface="Calibri" pitchFamily="34" charset="-122"/>
                          <a:cs typeface="Calibri" pitchFamily="34" charset="-120"/>
                        </a:rPr>
                        <a:t>2,138,762</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c>
                  <a:txBody>
                    <a:bodyPr/>
                    <a:lstStyle/>
                    <a:p>
                      <a:pPr marL="0" indent="0" algn="r">
                        <a:buNone/>
                      </a:pPr>
                      <a:r>
                        <a:rPr lang="en-US" sz="1400" b="1" dirty="0">
                          <a:solidFill>
                            <a:srgbClr val="13262B"/>
                          </a:solidFill>
                          <a:latin typeface="Calibri" pitchFamily="34" charset="0"/>
                          <a:ea typeface="Calibri" pitchFamily="34" charset="-122"/>
                          <a:cs typeface="Calibri" pitchFamily="34" charset="-120"/>
                        </a:rPr>
                        <a:t>56.5%</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extLst>
                  <a:ext uri="{0D108BD9-81ED-4DB2-BD59-A6C34878D82A}">
                    <a16:rowId xmlns:a16="http://schemas.microsoft.com/office/drawing/2014/main" val="10003"/>
                  </a:ext>
                </a:extLst>
              </a:tr>
              <a:tr h="475488">
                <a:tc>
                  <a:txBody>
                    <a:bodyPr/>
                    <a:lstStyle/>
                    <a:p>
                      <a:pPr marL="0" indent="0">
                        <a:buNone/>
                      </a:pPr>
                      <a:r>
                        <a:rPr lang="en-US" sz="1400" dirty="0">
                          <a:solidFill>
                            <a:srgbClr val="13262B"/>
                          </a:solidFill>
                          <a:latin typeface="Calibri" pitchFamily="34" charset="0"/>
                          <a:ea typeface="Calibri" pitchFamily="34" charset="-122"/>
                          <a:cs typeface="Calibri" pitchFamily="34" charset="-120"/>
                        </a:rPr>
                        <a:t>Staff costs</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(2,105,859)</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55.6%</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400" dirty="0">
                          <a:solidFill>
                            <a:srgbClr val="13262B"/>
                          </a:solidFill>
                          <a:latin typeface="Calibri" pitchFamily="34" charset="0"/>
                          <a:ea typeface="Calibri" pitchFamily="34" charset="-122"/>
                          <a:cs typeface="Calibri" pitchFamily="34" charset="-120"/>
                        </a:rPr>
                        <a:t>Amortisation and depreciation</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(1,894,031)</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1400" dirty="0">
                          <a:solidFill>
                            <a:srgbClr val="13262B"/>
                          </a:solidFill>
                          <a:latin typeface="Calibri" pitchFamily="34" charset="0"/>
                          <a:ea typeface="Calibri" pitchFamily="34" charset="-122"/>
                          <a:cs typeface="Calibri" pitchFamily="34" charset="-120"/>
                        </a:rPr>
                        <a:t>Other </a:t>
                      </a:r>
                      <a:r>
                        <a:rPr lang="en-US" sz="1400" dirty="0" smtClean="0">
                          <a:solidFill>
                            <a:srgbClr val="13262B"/>
                          </a:solidFill>
                          <a:latin typeface="Calibri" pitchFamily="34" charset="0"/>
                          <a:ea typeface="Calibri" pitchFamily="34" charset="-122"/>
                          <a:cs typeface="Calibri" pitchFamily="34" charset="-120"/>
                        </a:rPr>
                        <a:t>cost-</a:t>
                      </a:r>
                      <a:r>
                        <a:rPr lang="en-US" sz="1400" baseline="0" dirty="0" smtClean="0">
                          <a:solidFill>
                            <a:srgbClr val="13262B"/>
                          </a:solidFill>
                          <a:latin typeface="Calibri" pitchFamily="34" charset="0"/>
                          <a:ea typeface="Calibri" pitchFamily="34" charset="-122"/>
                          <a:cs typeface="Calibri" pitchFamily="34" charset="-120"/>
                        </a:rPr>
                        <a:t> Admin, sales &amp; Marketing</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(1,203,087)</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31.8%</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6"/>
                  </a:ext>
                </a:extLst>
              </a:tr>
              <a:tr h="475488">
                <a:tc>
                  <a:txBody>
                    <a:bodyPr/>
                    <a:lstStyle/>
                    <a:p>
                      <a:pPr marL="0" indent="0">
                        <a:buNone/>
                      </a:pPr>
                      <a:r>
                        <a:rPr lang="en-US" sz="1400" b="1" dirty="0">
                          <a:solidFill>
                            <a:srgbClr val="D1495B"/>
                          </a:solidFill>
                          <a:latin typeface="Calibri" pitchFamily="34" charset="0"/>
                          <a:ea typeface="Calibri" pitchFamily="34" charset="-122"/>
                          <a:cs typeface="Calibri" pitchFamily="34" charset="-120"/>
                        </a:rPr>
                        <a:t>Net operating result</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c>
                  <a:txBody>
                    <a:bodyPr/>
                    <a:lstStyle/>
                    <a:p>
                      <a:pPr marL="0" indent="0" algn="r">
                        <a:buNone/>
                      </a:pPr>
                      <a:r>
                        <a:rPr lang="en-US" sz="1400" b="1" dirty="0">
                          <a:solidFill>
                            <a:srgbClr val="D1495B"/>
                          </a:solidFill>
                          <a:latin typeface="Calibri" pitchFamily="34" charset="0"/>
                          <a:ea typeface="Calibri" pitchFamily="34" charset="-122"/>
                          <a:cs typeface="Calibri" pitchFamily="34" charset="-120"/>
                        </a:rPr>
                        <a:t>(3,064,215)</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c>
                  <a:txBody>
                    <a:bodyPr/>
                    <a:lstStyle/>
                    <a:p>
                      <a:pPr marL="0" indent="0" algn="r">
                        <a:buNone/>
                      </a:pPr>
                      <a:r>
                        <a:rPr lang="en-US" sz="1400" b="1" dirty="0">
                          <a:solidFill>
                            <a:srgbClr val="D1495B"/>
                          </a:solidFill>
                          <a:latin typeface="Calibri" pitchFamily="34" charset="0"/>
                          <a:ea typeface="Calibri" pitchFamily="34" charset="-122"/>
                          <a:cs typeface="Calibri" pitchFamily="34" charset="-120"/>
                        </a:rPr>
                        <a:t>-80.9%</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extLst>
                  <a:ext uri="{0D108BD9-81ED-4DB2-BD59-A6C34878D82A}">
                    <a16:rowId xmlns:a16="http://schemas.microsoft.com/office/drawing/2014/main" val="10007"/>
                  </a:ext>
                </a:extLst>
              </a:tr>
            </a:tbl>
          </a:graphicData>
        </a:graphic>
      </p:graphicFrame>
      <p:sp>
        <p:nvSpPr>
          <p:cNvPr id="4" name="Cash loss card"/>
          <p:cNvSpPr/>
          <p:nvPr/>
        </p:nvSpPr>
        <p:spPr>
          <a:xfrm>
            <a:off x="7680960" y="1371600"/>
            <a:ext cx="3959352" cy="1828800"/>
          </a:xfrm>
          <a:prstGeom prst="roundRect">
            <a:avLst>
              <a:gd name="adj" fmla="val 6000"/>
            </a:avLst>
          </a:prstGeom>
          <a:solidFill>
            <a:schemeClr val="bg2"/>
          </a:solidFill>
          <a:ln w="12700">
            <a:solidFill>
              <a:schemeClr val="bg2"/>
            </a:solidFill>
            <a:prstDash val="solid"/>
          </a:ln>
        </p:spPr>
      </p:sp>
      <p:sp>
        <p:nvSpPr>
          <p:cNvPr id="5" name="Cash loss value"/>
          <p:cNvSpPr txBox="1"/>
          <p:nvPr/>
        </p:nvSpPr>
        <p:spPr>
          <a:xfrm>
            <a:off x="7909560" y="1554480"/>
            <a:ext cx="3502152" cy="82296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KES 1.04M</a:t>
            </a:r>
            <a:endParaRPr lang="en-US" sz="3200" dirty="0"/>
          </a:p>
        </p:txBody>
      </p:sp>
      <p:sp>
        <p:nvSpPr>
          <p:cNvPr id="3" name="Cash loss label"/>
          <p:cNvSpPr txBox="1"/>
          <p:nvPr/>
        </p:nvSpPr>
        <p:spPr>
          <a:xfrm>
            <a:off x="7909560" y="2377440"/>
            <a:ext cx="3502152" cy="320040"/>
          </a:xfrm>
          <a:prstGeom prst="rect">
            <a:avLst/>
          </a:prstGeom>
          <a:noFill/>
          <a:ln/>
        </p:spPr>
        <p:txBody>
          <a:bodyPr wrap="square" lIns="0" tIns="0" rIns="0" bIns="0" rtlCol="0" anchor="ctr"/>
          <a:lstStyle/>
          <a:p>
            <a:pPr marL="0" indent="0">
              <a:buNone/>
            </a:pPr>
            <a:r>
              <a:rPr lang="en-US" sz="1600" b="1" dirty="0">
                <a:solidFill>
                  <a:schemeClr val="tx1"/>
                </a:solidFill>
              </a:rPr>
              <a:t>Loss before non-cash items</a:t>
            </a:r>
            <a:endParaRPr lang="en-US" sz="1600" dirty="0"/>
          </a:p>
        </p:txBody>
      </p:sp>
      <p:sp>
        <p:nvSpPr>
          <p:cNvPr id="7" name="Cash loss note"/>
          <p:cNvSpPr txBox="1"/>
          <p:nvPr/>
        </p:nvSpPr>
        <p:spPr>
          <a:xfrm>
            <a:off x="7909560" y="2670048"/>
            <a:ext cx="3502152" cy="411480"/>
          </a:xfrm>
          <a:prstGeom prst="rect">
            <a:avLst/>
          </a:prstGeom>
          <a:noFill/>
          <a:ln/>
        </p:spPr>
        <p:txBody>
          <a:bodyPr wrap="square" lIns="0" tIns="0" rIns="0" bIns="0" rtlCol="0" anchor="t"/>
          <a:lstStyle/>
          <a:p>
            <a:pPr marL="0" indent="0">
              <a:buNone/>
            </a:pPr>
            <a:r>
              <a:rPr lang="en-US" sz="1200" dirty="0">
                <a:solidFill>
                  <a:schemeClr val="accent5"/>
                </a:solidFill>
              </a:rPr>
              <a:t>Excludes amortisation and depreciation of KES 2.03M</a:t>
            </a:r>
            <a:endParaRPr lang="en-US" sz="1200" dirty="0"/>
          </a:p>
        </p:txBody>
      </p:sp>
      <p:sp>
        <p:nvSpPr>
          <p:cNvPr id="8" name="Insight card"/>
          <p:cNvSpPr/>
          <p:nvPr/>
        </p:nvSpPr>
        <p:spPr>
          <a:xfrm>
            <a:off x="7680960" y="3429000"/>
            <a:ext cx="3959352" cy="1920240"/>
          </a:xfrm>
          <a:prstGeom prst="roundRect">
            <a:avLst>
              <a:gd name="adj" fmla="val 5714"/>
            </a:avLst>
          </a:prstGeom>
          <a:solidFill>
            <a:schemeClr val="bg2"/>
          </a:solidFill>
          <a:ln w="12700">
            <a:solidFill>
              <a:schemeClr val="bg2"/>
            </a:solidFill>
            <a:prstDash val="solid"/>
          </a:ln>
        </p:spPr>
      </p:sp>
      <p:sp>
        <p:nvSpPr>
          <p:cNvPr id="9" name="Text 6"/>
          <p:cNvSpPr txBox="1"/>
          <p:nvPr/>
        </p:nvSpPr>
        <p:spPr>
          <a:xfrm>
            <a:off x="7909560" y="3611880"/>
            <a:ext cx="3520440" cy="1554480"/>
          </a:xfrm>
          <a:prstGeom prst="rect">
            <a:avLst/>
          </a:prstGeom>
          <a:noFill/>
          <a:ln/>
        </p:spPr>
        <p:txBody>
          <a:bodyPr wrap="square" lIns="0" tIns="0" rIns="0" bIns="0" rtlCol="0" anchor="t"/>
          <a:lstStyle/>
          <a:p>
            <a:pPr marL="0" indent="0">
              <a:buNone/>
            </a:pPr>
            <a:r>
              <a:rPr lang="en-US" sz="1500" dirty="0">
                <a:solidFill>
                  <a:schemeClr val="tx1"/>
                </a:solidFill>
              </a:rPr>
              <a:t>Staff costs are 56% of sales. At a 57% gross margin, sales must roughly double before payroll is covered.</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dirty="0" smtClean="0"/>
              <a:t>Expenses</a:t>
            </a:r>
            <a:endParaRPr lang="en-US" sz="3200" dirty="0"/>
          </a:p>
        </p:txBody>
      </p:sp>
      <p:graphicFrame>
        <p:nvGraphicFramePr>
          <p:cNvPr id="3" name="Operating cost chart"/>
          <p:cNvGraphicFramePr/>
          <p:nvPr/>
        </p:nvGraphicFramePr>
        <p:xfrm>
          <a:off x="548640" y="1280160"/>
          <a:ext cx="676656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Cost notes panel"/>
          <p:cNvSpPr/>
          <p:nvPr/>
        </p:nvSpPr>
        <p:spPr>
          <a:xfrm>
            <a:off x="7680960" y="1371600"/>
            <a:ext cx="3959352" cy="4480560"/>
          </a:xfrm>
          <a:prstGeom prst="roundRect">
            <a:avLst>
              <a:gd name="adj" fmla="val 2771"/>
            </a:avLst>
          </a:prstGeom>
          <a:solidFill>
            <a:schemeClr val="bg2"/>
          </a:solidFill>
          <a:ln w="12700">
            <a:solidFill>
              <a:schemeClr val="bg2"/>
            </a:solidFill>
            <a:prstDash val="solid"/>
          </a:ln>
        </p:spPr>
      </p:sp>
      <p:sp>
        <p:nvSpPr>
          <p:cNvPr id="5" name="Text 2"/>
          <p:cNvSpPr txBox="1"/>
          <p:nvPr/>
        </p:nvSpPr>
        <p:spPr>
          <a:xfrm>
            <a:off x="7909560" y="1554480"/>
            <a:ext cx="3520440" cy="3657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Worth a conversation</a:t>
            </a:r>
            <a:endParaRPr lang="en-US" sz="2000" dirty="0"/>
          </a:p>
        </p:txBody>
      </p:sp>
      <p:sp>
        <p:nvSpPr>
          <p:cNvPr id="6" name="Commentary"/>
          <p:cNvSpPr txBox="1"/>
          <p:nvPr/>
        </p:nvSpPr>
        <p:spPr>
          <a:xfrm>
            <a:off x="7909560" y="2103120"/>
            <a:ext cx="3520440" cy="36576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Staff costs: 40% of operating costs</a:t>
            </a:r>
            <a:endParaRPr lang="en-US" sz="1500" dirty="0"/>
          </a:p>
          <a:p>
            <a:pPr marL="342900" indent="-342900">
              <a:spcAft>
                <a:spcPts val="1000"/>
              </a:spcAft>
              <a:buSzPct val="100000"/>
              <a:buChar char="•"/>
            </a:pPr>
            <a:r>
              <a:rPr lang="en-US" sz="1500" dirty="0">
                <a:solidFill>
                  <a:schemeClr val="tx1"/>
                </a:solidFill>
              </a:rPr>
              <a:t>Amortisation: 36%, non-cash</a:t>
            </a:r>
            <a:endParaRPr lang="en-US" sz="1500" dirty="0"/>
          </a:p>
          <a:p>
            <a:pPr marL="342900" indent="-342900">
              <a:spcAft>
                <a:spcPts val="1000"/>
              </a:spcAft>
              <a:buSzPct val="100000"/>
              <a:buChar char="•"/>
            </a:pPr>
            <a:r>
              <a:rPr lang="en-US" sz="1500" dirty="0">
                <a:solidFill>
                  <a:schemeClr val="tx1"/>
                </a:solidFill>
              </a:rPr>
              <a:t>Consultancy KES 345K and software support KES 197K</a:t>
            </a:r>
            <a:endParaRPr lang="en-US" sz="1500" dirty="0"/>
          </a:p>
          <a:p>
            <a:pPr marL="342900" indent="-342900">
              <a:spcAft>
                <a:spcPts val="1000"/>
              </a:spcAft>
              <a:buSzPct val="100000"/>
              <a:buChar char="•"/>
            </a:pPr>
            <a:r>
              <a:rPr lang="en-US" sz="1500" dirty="0">
                <a:solidFill>
                  <a:schemeClr val="tx1"/>
                </a:solidFill>
              </a:rPr>
              <a:t>Local travel KES 167K</a:t>
            </a:r>
            <a:endParaRPr lang="en-US" sz="1500" dirty="0"/>
          </a:p>
          <a:p>
            <a:pPr marL="342900" indent="-342900">
              <a:spcAft>
                <a:spcPts val="1000"/>
              </a:spcAft>
              <a:buSzPct val="100000"/>
              <a:buChar char="•"/>
            </a:pPr>
            <a:r>
              <a:rPr lang="en-US" sz="1500" dirty="0">
                <a:solidFill>
                  <a:schemeClr val="tx1"/>
                </a:solidFill>
              </a:rPr>
              <a:t>Bank charges KES </a:t>
            </a:r>
            <a:r>
              <a:rPr lang="en-US" sz="1500" dirty="0" smtClean="0">
                <a:solidFill>
                  <a:schemeClr val="tx1"/>
                </a:solidFill>
              </a:rPr>
              <a:t>83K</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5</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2  Q1 PERFORMANCE REVIEW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Liquidity: obligations far exceed cash</a:t>
            </a:r>
            <a:endParaRPr lang="en-US" sz="3200" dirty="0"/>
          </a:p>
        </p:txBody>
      </p:sp>
      <p:sp>
        <p:nvSpPr>
          <p:cNvPr id="3" name="Cash card"/>
          <p:cNvSpPr/>
          <p:nvPr/>
        </p:nvSpPr>
        <p:spPr>
          <a:xfrm>
            <a:off x="548640" y="1371600"/>
            <a:ext cx="2651760" cy="1828800"/>
          </a:xfrm>
          <a:prstGeom prst="roundRect">
            <a:avLst>
              <a:gd name="adj" fmla="val 6000"/>
            </a:avLst>
          </a:prstGeom>
          <a:solidFill>
            <a:schemeClr val="bg2"/>
          </a:solidFill>
          <a:ln w="12700">
            <a:solidFill>
              <a:schemeClr val="bg2"/>
            </a:solidFill>
            <a:prstDash val="solid"/>
          </a:ln>
        </p:spPr>
      </p:sp>
      <p:sp>
        <p:nvSpPr>
          <p:cNvPr id="4" name="Cash value"/>
          <p:cNvSpPr txBox="1"/>
          <p:nvPr/>
        </p:nvSpPr>
        <p:spPr>
          <a:xfrm>
            <a:off x="777240" y="1554480"/>
            <a:ext cx="2194560" cy="82296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KES 0.77M</a:t>
            </a:r>
            <a:endParaRPr lang="en-US" sz="3200" dirty="0"/>
          </a:p>
        </p:txBody>
      </p:sp>
      <p:sp>
        <p:nvSpPr>
          <p:cNvPr id="5" name="Cash label"/>
          <p:cNvSpPr txBox="1"/>
          <p:nvPr/>
        </p:nvSpPr>
        <p:spPr>
          <a:xfrm>
            <a:off x="777240" y="237744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Cash and bank</a:t>
            </a:r>
            <a:endParaRPr lang="en-US" sz="1600" dirty="0"/>
          </a:p>
        </p:txBody>
      </p:sp>
      <p:sp>
        <p:nvSpPr>
          <p:cNvPr id="6" name="Cash note"/>
          <p:cNvSpPr txBox="1"/>
          <p:nvPr/>
        </p:nvSpPr>
        <p:spPr>
          <a:xfrm>
            <a:off x="777240" y="267004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Standard Chartered, Sidian, petty cash</a:t>
            </a:r>
            <a:endParaRPr lang="en-US" sz="1200" dirty="0"/>
          </a:p>
        </p:txBody>
      </p:sp>
      <p:sp>
        <p:nvSpPr>
          <p:cNvPr id="7" name="Receivables card"/>
          <p:cNvSpPr/>
          <p:nvPr/>
        </p:nvSpPr>
        <p:spPr>
          <a:xfrm>
            <a:off x="3383280" y="1371600"/>
            <a:ext cx="2651760" cy="1828800"/>
          </a:xfrm>
          <a:prstGeom prst="roundRect">
            <a:avLst>
              <a:gd name="adj" fmla="val 6000"/>
            </a:avLst>
          </a:prstGeom>
          <a:solidFill>
            <a:schemeClr val="bg2"/>
          </a:solidFill>
          <a:ln w="12700">
            <a:solidFill>
              <a:schemeClr val="bg2"/>
            </a:solidFill>
            <a:prstDash val="solid"/>
          </a:ln>
        </p:spPr>
      </p:sp>
      <p:sp>
        <p:nvSpPr>
          <p:cNvPr id="8" name="Receivables value"/>
          <p:cNvSpPr txBox="1"/>
          <p:nvPr/>
        </p:nvSpPr>
        <p:spPr>
          <a:xfrm>
            <a:off x="3611880" y="1554480"/>
            <a:ext cx="2194560" cy="82296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KES 4.03M</a:t>
            </a:r>
            <a:endParaRPr lang="en-US" sz="3200" dirty="0"/>
          </a:p>
        </p:txBody>
      </p:sp>
      <p:sp>
        <p:nvSpPr>
          <p:cNvPr id="9" name="Receivables label"/>
          <p:cNvSpPr txBox="1"/>
          <p:nvPr/>
        </p:nvSpPr>
        <p:spPr>
          <a:xfrm>
            <a:off x="3611880" y="237744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Net trade receivables</a:t>
            </a:r>
            <a:endParaRPr lang="en-US" sz="1600" dirty="0"/>
          </a:p>
        </p:txBody>
      </p:sp>
      <p:sp>
        <p:nvSpPr>
          <p:cNvPr id="10" name="Receivables note"/>
          <p:cNvSpPr txBox="1"/>
          <p:nvPr/>
        </p:nvSpPr>
        <p:spPr>
          <a:xfrm>
            <a:off x="3611880" y="267004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After KES 1.3M provision; gross KES 5.33M</a:t>
            </a:r>
            <a:endParaRPr lang="en-US" sz="1200" dirty="0"/>
          </a:p>
        </p:txBody>
      </p:sp>
      <p:sp>
        <p:nvSpPr>
          <p:cNvPr id="11" name="Payables card"/>
          <p:cNvSpPr/>
          <p:nvPr/>
        </p:nvSpPr>
        <p:spPr>
          <a:xfrm>
            <a:off x="6217920" y="1371600"/>
            <a:ext cx="2651760" cy="1828800"/>
          </a:xfrm>
          <a:prstGeom prst="roundRect">
            <a:avLst>
              <a:gd name="adj" fmla="val 6000"/>
            </a:avLst>
          </a:prstGeom>
          <a:solidFill>
            <a:schemeClr val="bg2"/>
          </a:solidFill>
          <a:ln w="12700">
            <a:solidFill>
              <a:schemeClr val="bg2"/>
            </a:solidFill>
            <a:prstDash val="solid"/>
          </a:ln>
        </p:spPr>
      </p:sp>
      <p:sp>
        <p:nvSpPr>
          <p:cNvPr id="12" name="Payables value"/>
          <p:cNvSpPr txBox="1"/>
          <p:nvPr/>
        </p:nvSpPr>
        <p:spPr>
          <a:xfrm>
            <a:off x="6446520" y="1554480"/>
            <a:ext cx="2194560" cy="82296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KES 11.77M</a:t>
            </a:r>
            <a:endParaRPr lang="en-US" sz="3200" dirty="0"/>
          </a:p>
        </p:txBody>
      </p:sp>
      <p:sp>
        <p:nvSpPr>
          <p:cNvPr id="13" name="Payables label"/>
          <p:cNvSpPr txBox="1"/>
          <p:nvPr/>
        </p:nvSpPr>
        <p:spPr>
          <a:xfrm>
            <a:off x="6446520" y="237744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Trade payables</a:t>
            </a:r>
            <a:endParaRPr lang="en-US" sz="1600" dirty="0"/>
          </a:p>
        </p:txBody>
      </p:sp>
      <p:sp>
        <p:nvSpPr>
          <p:cNvPr id="14" name="Payables note"/>
          <p:cNvSpPr txBox="1"/>
          <p:nvPr/>
        </p:nvSpPr>
        <p:spPr>
          <a:xfrm>
            <a:off x="6446520" y="267004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Supplier balances at 30 September</a:t>
            </a:r>
            <a:endParaRPr lang="en-US" sz="1200" dirty="0"/>
          </a:p>
        </p:txBody>
      </p:sp>
      <p:sp>
        <p:nvSpPr>
          <p:cNvPr id="15" name="Payroll card"/>
          <p:cNvSpPr/>
          <p:nvPr/>
        </p:nvSpPr>
        <p:spPr>
          <a:xfrm>
            <a:off x="9052560" y="1371600"/>
            <a:ext cx="2587752" cy="1828800"/>
          </a:xfrm>
          <a:prstGeom prst="roundRect">
            <a:avLst>
              <a:gd name="adj" fmla="val 6000"/>
            </a:avLst>
          </a:prstGeom>
          <a:solidFill>
            <a:schemeClr val="bg2"/>
          </a:solidFill>
          <a:ln w="12700">
            <a:solidFill>
              <a:schemeClr val="bg2"/>
            </a:solidFill>
            <a:prstDash val="solid"/>
          </a:ln>
        </p:spPr>
      </p:sp>
      <p:sp>
        <p:nvSpPr>
          <p:cNvPr id="16" name="Payroll value"/>
          <p:cNvSpPr txBox="1"/>
          <p:nvPr/>
        </p:nvSpPr>
        <p:spPr>
          <a:xfrm>
            <a:off x="9281160" y="1554480"/>
            <a:ext cx="2130552" cy="82296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KES 19.30M</a:t>
            </a:r>
            <a:endParaRPr lang="en-US" sz="3200" dirty="0"/>
          </a:p>
        </p:txBody>
      </p:sp>
      <p:sp>
        <p:nvSpPr>
          <p:cNvPr id="17" name="Payroll label"/>
          <p:cNvSpPr txBox="1"/>
          <p:nvPr/>
        </p:nvSpPr>
        <p:spPr>
          <a:xfrm>
            <a:off x="9281160" y="2377440"/>
            <a:ext cx="2130552" cy="320040"/>
          </a:xfrm>
          <a:prstGeom prst="rect">
            <a:avLst/>
          </a:prstGeom>
          <a:noFill/>
          <a:ln/>
        </p:spPr>
        <p:txBody>
          <a:bodyPr wrap="square" lIns="0" tIns="0" rIns="0" bIns="0" rtlCol="0" anchor="ctr"/>
          <a:lstStyle/>
          <a:p>
            <a:pPr marL="0" indent="0">
              <a:buNone/>
            </a:pPr>
            <a:r>
              <a:rPr lang="en-US" sz="1600" b="1" dirty="0">
                <a:solidFill>
                  <a:schemeClr val="tx1"/>
                </a:solidFill>
              </a:rPr>
              <a:t>Payroll-related payables</a:t>
            </a:r>
            <a:endParaRPr lang="en-US" sz="1600" dirty="0"/>
          </a:p>
        </p:txBody>
      </p:sp>
      <p:sp>
        <p:nvSpPr>
          <p:cNvPr id="18" name="Payroll note"/>
          <p:cNvSpPr txBox="1"/>
          <p:nvPr/>
        </p:nvSpPr>
        <p:spPr>
          <a:xfrm>
            <a:off x="9281160" y="2670048"/>
            <a:ext cx="2130552" cy="411480"/>
          </a:xfrm>
          <a:prstGeom prst="rect">
            <a:avLst/>
          </a:prstGeom>
          <a:noFill/>
          <a:ln/>
        </p:spPr>
        <p:txBody>
          <a:bodyPr wrap="square" lIns="0" tIns="0" rIns="0" bIns="0" rtlCol="0" anchor="t"/>
          <a:lstStyle/>
          <a:p>
            <a:pPr marL="0" indent="0">
              <a:buNone/>
            </a:pPr>
            <a:r>
              <a:rPr lang="en-US" sz="1200" dirty="0">
                <a:solidFill>
                  <a:schemeClr val="accent5"/>
                </a:solidFill>
              </a:rPr>
              <a:t>Includes statutory control accounts</a:t>
            </a:r>
            <a:endParaRPr lang="en-US" sz="1200" dirty="0"/>
          </a:p>
        </p:txBody>
      </p:sp>
      <p:sp>
        <p:nvSpPr>
          <p:cNvPr id="19" name="Liquidity insight panel"/>
          <p:cNvSpPr/>
          <p:nvPr/>
        </p:nvSpPr>
        <p:spPr>
          <a:xfrm>
            <a:off x="548640" y="3520440"/>
            <a:ext cx="11091672" cy="2331720"/>
          </a:xfrm>
          <a:prstGeom prst="roundRect">
            <a:avLst>
              <a:gd name="adj" fmla="val 4706"/>
            </a:avLst>
          </a:prstGeom>
          <a:solidFill>
            <a:schemeClr val="bg2"/>
          </a:solidFill>
          <a:ln w="12700">
            <a:solidFill>
              <a:schemeClr val="bg2"/>
            </a:solidFill>
            <a:prstDash val="solid"/>
          </a:ln>
        </p:spPr>
      </p:sp>
      <p:sp>
        <p:nvSpPr>
          <p:cNvPr id="20" name="Text 18"/>
          <p:cNvSpPr txBox="1"/>
          <p:nvPr/>
        </p:nvSpPr>
        <p:spPr>
          <a:xfrm>
            <a:off x="822960" y="3703320"/>
            <a:ext cx="5486400" cy="3657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What matters for Q2</a:t>
            </a:r>
            <a:endParaRPr lang="en-US" sz="2000" dirty="0"/>
          </a:p>
        </p:txBody>
      </p:sp>
      <p:sp>
        <p:nvSpPr>
          <p:cNvPr id="21" name="Commentary"/>
          <p:cNvSpPr txBox="1"/>
          <p:nvPr/>
        </p:nvSpPr>
        <p:spPr>
          <a:xfrm>
            <a:off x="822960" y="4160520"/>
            <a:ext cx="10515600" cy="16459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Collections worked: gross trade receivables fell by KES 4.10M in Q1, more than the KES 3.79M billed.</a:t>
            </a:r>
            <a:endParaRPr lang="en-US" sz="1600" dirty="0"/>
          </a:p>
          <a:p>
            <a:pPr marL="342900" indent="-342900">
              <a:spcAft>
                <a:spcPts val="1000"/>
              </a:spcAft>
              <a:buSzPct val="100000"/>
              <a:buChar char="•"/>
            </a:pPr>
            <a:r>
              <a:rPr lang="en-US" sz="1600" dirty="0">
                <a:solidFill>
                  <a:schemeClr val="tx1"/>
                </a:solidFill>
              </a:rPr>
              <a:t>Current assets of KES 4.99M against current liabilities of KES 31.21M. Cash alone covers about 2% of liabilities</a:t>
            </a:r>
            <a:r>
              <a:rPr lang="en-US" sz="1600" dirty="0" smtClean="0">
                <a:solidFill>
                  <a:schemeClr val="tx1"/>
                </a:solidFill>
              </a:rPr>
              <a: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6</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2  Q1 PERFORMANCE REVIEW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Q2 target: KES 28.5M, 7.5 times Q1 sales</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7</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3  Q2 PRIORITIES &amp; EXECUTION</a:t>
            </a:r>
          </a:p>
        </p:txBody>
      </p:sp>
      <p:graphicFrame>
        <p:nvGraphicFramePr>
          <p:cNvPr id="27" name="Q1 vs Q2 target chart"/>
          <p:cNvGraphicFramePr>
            <a:graphicFrameLocks noGrp="1"/>
          </p:cNvGraphicFramePr>
          <p:nvPr/>
        </p:nvGraphicFramePr>
        <p:xfrm>
          <a:off x="548640" y="128016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28" name="Q2 sales target card"/>
          <p:cNvSpPr/>
          <p:nvPr/>
        </p:nvSpPr>
        <p:spPr>
          <a:xfrm>
            <a:off x="7772400" y="1371600"/>
            <a:ext cx="386791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Q2 sales target"/>
          <p:cNvSpPr txBox="1"/>
          <p:nvPr/>
        </p:nvSpPr>
        <p:spPr>
          <a:xfrm>
            <a:off x="8001000" y="1463040"/>
            <a:ext cx="3429000" cy="1188720"/>
          </a:xfrm>
          <a:prstGeom prst="rect">
            <a:avLst/>
          </a:prstGeom>
          <a:noFill/>
        </p:spPr>
        <p:txBody>
          <a:bodyPr wrap="square" lIns="0" tIns="0" rIns="0" bIns="0" anchor="ctr">
            <a:spAutoFit/>
          </a:bodyPr>
          <a:lstStyle/>
          <a:p>
            <a:r>
              <a:rPr sz="2800" b="1">
                <a:solidFill>
                  <a:schemeClr val="tx2"/>
                </a:solidFill>
                <a:latin typeface="Cambria"/>
              </a:rPr>
              <a:t>KES 28.5M</a:t>
            </a:r>
          </a:p>
          <a:p>
            <a:r>
              <a:rPr sz="1500" b="1">
                <a:solidFill>
                  <a:schemeClr val="tx1"/>
                </a:solidFill>
              </a:rPr>
              <a:t>Q2 sales target</a:t>
            </a:r>
          </a:p>
          <a:p>
            <a:r>
              <a:rPr sz="1200" b="0">
                <a:solidFill>
                  <a:schemeClr val="accent5"/>
                </a:solidFill>
              </a:rPr>
              <a:t>October to December 2026</a:t>
            </a:r>
          </a:p>
        </p:txBody>
      </p:sp>
      <p:sp>
        <p:nvSpPr>
          <p:cNvPr id="30" name="Elimu Pepe share of Q2 card"/>
          <p:cNvSpPr/>
          <p:nvPr/>
        </p:nvSpPr>
        <p:spPr>
          <a:xfrm>
            <a:off x="7772400" y="2880360"/>
            <a:ext cx="386791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Elimu Pepe share of Q2"/>
          <p:cNvSpPr txBox="1"/>
          <p:nvPr/>
        </p:nvSpPr>
        <p:spPr>
          <a:xfrm>
            <a:off x="8001000" y="2971800"/>
            <a:ext cx="3429000" cy="1188720"/>
          </a:xfrm>
          <a:prstGeom prst="rect">
            <a:avLst/>
          </a:prstGeom>
          <a:noFill/>
        </p:spPr>
        <p:txBody>
          <a:bodyPr wrap="square" lIns="0" tIns="0" rIns="0" bIns="0" anchor="ctr">
            <a:spAutoFit/>
          </a:bodyPr>
          <a:lstStyle/>
          <a:p>
            <a:r>
              <a:rPr sz="2800" b="1">
                <a:solidFill>
                  <a:srgbClr val="D1495B"/>
                </a:solidFill>
                <a:latin typeface="Cambria"/>
              </a:rPr>
              <a:t>48%</a:t>
            </a:r>
          </a:p>
          <a:p>
            <a:r>
              <a:rPr sz="1500" b="1">
                <a:solidFill>
                  <a:schemeClr val="tx1"/>
                </a:solidFill>
              </a:rPr>
              <a:t>Elimu Pepe share of Q2</a:t>
            </a:r>
          </a:p>
          <a:p>
            <a:r>
              <a:rPr sz="1200" b="0">
                <a:solidFill>
                  <a:schemeClr val="accent5"/>
                </a:solidFill>
              </a:rPr>
              <a:t>KES 13.6M, up from KES 0.8M in Q1</a:t>
            </a:r>
          </a:p>
        </p:txBody>
      </p:sp>
      <p:sp>
        <p:nvSpPr>
          <p:cNvPr id="32" name="Full-year target card"/>
          <p:cNvSpPr/>
          <p:nvPr/>
        </p:nvSpPr>
        <p:spPr>
          <a:xfrm>
            <a:off x="7772400" y="4389120"/>
            <a:ext cx="386791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Full-year target"/>
          <p:cNvSpPr txBox="1"/>
          <p:nvPr/>
        </p:nvSpPr>
        <p:spPr>
          <a:xfrm>
            <a:off x="8001000" y="4480559"/>
            <a:ext cx="3429000" cy="1188720"/>
          </a:xfrm>
          <a:prstGeom prst="rect">
            <a:avLst/>
          </a:prstGeom>
          <a:noFill/>
        </p:spPr>
        <p:txBody>
          <a:bodyPr wrap="square" lIns="0" tIns="0" rIns="0" bIns="0" anchor="ctr">
            <a:spAutoFit/>
          </a:bodyPr>
          <a:lstStyle/>
          <a:p>
            <a:r>
              <a:rPr sz="2800" b="1">
                <a:solidFill>
                  <a:srgbClr val="D1495B"/>
                </a:solidFill>
                <a:latin typeface="Cambria"/>
              </a:rPr>
              <a:t>KES 126M</a:t>
            </a:r>
          </a:p>
          <a:p>
            <a:r>
              <a:rPr sz="1500" b="1">
                <a:solidFill>
                  <a:schemeClr val="tx1"/>
                </a:solidFill>
              </a:rPr>
              <a:t>Full-year target</a:t>
            </a:r>
          </a:p>
          <a:p>
            <a:r>
              <a:rPr sz="1200" b="0">
                <a:solidFill>
                  <a:schemeClr val="accent5"/>
                </a:solidFill>
              </a:rPr>
              <a:t>Q1 delivered 3%; KES 122M left for 9 months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Q2 </a:t>
            </a:r>
            <a:r>
              <a:rPr lang="en-US" sz="3200" b="1" dirty="0" smtClean="0">
                <a:solidFill>
                  <a:schemeClr val="tx2"/>
                </a:solidFill>
                <a:latin typeface="Cambria" pitchFamily="34" charset="0"/>
                <a:ea typeface="Cambria" pitchFamily="34" charset="-122"/>
                <a:cs typeface="Cambria" pitchFamily="34" charset="-120"/>
              </a:rPr>
              <a:t>Sales </a:t>
            </a:r>
            <a:r>
              <a:rPr lang="en-US" sz="3200" b="1" dirty="0">
                <a:solidFill>
                  <a:schemeClr val="tx2"/>
                </a:solidFill>
                <a:latin typeface="Cambria" pitchFamily="34" charset="0"/>
                <a:ea typeface="Cambria" pitchFamily="34" charset="-122"/>
                <a:cs typeface="Cambria" pitchFamily="34" charset="-120"/>
              </a:rPr>
              <a:t>target by </a:t>
            </a:r>
            <a:r>
              <a:rPr lang="en-US" dirty="0" smtClean="0"/>
              <a:t>Product</a:t>
            </a:r>
            <a:r>
              <a:rPr lang="en-US" sz="3200" b="1" dirty="0" smtClean="0">
                <a:solidFill>
                  <a:schemeClr val="tx2"/>
                </a:solidFill>
                <a:latin typeface="Cambria" pitchFamily="34" charset="0"/>
                <a:ea typeface="Cambria" pitchFamily="34" charset="-122"/>
                <a:cs typeface="Cambria" pitchFamily="34" charset="-120"/>
              </a:rPr>
              <a:t> </a:t>
            </a:r>
            <a:r>
              <a:rPr lang="en-US" sz="3200" b="1" dirty="0">
                <a:solidFill>
                  <a:schemeClr val="tx2"/>
                </a:solidFill>
                <a:latin typeface="Cambria" pitchFamily="34" charset="0"/>
                <a:ea typeface="Cambria" pitchFamily="34" charset="-122"/>
                <a:cs typeface="Cambria" pitchFamily="34" charset="-120"/>
              </a:rPr>
              <a:t>and month</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8</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3  Q2 PRIORITIES &amp; EXECUTION</a:t>
            </a:r>
          </a:p>
        </p:txBody>
      </p:sp>
      <p:graphicFrame>
        <p:nvGraphicFramePr>
          <p:cNvPr id="27" name="Q2 sales target table"/>
          <p:cNvGraphicFramePr>
            <a:graphicFrameLocks noGrp="1"/>
          </p:cNvGraphicFramePr>
          <p:nvPr/>
        </p:nvGraphicFramePr>
        <p:xfrm>
          <a:off x="548640" y="1325880"/>
          <a:ext cx="11091672" cy="4096512"/>
        </p:xfrm>
        <a:graphic>
          <a:graphicData uri="http://schemas.openxmlformats.org/drawingml/2006/table">
            <a:tbl>
              <a:tblPr>
                <a:tableStyleId>{2D5ABB26-0587-4C30-8999-92F81FD0307C}</a:tableStyleId>
              </a:tblPr>
              <a:tblGrid>
                <a:gridCol w="23774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1399032">
                  <a:extLst>
                    <a:ext uri="{9D8B030D-6E8A-4147-A177-3AD203B41FA5}">
                      <a16:colId xmlns:a16="http://schemas.microsoft.com/office/drawing/2014/main" val="20006"/>
                    </a:ext>
                  </a:extLst>
                </a:gridCol>
              </a:tblGrid>
              <a:tr h="585216">
                <a:tc>
                  <a:txBody>
                    <a:bodyPr/>
                    <a:lstStyle/>
                    <a:p>
                      <a:r>
                        <a:rPr sz="1400" b="1">
                          <a:solidFill>
                            <a:srgbClr val="FFFFFF"/>
                          </a:solidFill>
                        </a:rPr>
                        <a:t>Revenue line</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a:lstStyle/>
                    <a:p>
                      <a:pPr algn="r"/>
                      <a:r>
                        <a:rPr sz="1400" b="1">
                          <a:solidFill>
                            <a:srgbClr val="FFFFFF"/>
                          </a:solidFill>
                        </a:rPr>
                        <a:t>October</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a:lstStyle/>
                    <a:p>
                      <a:pPr algn="r"/>
                      <a:r>
                        <a:rPr sz="1400" b="1">
                          <a:solidFill>
                            <a:srgbClr val="FFFFFF"/>
                          </a:solidFill>
                        </a:rPr>
                        <a:t>November</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a:lstStyle/>
                    <a:p>
                      <a:pPr algn="r"/>
                      <a:r>
                        <a:rPr sz="1400" b="1">
                          <a:solidFill>
                            <a:srgbClr val="FFFFFF"/>
                          </a:solidFill>
                        </a:rPr>
                        <a:t>December</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a:lstStyle/>
                    <a:p>
                      <a:pPr algn="r"/>
                      <a:r>
                        <a:rPr sz="1400" b="1">
                          <a:solidFill>
                            <a:srgbClr val="FFFFFF"/>
                          </a:solidFill>
                        </a:rPr>
                        <a:t>Q2 target</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a:lstStyle/>
                    <a:p>
                      <a:pPr algn="r"/>
                      <a:r>
                        <a:rPr sz="1400" b="1">
                          <a:solidFill>
                            <a:srgbClr val="FFFFFF"/>
                          </a:solidFill>
                        </a:rPr>
                        <a:t>Q1 achieved</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a:lstStyle/>
                    <a:p>
                      <a:pPr algn="r"/>
                      <a:r>
                        <a:rPr sz="1400" b="1">
                          <a:solidFill>
                            <a:srgbClr val="FFFFFF"/>
                          </a:solidFill>
                        </a:rPr>
                        <a:t>Step-up</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extLst>
                  <a:ext uri="{0D108BD9-81ED-4DB2-BD59-A6C34878D82A}">
                    <a16:rowId xmlns:a16="http://schemas.microsoft.com/office/drawing/2014/main" val="10000"/>
                  </a:ext>
                </a:extLst>
              </a:tr>
              <a:tr h="585216">
                <a:tc>
                  <a:txBody>
                    <a:bodyPr/>
                    <a:lstStyle/>
                    <a:p>
                      <a:r>
                        <a:rPr sz="1400" b="1">
                          <a:solidFill>
                            <a:srgbClr val="13262B"/>
                          </a:solidFill>
                        </a:rPr>
                        <a:t>CaaS eBooks</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1,518,500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1,300,500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328,000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b="1">
                          <a:solidFill>
                            <a:srgbClr val="1B7F79"/>
                          </a:solidFill>
                        </a:rPr>
                        <a:t>3,147,000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1,359,161</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2.3x</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1"/>
                  </a:ext>
                </a:extLst>
              </a:tr>
              <a:tr h="585216">
                <a:tc>
                  <a:txBody>
                    <a:bodyPr/>
                    <a:lstStyle/>
                    <a:p>
                      <a:r>
                        <a:rPr sz="1400" b="1">
                          <a:solidFill>
                            <a:srgbClr val="13262B"/>
                          </a:solidFill>
                        </a:rPr>
                        <a:t>Elimu Pepe</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4,111,000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4,547,000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4,968,000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b="1">
                          <a:solidFill>
                            <a:srgbClr val="1B7F79"/>
                          </a:solidFill>
                        </a:rPr>
                        <a:t>13,626,000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819,797</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16.6x</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2"/>
                  </a:ext>
                </a:extLst>
              </a:tr>
              <a:tr h="585216">
                <a:tc>
                  <a:txBody>
                    <a:bodyPr/>
                    <a:lstStyle/>
                    <a:p>
                      <a:r>
                        <a:rPr sz="1400" b="1">
                          <a:solidFill>
                            <a:srgbClr val="13262B"/>
                          </a:solidFill>
                        </a:rPr>
                        <a:t>LoHo Devices</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1,777,750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1,636,750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1,492,000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b="1">
                          <a:solidFill>
                            <a:srgbClr val="1B7F79"/>
                          </a:solidFill>
                        </a:rPr>
                        <a:t>4,906,500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107,390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45.7x</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3"/>
                  </a:ext>
                </a:extLst>
              </a:tr>
              <a:tr h="585216">
                <a:tc>
                  <a:txBody>
                    <a:bodyPr/>
                    <a:lstStyle/>
                    <a:p>
                      <a:r>
                        <a:rPr sz="1400" b="1">
                          <a:solidFill>
                            <a:srgbClr val="13262B"/>
                          </a:solidFill>
                        </a:rPr>
                        <a:t>LoHo Campus</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777,750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1,636,750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1,492,000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b="1">
                          <a:solidFill>
                            <a:srgbClr val="1B7F79"/>
                          </a:solidFill>
                        </a:rPr>
                        <a:t>3,906,500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new</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4"/>
                  </a:ext>
                </a:extLst>
              </a:tr>
              <a:tr h="585216">
                <a:tc>
                  <a:txBody>
                    <a:bodyPr/>
                    <a:lstStyle/>
                    <a:p>
                      <a:r>
                        <a:rPr sz="1400" b="1">
                          <a:solidFill>
                            <a:srgbClr val="13262B"/>
                          </a:solidFill>
                        </a:rPr>
                        <a:t>MTN Academy (Ug)</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2,941,848</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b="1">
                          <a:solidFill>
                            <a:srgbClr val="1B7F79"/>
                          </a:solidFill>
                        </a:rPr>
                        <a:t>2,941,848</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1,500,000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pPr algn="r"/>
                      <a:r>
                        <a:rPr sz="1400">
                          <a:solidFill>
                            <a:srgbClr val="13262B"/>
                          </a:solidFill>
                        </a:rPr>
                        <a:t>2.0x</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5"/>
                  </a:ext>
                </a:extLst>
              </a:tr>
              <a:tr h="585216">
                <a:tc>
                  <a:txBody>
                    <a:bodyPr/>
                    <a:lstStyle/>
                    <a:p>
                      <a:r>
                        <a:rPr sz="1400" b="1">
                          <a:solidFill>
                            <a:srgbClr val="13262B"/>
                          </a:solidFill>
                        </a:rPr>
                        <a:t>Total (KES)</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EEF4F3"/>
                    </a:solidFill>
                  </a:tcPr>
                </a:tc>
                <a:tc>
                  <a:txBody>
                    <a:bodyPr/>
                    <a:lstStyle/>
                    <a:p>
                      <a:pPr algn="r"/>
                      <a:r>
                        <a:rPr sz="1400" b="1">
                          <a:solidFill>
                            <a:srgbClr val="13262B"/>
                          </a:solidFill>
                        </a:rPr>
                        <a:t>8,185,000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EEF4F3"/>
                    </a:solidFill>
                  </a:tcPr>
                </a:tc>
                <a:tc>
                  <a:txBody>
                    <a:bodyPr/>
                    <a:lstStyle/>
                    <a:p>
                      <a:pPr algn="r"/>
                      <a:r>
                        <a:rPr sz="1400" b="1">
                          <a:solidFill>
                            <a:srgbClr val="13262B"/>
                          </a:solidFill>
                        </a:rPr>
                        <a:t>9,121,000</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EEF4F3"/>
                    </a:solidFill>
                  </a:tcPr>
                </a:tc>
                <a:tc>
                  <a:txBody>
                    <a:bodyPr/>
                    <a:lstStyle/>
                    <a:p>
                      <a:pPr algn="r"/>
                      <a:r>
                        <a:rPr sz="1400" b="1">
                          <a:solidFill>
                            <a:srgbClr val="13262B"/>
                          </a:solidFill>
                        </a:rPr>
                        <a:t>11,221,848</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EEF4F3"/>
                    </a:solidFill>
                  </a:tcPr>
                </a:tc>
                <a:tc>
                  <a:txBody>
                    <a:bodyPr/>
                    <a:lstStyle/>
                    <a:p>
                      <a:pPr algn="r"/>
                      <a:r>
                        <a:rPr sz="1400" b="1">
                          <a:solidFill>
                            <a:srgbClr val="1B7F79"/>
                          </a:solidFill>
                        </a:rPr>
                        <a:t>28,527,848</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EEF4F3"/>
                    </a:solidFill>
                  </a:tcPr>
                </a:tc>
                <a:tc>
                  <a:txBody>
                    <a:bodyPr/>
                    <a:lstStyle/>
                    <a:p>
                      <a:pPr algn="r"/>
                      <a:r>
                        <a:rPr sz="1400" b="1">
                          <a:solidFill>
                            <a:srgbClr val="13262B"/>
                          </a:solidFill>
                        </a:rPr>
                        <a:t>3,786,348</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EEF4F3"/>
                    </a:solidFill>
                  </a:tcPr>
                </a:tc>
                <a:tc>
                  <a:txBody>
                    <a:bodyPr/>
                    <a:lstStyle/>
                    <a:p>
                      <a:pPr algn="r"/>
                      <a:r>
                        <a:rPr sz="1400" b="1" dirty="0">
                          <a:solidFill>
                            <a:srgbClr val="13262B"/>
                          </a:solidFill>
                        </a:rPr>
                        <a:t>7.5x</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EEF4F3"/>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Q2 execution: deliverables, owners and measures</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9</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3  Q2 PRIORITIES &amp; EXECUTION</a:t>
            </a:r>
          </a:p>
        </p:txBody>
      </p:sp>
      <p:graphicFrame>
        <p:nvGraphicFramePr>
          <p:cNvPr id="27" name="Q2 execution table"/>
          <p:cNvGraphicFramePr>
            <a:graphicFrameLocks noGrp="1"/>
          </p:cNvGraphicFramePr>
          <p:nvPr/>
        </p:nvGraphicFramePr>
        <p:xfrm>
          <a:off x="548640" y="1280160"/>
          <a:ext cx="11091672" cy="4608576"/>
        </p:xfrm>
        <a:graphic>
          <a:graphicData uri="http://schemas.openxmlformats.org/drawingml/2006/table">
            <a:tbl>
              <a:tblPr>
                <a:tableStyleId>{2D5ABB26-0587-4C30-8999-92F81FD0307C}</a:tableStyleId>
              </a:tblPr>
              <a:tblGrid>
                <a:gridCol w="35661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gridCol w="1764792">
                  <a:extLst>
                    <a:ext uri="{9D8B030D-6E8A-4147-A177-3AD203B41FA5}">
                      <a16:colId xmlns:a16="http://schemas.microsoft.com/office/drawing/2014/main" val="20004"/>
                    </a:ext>
                  </a:extLst>
                </a:gridCol>
              </a:tblGrid>
              <a:tr h="658368">
                <a:tc>
                  <a:txBody>
                    <a:bodyPr/>
                    <a:lstStyle/>
                    <a:p>
                      <a:r>
                        <a:rPr sz="1200" b="1">
                          <a:solidFill>
                            <a:srgbClr val="FFFFFF"/>
                          </a:solidFill>
                        </a:rPr>
                        <a:t>Deliverable</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a:lstStyle/>
                    <a:p>
                      <a:r>
                        <a:rPr sz="1200" b="1">
                          <a:solidFill>
                            <a:srgbClr val="FFFFFF"/>
                          </a:solidFill>
                        </a:rPr>
                        <a:t>Owner</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a:lstStyle/>
                    <a:p>
                      <a:r>
                        <a:rPr sz="1200" b="1">
                          <a:solidFill>
                            <a:srgbClr val="FFFFFF"/>
                          </a:solidFill>
                        </a:rPr>
                        <a:t>By when</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a:lstStyle/>
                    <a:p>
                      <a:r>
                        <a:rPr sz="1200" b="1">
                          <a:solidFill>
                            <a:srgbClr val="FFFFFF"/>
                          </a:solidFill>
                        </a:rPr>
                        <a:t>Success measure</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a:lstStyle/>
                    <a:p>
                      <a:r>
                        <a:rPr sz="1200" b="1">
                          <a:solidFill>
                            <a:srgbClr val="FFFFFF"/>
                          </a:solidFill>
                        </a:rPr>
                        <a:t>What we need</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extLst>
                  <a:ext uri="{0D108BD9-81ED-4DB2-BD59-A6C34878D82A}">
                    <a16:rowId xmlns:a16="http://schemas.microsoft.com/office/drawing/2014/main" val="10000"/>
                  </a:ext>
                </a:extLst>
              </a:tr>
              <a:tr h="658368">
                <a:tc>
                  <a:txBody>
                    <a:bodyPr/>
                    <a:lstStyle/>
                    <a:p>
                      <a:r>
                        <a:rPr sz="1200" b="1">
                          <a:solidFill>
                            <a:srgbClr val="13262B"/>
                          </a:solidFill>
                        </a:rPr>
                        <a:t>Q2 sales tracked against KES 28.5M</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Finance with Sales</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Weekly, monthly variance</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Oct 8.19M, Nov 9.12M, Dec 11.22M</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Pipeline for Elimu Pepe and Campus</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1"/>
                  </a:ext>
                </a:extLst>
              </a:tr>
              <a:tr h="658368">
                <a:tc>
                  <a:txBody>
                    <a:bodyPr/>
                    <a:lstStyle/>
                    <a:p>
                      <a:r>
                        <a:rPr sz="1200" b="1">
                          <a:solidFill>
                            <a:srgbClr val="13262B"/>
                          </a:solidFill>
                        </a:rPr>
                        <a:t>Cash runway report and 12-month forecast</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Finance</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Mid-month</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Runway of 6 months or more shown for the month</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Sales forecast each month</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2"/>
                  </a:ext>
                </a:extLst>
              </a:tr>
              <a:tr h="658368">
                <a:tc>
                  <a:txBody>
                    <a:bodyPr/>
                    <a:lstStyle/>
                    <a:p>
                      <a:r>
                        <a:rPr sz="1200" b="1">
                          <a:solidFill>
                            <a:srgbClr val="13262B"/>
                          </a:solidFill>
                        </a:rPr>
                        <a:t>Collections: reconcile debtors, escalate accounts, dated recovery milestones</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Finance</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31 Oct, then bi-weekly</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95% collections discipline; 50% of invoices paid in 30 days</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Sales support on school follow-up</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3"/>
                  </a:ext>
                </a:extLst>
              </a:tr>
              <a:tr h="658368">
                <a:tc>
                  <a:txBody>
                    <a:bodyPr/>
                    <a:lstStyle/>
                    <a:p>
                      <a:r>
                        <a:rPr sz="1200" b="1">
                          <a:solidFill>
                            <a:srgbClr val="13262B"/>
                          </a:solidFill>
                        </a:rPr>
                        <a:t>Statutory remittance schedule agreed and executed</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Finance</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31 Oct</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Statutory accounts reconciled and paid on due dates</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Approval of cash release</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4"/>
                  </a:ext>
                </a:extLst>
              </a:tr>
              <a:tr h="658368">
                <a:tc>
                  <a:txBody>
                    <a:bodyPr/>
                    <a:lstStyle/>
                    <a:p>
                      <a:r>
                        <a:rPr sz="1200" b="1">
                          <a:solidFill>
                            <a:srgbClr val="13262B"/>
                          </a:solidFill>
                        </a:rPr>
                        <a:t>FY2025/26 audit completed</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Finance</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31 Dec</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Audit signed off</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Timely answers to auditor queries</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5"/>
                  </a:ext>
                </a:extLst>
              </a:tr>
              <a:tr h="658368">
                <a:tc>
                  <a:txBody>
                    <a:bodyPr/>
                    <a:lstStyle/>
                    <a:p>
                      <a:r>
                        <a:rPr sz="1200" b="1">
                          <a:solidFill>
                            <a:srgbClr val="13262B"/>
                          </a:solidFill>
                        </a:rPr>
                        <a:t>Q1 performance reviews; recover the 5 off-plan actions</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Operations</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30 Nov to 31 Dec</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Every staff member reviewed; owner, date and evidence for each action</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a:lstStyle/>
                    <a:p>
                      <a:r>
                        <a:rPr sz="1200">
                          <a:solidFill>
                            <a:srgbClr val="13262B"/>
                          </a:solidFill>
                        </a:rPr>
                        <a:t>KPI assessments and manager time</a:t>
                      </a:r>
                    </a:p>
                  </a:txBody>
                  <a:tcPr marT="36576" marB="36576" anchor="ctr">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extLst>
                  <a:ext uri="{0D108BD9-81ED-4DB2-BD59-A6C34878D82A}">
                    <a16:rowId xmlns:a16="http://schemas.microsoft.com/office/drawing/2014/main" val="10006"/>
                  </a:ext>
                </a:extLst>
              </a:tr>
            </a:tbl>
          </a:graphicData>
        </a:graphic>
      </p:graphicFrame>
      <p:sp>
        <p:nvSpPr>
          <p:cNvPr id="28" name="Source note"/>
          <p:cNvSpPr txBox="1"/>
          <p:nvPr/>
        </p:nvSpPr>
        <p:spPr>
          <a:xfrm>
            <a:off x="548640" y="6053328"/>
            <a:ext cx="11064240" cy="274320"/>
          </a:xfrm>
          <a:prstGeom prst="rect">
            <a:avLst/>
          </a:prstGeom>
          <a:noFill/>
        </p:spPr>
        <p:txBody>
          <a:bodyPr wrap="square" lIns="0" tIns="0" rIns="0" bIns="0" anchor="t">
            <a:spAutoFit/>
          </a:bodyPr>
          <a:lstStyle/>
          <a:p>
            <a:r>
              <a:rPr sz="1000" b="0" i="1">
                <a:solidFill>
                  <a:schemeClr val="accent5"/>
                </a:solidFill>
              </a:rPr>
              <a:t>Source: Q1 FY26/27 KPI Status; Target - revenue workbook. Owners, dates and measures are proposals for confirmation.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Q2 </a:t>
            </a:r>
            <a:r>
              <a:rPr lang="en-US" sz="3200" b="1" dirty="0" smtClean="0">
                <a:solidFill>
                  <a:schemeClr val="tx2"/>
                </a:solidFill>
                <a:latin typeface="Cambria" pitchFamily="34" charset="0"/>
                <a:ea typeface="Cambria" pitchFamily="34" charset="-122"/>
                <a:cs typeface="Cambria" pitchFamily="34" charset="-120"/>
              </a:rPr>
              <a:t>: </a:t>
            </a:r>
            <a:r>
              <a:rPr lang="en-US" sz="3200" b="1" dirty="0">
                <a:solidFill>
                  <a:schemeClr val="tx2"/>
                </a:solidFill>
                <a:latin typeface="Cambria" pitchFamily="34" charset="0"/>
                <a:ea typeface="Cambria" pitchFamily="34" charset="-122"/>
                <a:cs typeface="Cambria" pitchFamily="34" charset="-120"/>
              </a:rPr>
              <a:t>October to December</a:t>
            </a:r>
            <a:endParaRPr lang="en-US" sz="3200" dirty="0"/>
          </a:p>
        </p:txBody>
      </p:sp>
      <p:sp>
        <p:nvSpPr>
          <p:cNvPr id="3" name="October header"/>
          <p:cNvSpPr/>
          <p:nvPr/>
        </p:nvSpPr>
        <p:spPr>
          <a:xfrm>
            <a:off x="548640" y="1371600"/>
            <a:ext cx="3593592" cy="914400"/>
          </a:xfrm>
          <a:prstGeom prst="roundRect">
            <a:avLst>
              <a:gd name="adj" fmla="val 10000"/>
            </a:avLst>
          </a:prstGeom>
          <a:solidFill>
            <a:schemeClr val="tx2"/>
          </a:solidFill>
          <a:ln w="12700">
            <a:solidFill>
              <a:schemeClr val="tx2"/>
            </a:solidFill>
            <a:prstDash val="solid"/>
          </a:ln>
        </p:spPr>
        <p:txBody>
          <a:bodyPr/>
          <a:lstStyle/>
          <a:p>
            <a:endParaRPr/>
          </a:p>
        </p:txBody>
      </p:sp>
      <p:sp>
        <p:nvSpPr>
          <p:cNvPr id="4" name="Text 2"/>
          <p:cNvSpPr txBox="1"/>
          <p:nvPr/>
        </p:nvSpPr>
        <p:spPr>
          <a:xfrm>
            <a:off x="777240" y="1371600"/>
            <a:ext cx="3108960" cy="9144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October</a:t>
            </a:r>
            <a:endParaRPr lang="en-US" sz="2200" dirty="0"/>
          </a:p>
          <a:p>
            <a:pPr marL="0" indent="0">
              <a:buNone/>
            </a:pPr>
            <a:r>
              <a:rPr lang="en-US" sz="1400" dirty="0">
                <a:solidFill>
                  <a:schemeClr val="bg1"/>
                </a:solidFill>
              </a:rPr>
              <a:t>Close and set up</a:t>
            </a:r>
            <a:endParaRPr lang="en-US" sz="2200" dirty="0"/>
          </a:p>
        </p:txBody>
      </p:sp>
      <p:sp>
        <p:nvSpPr>
          <p:cNvPr id="5" name="October card"/>
          <p:cNvSpPr/>
          <p:nvPr/>
        </p:nvSpPr>
        <p:spPr>
          <a:xfrm>
            <a:off x="548640" y="2468880"/>
            <a:ext cx="3593592" cy="3429000"/>
          </a:xfrm>
          <a:prstGeom prst="roundRect">
            <a:avLst>
              <a:gd name="adj" fmla="val 3200"/>
            </a:avLst>
          </a:prstGeom>
          <a:solidFill>
            <a:schemeClr val="bg2"/>
          </a:solidFill>
          <a:ln w="12700">
            <a:solidFill>
              <a:schemeClr val="bg2"/>
            </a:solidFill>
            <a:prstDash val="solid"/>
          </a:ln>
        </p:spPr>
        <p:txBody>
          <a:bodyPr/>
          <a:lstStyle/>
          <a:p>
            <a:endParaRPr/>
          </a:p>
        </p:txBody>
      </p:sp>
      <p:sp>
        <p:nvSpPr>
          <p:cNvPr id="6" name="Text 4"/>
          <p:cNvSpPr txBox="1"/>
          <p:nvPr/>
        </p:nvSpPr>
        <p:spPr>
          <a:xfrm>
            <a:off x="777240" y="2697480"/>
            <a:ext cx="3154680" cy="3017520"/>
          </a:xfrm>
          <a:prstGeom prst="rect">
            <a:avLst/>
          </a:prstGeom>
          <a:noFill/>
          <a:ln/>
        </p:spPr>
        <p:txBody>
          <a:bodyPr wrap="square" lIns="0" tIns="0" rIns="0" bIns="0" rtlCol="0" anchor="t"/>
          <a:lstStyle/>
          <a:p>
            <a:pPr marL="342900" indent="-342900">
              <a:spcAft>
                <a:spcPts val="1200"/>
              </a:spcAft>
              <a:buSzPct val="100000"/>
              <a:buChar char="•"/>
            </a:pPr>
            <a:r>
              <a:rPr lang="en-US" sz="1500" dirty="0" smtClean="0">
                <a:solidFill>
                  <a:schemeClr val="tx1"/>
                </a:solidFill>
              </a:rPr>
              <a:t>Statutory </a:t>
            </a:r>
            <a:r>
              <a:rPr lang="en-US" sz="1500" dirty="0">
                <a:solidFill>
                  <a:schemeClr val="tx1"/>
                </a:solidFill>
              </a:rPr>
              <a:t>remittance plan agreed</a:t>
            </a:r>
            <a:endParaRPr lang="en-US" sz="1500" dirty="0"/>
          </a:p>
          <a:p>
            <a:pPr marL="342900" indent="-342900">
              <a:spcAft>
                <a:spcPts val="1200"/>
              </a:spcAft>
              <a:buSzPct val="100000"/>
              <a:buChar char="•"/>
            </a:pPr>
            <a:r>
              <a:rPr lang="en-US" sz="1500" dirty="0">
                <a:solidFill>
                  <a:schemeClr val="tx1"/>
                </a:solidFill>
              </a:rPr>
              <a:t>Start performance reviews</a:t>
            </a:r>
            <a:endParaRPr lang="en-US" sz="1500" dirty="0"/>
          </a:p>
          <a:p>
            <a:pPr marL="342900" indent="-342900">
              <a:spcAft>
                <a:spcPts val="1200"/>
              </a:spcAft>
              <a:buSzPct val="100000"/>
              <a:buChar char="•"/>
            </a:pPr>
            <a:r>
              <a:rPr lang="en-US" sz="1500" dirty="0">
                <a:solidFill>
                  <a:schemeClr val="tx1"/>
                </a:solidFill>
              </a:rPr>
              <a:t>Reconcile debtor </a:t>
            </a:r>
            <a:r>
              <a:rPr lang="en-US" sz="1500" dirty="0" smtClean="0">
                <a:solidFill>
                  <a:schemeClr val="tx1"/>
                </a:solidFill>
              </a:rPr>
              <a:t>balances</a:t>
            </a:r>
            <a:endParaRPr lang="en-US" sz="1500" dirty="0"/>
          </a:p>
        </p:txBody>
      </p:sp>
      <p:sp>
        <p:nvSpPr>
          <p:cNvPr id="7" name="November header"/>
          <p:cNvSpPr/>
          <p:nvPr/>
        </p:nvSpPr>
        <p:spPr>
          <a:xfrm>
            <a:off x="4297680" y="1371600"/>
            <a:ext cx="3593592" cy="914400"/>
          </a:xfrm>
          <a:prstGeom prst="roundRect">
            <a:avLst>
              <a:gd name="adj" fmla="val 10000"/>
            </a:avLst>
          </a:prstGeom>
          <a:solidFill>
            <a:schemeClr val="accent1"/>
          </a:solidFill>
          <a:ln w="12700">
            <a:solidFill>
              <a:schemeClr val="tx2"/>
            </a:solidFill>
            <a:prstDash val="solid"/>
          </a:ln>
        </p:spPr>
        <p:txBody>
          <a:bodyPr/>
          <a:lstStyle/>
          <a:p>
            <a:endParaRPr/>
          </a:p>
        </p:txBody>
      </p:sp>
      <p:sp>
        <p:nvSpPr>
          <p:cNvPr id="8" name="Text 6"/>
          <p:cNvSpPr txBox="1"/>
          <p:nvPr/>
        </p:nvSpPr>
        <p:spPr>
          <a:xfrm>
            <a:off x="4526280" y="1371600"/>
            <a:ext cx="3108960" cy="9144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November</a:t>
            </a:r>
            <a:endParaRPr lang="en-US" sz="2200" dirty="0"/>
          </a:p>
          <a:p>
            <a:pPr marL="0" indent="0">
              <a:buNone/>
            </a:pPr>
            <a:r>
              <a:rPr lang="en-US" sz="1400" dirty="0">
                <a:solidFill>
                  <a:schemeClr val="bg1"/>
                </a:solidFill>
              </a:rPr>
              <a:t>Execute and review</a:t>
            </a:r>
            <a:endParaRPr lang="en-US" sz="2200" dirty="0"/>
          </a:p>
        </p:txBody>
      </p:sp>
      <p:sp>
        <p:nvSpPr>
          <p:cNvPr id="9" name="November card"/>
          <p:cNvSpPr/>
          <p:nvPr/>
        </p:nvSpPr>
        <p:spPr>
          <a:xfrm>
            <a:off x="4297680" y="2468880"/>
            <a:ext cx="3593592" cy="3429000"/>
          </a:xfrm>
          <a:prstGeom prst="roundRect">
            <a:avLst>
              <a:gd name="adj" fmla="val 3200"/>
            </a:avLst>
          </a:prstGeom>
          <a:solidFill>
            <a:schemeClr val="bg2"/>
          </a:solidFill>
          <a:ln w="12700">
            <a:solidFill>
              <a:schemeClr val="bg2"/>
            </a:solidFill>
            <a:prstDash val="solid"/>
          </a:ln>
        </p:spPr>
        <p:txBody>
          <a:bodyPr/>
          <a:lstStyle/>
          <a:p>
            <a:endParaRPr/>
          </a:p>
        </p:txBody>
      </p:sp>
      <p:sp>
        <p:nvSpPr>
          <p:cNvPr id="10" name="Text 8"/>
          <p:cNvSpPr txBox="1"/>
          <p:nvPr/>
        </p:nvSpPr>
        <p:spPr>
          <a:xfrm>
            <a:off x="4526280" y="2697480"/>
            <a:ext cx="3154680" cy="301752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Mid-quarter sales and cost review</a:t>
            </a:r>
            <a:endParaRPr lang="en-US" sz="1500" dirty="0"/>
          </a:p>
          <a:p>
            <a:pPr marL="342900" indent="-342900">
              <a:spcAft>
                <a:spcPts val="1200"/>
              </a:spcAft>
              <a:buSzPct val="100000"/>
              <a:buChar char="•"/>
            </a:pPr>
            <a:r>
              <a:rPr lang="en-US" sz="1500" dirty="0">
                <a:solidFill>
                  <a:schemeClr val="tx1"/>
                </a:solidFill>
              </a:rPr>
              <a:t>Complete performance reviews</a:t>
            </a:r>
            <a:endParaRPr lang="en-US" sz="1500" dirty="0"/>
          </a:p>
          <a:p>
            <a:pPr marL="342900" indent="-342900">
              <a:spcAft>
                <a:spcPts val="1200"/>
              </a:spcAft>
              <a:buSzPct val="100000"/>
              <a:buChar char="•"/>
            </a:pPr>
            <a:r>
              <a:rPr lang="en-US" sz="1500" dirty="0" smtClean="0">
                <a:solidFill>
                  <a:schemeClr val="tx1"/>
                </a:solidFill>
              </a:rPr>
              <a:t>Share </a:t>
            </a:r>
            <a:r>
              <a:rPr lang="en-US" sz="1500" dirty="0">
                <a:solidFill>
                  <a:schemeClr val="tx1"/>
                </a:solidFill>
              </a:rPr>
              <a:t>survey response with staff</a:t>
            </a:r>
            <a:endParaRPr lang="en-US" sz="1500" dirty="0"/>
          </a:p>
          <a:p>
            <a:pPr marL="342900" indent="-342900">
              <a:spcAft>
                <a:spcPts val="1200"/>
              </a:spcAft>
              <a:buSzPct val="100000"/>
              <a:buChar char="•"/>
            </a:pPr>
            <a:r>
              <a:rPr lang="en-US" sz="1500" dirty="0" smtClean="0">
                <a:solidFill>
                  <a:schemeClr val="tx1"/>
                </a:solidFill>
              </a:rPr>
              <a:t>Skills-gap assessment</a:t>
            </a:r>
            <a:endParaRPr lang="en-US" sz="1500" dirty="0"/>
          </a:p>
        </p:txBody>
      </p:sp>
      <p:sp>
        <p:nvSpPr>
          <p:cNvPr id="11" name="December header"/>
          <p:cNvSpPr/>
          <p:nvPr/>
        </p:nvSpPr>
        <p:spPr>
          <a:xfrm>
            <a:off x="8046720" y="1371600"/>
            <a:ext cx="3593592" cy="914400"/>
          </a:xfrm>
          <a:prstGeom prst="roundRect">
            <a:avLst>
              <a:gd name="adj" fmla="val 10000"/>
            </a:avLst>
          </a:prstGeom>
          <a:solidFill>
            <a:schemeClr val="tx2"/>
          </a:solidFill>
          <a:ln w="12700">
            <a:solidFill>
              <a:schemeClr val="tx2"/>
            </a:solidFill>
            <a:prstDash val="solid"/>
          </a:ln>
        </p:spPr>
        <p:txBody>
          <a:bodyPr/>
          <a:lstStyle/>
          <a:p>
            <a:endParaRPr/>
          </a:p>
        </p:txBody>
      </p:sp>
      <p:sp>
        <p:nvSpPr>
          <p:cNvPr id="12" name="Text 10"/>
          <p:cNvSpPr txBox="1"/>
          <p:nvPr/>
        </p:nvSpPr>
        <p:spPr>
          <a:xfrm>
            <a:off x="8275320" y="1371600"/>
            <a:ext cx="3108960" cy="9144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December</a:t>
            </a:r>
            <a:endParaRPr lang="en-US" sz="2200" dirty="0"/>
          </a:p>
          <a:p>
            <a:pPr marL="0" indent="0">
              <a:buNone/>
            </a:pPr>
            <a:r>
              <a:rPr lang="en-US" sz="1400" dirty="0">
                <a:solidFill>
                  <a:schemeClr val="bg1"/>
                </a:solidFill>
              </a:rPr>
              <a:t>Land and plan</a:t>
            </a:r>
            <a:endParaRPr lang="en-US" sz="2200" dirty="0"/>
          </a:p>
        </p:txBody>
      </p:sp>
      <p:sp>
        <p:nvSpPr>
          <p:cNvPr id="13" name="December card"/>
          <p:cNvSpPr/>
          <p:nvPr/>
        </p:nvSpPr>
        <p:spPr>
          <a:xfrm>
            <a:off x="8046720" y="2468880"/>
            <a:ext cx="3593592" cy="3429000"/>
          </a:xfrm>
          <a:prstGeom prst="roundRect">
            <a:avLst>
              <a:gd name="adj" fmla="val 3200"/>
            </a:avLst>
          </a:prstGeom>
          <a:solidFill>
            <a:schemeClr val="bg2"/>
          </a:solidFill>
          <a:ln w="12700">
            <a:solidFill>
              <a:schemeClr val="bg2"/>
            </a:solidFill>
            <a:prstDash val="solid"/>
          </a:ln>
        </p:spPr>
        <p:txBody>
          <a:bodyPr/>
          <a:lstStyle/>
          <a:p>
            <a:endParaRPr/>
          </a:p>
        </p:txBody>
      </p:sp>
      <p:sp>
        <p:nvSpPr>
          <p:cNvPr id="14" name="Text 12"/>
          <p:cNvSpPr txBox="1"/>
          <p:nvPr/>
        </p:nvSpPr>
        <p:spPr>
          <a:xfrm>
            <a:off x="8275320" y="2697480"/>
            <a:ext cx="3154680" cy="301752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Engagement event</a:t>
            </a:r>
            <a:endParaRPr lang="en-US" sz="1500" dirty="0"/>
          </a:p>
          <a:p>
            <a:pPr marL="342900" indent="-342900">
              <a:spcAft>
                <a:spcPts val="1200"/>
              </a:spcAft>
              <a:buSzPct val="100000"/>
              <a:buChar char="•"/>
            </a:pPr>
            <a:r>
              <a:rPr lang="en-US" sz="1500" dirty="0">
                <a:solidFill>
                  <a:schemeClr val="tx1"/>
                </a:solidFill>
              </a:rPr>
              <a:t>Half-year close preparation</a:t>
            </a:r>
            <a:endParaRPr lang="en-US" sz="1500" dirty="0"/>
          </a:p>
          <a:p>
            <a:pPr marL="342900" indent="-342900">
              <a:spcAft>
                <a:spcPts val="1200"/>
              </a:spcAft>
              <a:buSzPct val="100000"/>
              <a:buChar char="•"/>
            </a:pPr>
            <a:r>
              <a:rPr lang="en-US" sz="1500" dirty="0">
                <a:solidFill>
                  <a:schemeClr val="tx1"/>
                </a:solidFill>
              </a:rPr>
              <a:t>Q2 results against </a:t>
            </a:r>
            <a:r>
              <a:rPr lang="en-US" sz="1500" dirty="0" smtClean="0">
                <a:solidFill>
                  <a:schemeClr val="tx1"/>
                </a:solidFill>
              </a:rPr>
              <a:t>targets</a:t>
            </a:r>
            <a:endParaRPr lang="en-US" sz="1500" dirty="0"/>
          </a:p>
          <a:p>
            <a:pPr marL="342900" indent="-342900">
              <a:spcAft>
                <a:spcPts val="1200"/>
              </a:spcAft>
              <a:buSzPct val="100000"/>
              <a:buChar char="•"/>
            </a:pPr>
            <a:r>
              <a:rPr lang="en-US" sz="1500" dirty="0">
                <a:solidFill>
                  <a:schemeClr val="tx1"/>
                </a:solidFill>
              </a:rPr>
              <a:t>Escalation paths </a:t>
            </a:r>
            <a:r>
              <a:rPr lang="en-US" sz="1500" dirty="0" smtClean="0">
                <a:solidFill>
                  <a:schemeClr val="tx1"/>
                </a:solidFill>
              </a:rPr>
              <a:t>documented</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10</a:t>
            </a:fld>
            <a:endParaRPr lang="en-US"/>
          </a:p>
        </p:txBody>
      </p:sp>
      <p:sp>
        <p:nvSpPr>
          <p:cNvPr id="26" name="Section label"/>
          <p:cNvSpPr txBox="1"/>
          <p:nvPr/>
        </p:nvSpPr>
        <p:spPr>
          <a:xfrm>
            <a:off x="548640" y="73152"/>
            <a:ext cx="7315200" cy="246888"/>
          </a:xfrm>
          <a:prstGeom prst="rect">
            <a:avLst/>
          </a:prstGeom>
          <a:noFill/>
        </p:spPr>
        <p:txBody>
          <a:bodyPr wrap="square" lIns="0" tIns="0" rIns="0" bIns="0">
            <a:spAutoFit/>
          </a:bodyPr>
          <a:lstStyle/>
          <a:p>
            <a:pPr algn="l"/>
            <a:r>
              <a:rPr sz="1100" b="1">
                <a:solidFill>
                  <a:schemeClr val="accent1"/>
                </a:solidFill>
              </a:rPr>
              <a:t>3  Q2 PRIORITIES &amp; EXECUTION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645920"/>
          </a:xfrm>
          <a:prstGeom prst="rect">
            <a:avLst/>
          </a:prstGeom>
          <a:noFill/>
          <a:ln/>
        </p:spPr>
        <p:txBody>
          <a:bodyPr wrap="square" lIns="0" tIns="0" rIns="0" bIns="0"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What we need from others</a:t>
            </a:r>
            <a:endParaRPr lang="en-US" sz="4400" dirty="0"/>
          </a:p>
        </p:txBody>
      </p:sp>
      <p:sp>
        <p:nvSpPr>
          <p:cNvPr id="3" name="Text 0"/>
          <p:cNvSpPr>
            <a:spLocks noGrp="1"/>
          </p:cNvSpPr>
          <p:nvPr>
            <p:ph type="body" idx="101" hasCustomPrompt="1"/>
          </p:nvPr>
        </p:nvSpPr>
        <p:spPr>
          <a:xfrm>
            <a:off x="731520" y="3840480"/>
            <a:ext cx="10698480" cy="1097280"/>
          </a:xfrm>
          <a:prstGeom prst="rect">
            <a:avLst/>
          </a:prstGeom>
          <a:noFill/>
          <a:ln/>
        </p:spPr>
        <p:txBody>
          <a:bodyPr wrap="square" lIns="0" tIns="0" rIns="0" bIns="0" rtlCol="0" anchor="t"/>
          <a:lstStyle/>
          <a:p>
            <a:pPr marL="0" indent="0">
              <a:spcAft>
                <a:spcPts val="1000"/>
              </a:spcAft>
              <a:buNone/>
            </a:pPr>
            <a:r>
              <a:rPr lang="en-US" sz="2000" dirty="0">
                <a:solidFill>
                  <a:schemeClr val="accent6"/>
                </a:solidFill>
              </a:rPr>
              <a:t>Sales: monthly forecast and help following up school debtors</a:t>
            </a:r>
            <a:endParaRPr lang="en-US" sz="2000" dirty="0"/>
          </a:p>
          <a:p>
            <a:pPr marL="0" indent="0">
              <a:spcAft>
                <a:spcPts val="1000"/>
              </a:spcAft>
              <a:buNone/>
            </a:pPr>
            <a:r>
              <a:rPr lang="en-US" sz="2000" dirty="0">
                <a:solidFill>
                  <a:schemeClr val="accent6"/>
                </a:solidFill>
              </a:rPr>
              <a:t>Management: approval of the statutory remittance schedule and audit timeline</a:t>
            </a:r>
            <a:endParaRPr lang="en-US" sz="2000" dirty="0"/>
          </a:p>
          <a:p>
            <a:pPr marL="0" indent="0">
              <a:spcAft>
                <a:spcPts val="1000"/>
              </a:spcAft>
              <a:buNone/>
            </a:pPr>
            <a:r>
              <a:rPr lang="en-US" sz="2000" dirty="0" smtClean="0">
                <a:solidFill>
                  <a:schemeClr val="accent6"/>
                </a:solidFill>
              </a:rPr>
              <a:t>All </a:t>
            </a:r>
            <a:r>
              <a:rPr lang="en-US" sz="2000" dirty="0">
                <a:solidFill>
                  <a:schemeClr val="accent6"/>
                </a:solidFill>
              </a:rPr>
              <a:t>departments: timely approvals and documents for month-end close</a:t>
            </a:r>
            <a:endParaRPr lang="en-US" sz="20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HR &amp; Operations: objective tracker</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8</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2  Q1 PERFORMANCE REVIEW</a:t>
            </a:r>
          </a:p>
        </p:txBody>
      </p:sp>
      <p:graphicFrame>
        <p:nvGraphicFramePr>
          <p:cNvPr id="27" name="HR and Operations tracker table"/>
          <p:cNvGraphicFramePr>
            <a:graphicFrameLocks noGrp="1"/>
          </p:cNvGraphicFramePr>
          <p:nvPr/>
        </p:nvGraphicFramePr>
        <p:xfrm>
          <a:off x="548640" y="1371600"/>
          <a:ext cx="7955280" cy="3886200"/>
        </p:xfrm>
        <a:graphic>
          <a:graphicData uri="http://schemas.openxmlformats.org/drawingml/2006/table">
            <a:tbl>
              <a:tblPr firstRow="0" bandRow="0">
                <a:tableStyleId>{2D5ABB26-0587-4C30-8999-92F81FD0307C}</a:tableStyleId>
              </a:tblPr>
              <a:tblGrid>
                <a:gridCol w="2377440"/>
                <a:gridCol w="2468880"/>
                <a:gridCol w="2011680"/>
                <a:gridCol w="1097280"/>
              </a:tblGrid>
              <a:tr h="777240">
                <a:tc>
                  <a:txBody>
                    <a:bodyPr wrap="square"/>
                    <a:lstStyle/>
                    <a:p>
                      <a:r>
                        <a:rPr sz="1300" b="1">
                          <a:solidFill>
                            <a:srgbClr val="FFFFFF"/>
                          </a:solidFill>
                        </a:rPr>
                        <a:t>Objective / KRI</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r>
                        <a:rPr sz="1300" b="1">
                          <a:solidFill>
                            <a:srgbClr val="FFFFFF"/>
                          </a:solidFill>
                        </a:rPr>
                        <a:t>Target</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r>
                        <a:rPr sz="1300" b="1">
                          <a:solidFill>
                            <a:srgbClr val="FFFFFF"/>
                          </a:solidFill>
                        </a:rPr>
                        <a:t>Comment</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r>
                        <a:rPr sz="1300" b="1">
                          <a:solidFill>
                            <a:srgbClr val="FFFFFF"/>
                          </a:solidFill>
                        </a:rPr>
                        <a:t>Status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r>
              <a:tr h="777240">
                <a:tc>
                  <a:txBody>
                    <a:bodyPr wrap="square"/>
                    <a:lstStyle/>
                    <a:p>
                      <a:r>
                        <a:rPr sz="1300" b="1">
                          <a:solidFill>
                            <a:srgbClr val="13262B"/>
                          </a:solidFill>
                        </a:rPr>
                        <a:t>Staff satisfaction</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300">
                          <a:solidFill>
                            <a:srgbClr val="13262B"/>
                          </a:solidFill>
                        </a:rPr>
                        <a:t>&gt;50%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300">
                          <a:solidFill>
                            <a:srgbClr val="13262B"/>
                          </a:solidFill>
                        </a:rPr>
                        <a:t>&lt;50%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300" b="1">
                          <a:solidFill>
                            <a:srgbClr val="1B7F79"/>
                          </a:solidFill>
                        </a:rPr>
                        <a:t>Completed</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777240">
                <a:tc>
                  <a:txBody>
                    <a:bodyPr wrap="square"/>
                    <a:lstStyle/>
                    <a:p>
                      <a:r>
                        <a:rPr sz="1300" b="1">
                          <a:solidFill>
                            <a:srgbClr val="13262B"/>
                          </a:solidFill>
                        </a:rPr>
                        <a:t>Succession planning and org structure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300">
                          <a:solidFill>
                            <a:srgbClr val="13262B"/>
                          </a:solidFill>
                        </a:rPr>
                        <a:t>Org structure and succession plan finalised by Q2 FY2026/27</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300">
                          <a:solidFill>
                            <a:srgbClr val="13262B"/>
                          </a:solidFill>
                        </a:rPr>
                        <a:t>Succession plan drafted for key roles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300" b="1">
                          <a:solidFill>
                            <a:srgbClr val="B26B00"/>
                          </a:solidFill>
                        </a:rPr>
                        <a:t>In progress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777240">
                <a:tc>
                  <a:txBody>
                    <a:bodyPr wrap="square"/>
                    <a:lstStyle/>
                    <a:p>
                      <a:r>
                        <a:rPr sz="1300" b="1">
                          <a:solidFill>
                            <a:srgbClr val="13262B"/>
                          </a:solidFill>
                        </a:rPr>
                        <a:t>Revenue-linked incentive programme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300">
                          <a:solidFill>
                            <a:srgbClr val="13262B"/>
                          </a:solidFill>
                        </a:rPr>
                        <a:t>Approved and communicated to staff by Q1 FY2026/27</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300">
                          <a:solidFill>
                            <a:srgbClr val="13262B"/>
                          </a:solidFill>
                        </a:rPr>
                        <a:t>Shared with the team</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300" b="1">
                          <a:solidFill>
                            <a:srgbClr val="1B7F79"/>
                          </a:solidFill>
                        </a:rPr>
                        <a:t>Completed</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777240">
                <a:tc>
                  <a:txBody>
                    <a:bodyPr wrap="square"/>
                    <a:lstStyle/>
                    <a:p>
                      <a:r>
                        <a:rPr sz="1300" b="1">
                          <a:solidFill>
                            <a:srgbClr val="13262B"/>
                          </a:solidFill>
                        </a:rPr>
                        <a:t>Rigorous performance framework</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300">
                          <a:solidFill>
                            <a:srgbClr val="13262B"/>
                          </a:solidFill>
                        </a:rPr>
                        <a:t>Framework designed and piloted by Q3 FY2026/27</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300">
                          <a:solidFill>
                            <a:srgbClr val="13262B"/>
                          </a:solidFill>
                        </a:rPr>
                        <a:t>OKRs and SLAs published; Q1 review cycle on plan</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300" b="1">
                          <a:solidFill>
                            <a:srgbClr val="B26B00"/>
                          </a:solidFill>
                        </a:rPr>
                        <a:t>In progress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bl>
          </a:graphicData>
        </a:graphic>
      </p:graphicFrame>
      <p:sp>
        <p:nvSpPr>
          <p:cNvPr id="28" name="Next step note"/>
          <p:cNvSpPr txBox="1"/>
          <p:nvPr/>
        </p:nvSpPr>
        <p:spPr>
          <a:xfrm>
            <a:off x="548640" y="5440680"/>
            <a:ext cx="7955279" cy="457200"/>
          </a:xfrm>
          <a:prstGeom prst="rect">
            <a:avLst/>
          </a:prstGeom>
          <a:noFill/>
        </p:spPr>
        <p:txBody>
          <a:bodyPr wrap="square" lIns="0" rIns="0" tIns="0" bIns="0" anchor="t">
            <a:spAutoFit/>
          </a:bodyPr>
          <a:lstStyle/>
          <a:p>
            <a:r>
              <a:rPr sz="1400" b="1">
                <a:solidFill>
                  <a:schemeClr val="tx2"/>
                </a:solidFill>
              </a:rPr>
              <a:t>Next: finalise the org structure and succession plan by December; pilot the performance framework by Q3.</a:t>
            </a:r>
          </a:p>
        </p:txBody>
      </p:sp>
      <p:sp>
        <p:nvSpPr>
          <p:cNvPr id="29" name="Overall status card"/>
          <p:cNvSpPr/>
          <p:nvPr/>
        </p:nvSpPr>
        <p:spPr>
          <a:xfrm>
            <a:off x="8732520" y="1371600"/>
            <a:ext cx="290779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erall status"/>
          <p:cNvSpPr txBox="1"/>
          <p:nvPr/>
        </p:nvSpPr>
        <p:spPr>
          <a:xfrm>
            <a:off x="8961120" y="1463040"/>
            <a:ext cx="2450592" cy="1188720"/>
          </a:xfrm>
          <a:prstGeom prst="rect">
            <a:avLst/>
          </a:prstGeom>
          <a:noFill/>
        </p:spPr>
        <p:txBody>
          <a:bodyPr wrap="square" lIns="0" rIns="0" tIns="0" bIns="0" anchor="ctr">
            <a:spAutoFit/>
          </a:bodyPr>
          <a:lstStyle/>
          <a:p>
            <a:r>
              <a:rPr sz="2800" b="1">
                <a:solidFill>
                  <a:schemeClr val="tx2"/>
                </a:solidFill>
                <a:latin typeface="Cambria"/>
              </a:rPr>
              <a:t>On plan</a:t>
            </a:r>
          </a:p>
          <a:p>
            <a:r>
              <a:rPr sz="1500" b="1">
                <a:solidFill>
                  <a:schemeClr val="tx1"/>
                </a:solidFill>
              </a:rPr>
              <a:t>Overall status</a:t>
            </a:r>
          </a:p>
          <a:p>
            <a:r>
              <a:rPr sz="1200" b="0">
                <a:solidFill>
                  <a:schemeClr val="accent5"/>
                </a:solidFill>
              </a:rPr>
              <a:t>2 completed, 2 in progress</a:t>
            </a:r>
          </a:p>
        </p:txBody>
      </p:sp>
      <p:sp>
        <p:nvSpPr>
          <p:cNvPr id="31" name="Overall satisfaction card"/>
          <p:cNvSpPr/>
          <p:nvPr/>
        </p:nvSpPr>
        <p:spPr>
          <a:xfrm>
            <a:off x="8732520" y="2880360"/>
            <a:ext cx="290779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erall satisfaction"/>
          <p:cNvSpPr txBox="1"/>
          <p:nvPr/>
        </p:nvSpPr>
        <p:spPr>
          <a:xfrm>
            <a:off x="8961120" y="2971800"/>
            <a:ext cx="2450592" cy="1188720"/>
          </a:xfrm>
          <a:prstGeom prst="rect">
            <a:avLst/>
          </a:prstGeom>
          <a:noFill/>
        </p:spPr>
        <p:txBody>
          <a:bodyPr wrap="square" lIns="0" rIns="0" tIns="0" bIns="0" anchor="ctr">
            <a:spAutoFit/>
          </a:bodyPr>
          <a:lstStyle/>
          <a:p>
            <a:r>
              <a:rPr sz="2800" b="1">
                <a:solidFill>
                  <a:srgbClr val="D1495B"/>
                </a:solidFill>
                <a:latin typeface="Cambria"/>
              </a:rPr>
              <a:t>40%</a:t>
            </a:r>
          </a:p>
          <a:p>
            <a:r>
              <a:rPr sz="1500" b="1">
                <a:solidFill>
                  <a:schemeClr val="tx1"/>
                </a:solidFill>
              </a:rPr>
              <a:t>Overall satisfaction</a:t>
            </a:r>
          </a:p>
          <a:p>
            <a:r>
              <a:rPr sz="1200" b="0">
                <a:solidFill>
                  <a:schemeClr val="accent5"/>
                </a:solidFill>
              </a:rPr>
              <a:t>Target is above 50%</a:t>
            </a:r>
          </a:p>
        </p:txBody>
      </p:sp>
      <p:sp>
        <p:nvSpPr>
          <p:cNvPr id="33" name="Org structure due card"/>
          <p:cNvSpPr/>
          <p:nvPr/>
        </p:nvSpPr>
        <p:spPr>
          <a:xfrm>
            <a:off x="8732520" y="4389120"/>
            <a:ext cx="290779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rg structure due"/>
          <p:cNvSpPr txBox="1"/>
          <p:nvPr/>
        </p:nvSpPr>
        <p:spPr>
          <a:xfrm>
            <a:off x="8961120" y="4480559"/>
            <a:ext cx="2450592" cy="1188720"/>
          </a:xfrm>
          <a:prstGeom prst="rect">
            <a:avLst/>
          </a:prstGeom>
          <a:noFill/>
        </p:spPr>
        <p:txBody>
          <a:bodyPr wrap="square" lIns="0" rIns="0" tIns="0" bIns="0" anchor="ctr">
            <a:spAutoFit/>
          </a:bodyPr>
          <a:lstStyle/>
          <a:p>
            <a:r>
              <a:rPr sz="2800" b="1">
                <a:solidFill>
                  <a:schemeClr val="tx2"/>
                </a:solidFill>
                <a:latin typeface="Cambria"/>
              </a:rPr>
              <a:t>Q2</a:t>
            </a:r>
          </a:p>
          <a:p>
            <a:r>
              <a:rPr sz="1500" b="1">
                <a:solidFill>
                  <a:schemeClr val="tx1"/>
                </a:solidFill>
              </a:rPr>
              <a:t>Org structure due</a:t>
            </a:r>
          </a:p>
          <a:p>
            <a:r>
              <a:rPr sz="1200" b="0">
                <a:solidFill>
                  <a:schemeClr val="accent5"/>
                </a:solidFill>
              </a:rPr>
              <a:t>Succession plan by 31 December</a:t>
            </a:r>
          </a:p>
        </p:txBody>
      </p:sp>
      <p:sp>
        <p:nvSpPr>
          <p:cNvPr id="35" name="Source note"/>
          <p:cNvSpPr txBox="1"/>
          <p:nvPr/>
        </p:nvSpPr>
        <p:spPr>
          <a:xfrm>
            <a:off x="548640" y="6053328"/>
            <a:ext cx="11064240" cy="274320"/>
          </a:xfrm>
          <a:prstGeom prst="rect">
            <a:avLst/>
          </a:prstGeom>
          <a:noFill/>
        </p:spPr>
        <p:txBody>
          <a:bodyPr wrap="square" lIns="0" rIns="0" tIns="0" bIns="0" anchor="t">
            <a:spAutoFit/>
          </a:bodyPr>
          <a:lstStyle/>
          <a:p>
            <a:r>
              <a:rPr sz="1000" b="0" i="1">
                <a:solidFill>
                  <a:schemeClr val="accent5"/>
                </a:solidFill>
              </a:rPr>
              <a:t>Source: HR &amp; Operations objective tracker; Q1 HR Report; Q1 FY26/27 KPI Status.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Workforce: headcount grew from 15 to 17</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8</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2  Q1 PERFORMANCE REVIEW</a:t>
            </a:r>
          </a:p>
        </p:txBody>
      </p:sp>
      <p:graphicFrame>
        <p:nvGraphicFramePr>
          <p:cNvPr id="27" name="Headcount chart"/>
          <p:cNvGraphicFramePr>
            <a:graphicFrameLocks noGrp="1"/>
          </p:cNvGraphicFramePr>
          <p:nvPr/>
        </p:nvGraphicFramePr>
        <p:xfrm>
          <a:off x="548640" y="1280160"/>
          <a:ext cx="6583680" cy="4663440"/>
        </p:xfrm>
        <a:graphic>
          <a:graphicData uri="http://schemas.openxmlformats.org/drawingml/2006/chart">
            <c:chart xmlns:c="http://schemas.openxmlformats.org/drawingml/2006/chart" r:id="rId3"/>
          </a:graphicData>
        </a:graphic>
      </p:graphicFrame>
      <p:sp>
        <p:nvSpPr>
          <p:cNvPr id="28" name="Net headcount change card"/>
          <p:cNvSpPr/>
          <p:nvPr/>
        </p:nvSpPr>
        <p:spPr>
          <a:xfrm>
            <a:off x="7498079" y="1371600"/>
            <a:ext cx="414223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et headcount change"/>
          <p:cNvSpPr txBox="1"/>
          <p:nvPr/>
        </p:nvSpPr>
        <p:spPr>
          <a:xfrm>
            <a:off x="7726679" y="1463040"/>
            <a:ext cx="3685032" cy="1188720"/>
          </a:xfrm>
          <a:prstGeom prst="rect">
            <a:avLst/>
          </a:prstGeom>
          <a:noFill/>
        </p:spPr>
        <p:txBody>
          <a:bodyPr wrap="square" lIns="0" rIns="0" tIns="0" bIns="0" anchor="ctr">
            <a:spAutoFit/>
          </a:bodyPr>
          <a:lstStyle/>
          <a:p>
            <a:r>
              <a:rPr sz="2800" b="1">
                <a:solidFill>
                  <a:schemeClr val="tx2"/>
                </a:solidFill>
                <a:latin typeface="Cambria"/>
              </a:rPr>
              <a:t>+2</a:t>
            </a:r>
          </a:p>
          <a:p>
            <a:r>
              <a:rPr sz="1500" b="1">
                <a:solidFill>
                  <a:schemeClr val="tx1"/>
                </a:solidFill>
              </a:rPr>
              <a:t>Net headcount change</a:t>
            </a:r>
          </a:p>
          <a:p>
            <a:r>
              <a:rPr sz="1200" b="0">
                <a:solidFill>
                  <a:schemeClr val="accent5"/>
                </a:solidFill>
              </a:rPr>
              <a:t>15 to 17; both hires are consultants; no exits</a:t>
            </a:r>
          </a:p>
        </p:txBody>
      </p:sp>
      <p:sp>
        <p:nvSpPr>
          <p:cNvPr id="30" name="BA positions filled card"/>
          <p:cNvSpPr/>
          <p:nvPr/>
        </p:nvSpPr>
        <p:spPr>
          <a:xfrm>
            <a:off x="7498079" y="2880360"/>
            <a:ext cx="414223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 positions filled"/>
          <p:cNvSpPr txBox="1"/>
          <p:nvPr/>
        </p:nvSpPr>
        <p:spPr>
          <a:xfrm>
            <a:off x="7726679" y="2971800"/>
            <a:ext cx="3685032" cy="1188720"/>
          </a:xfrm>
          <a:prstGeom prst="rect">
            <a:avLst/>
          </a:prstGeom>
          <a:noFill/>
        </p:spPr>
        <p:txBody>
          <a:bodyPr wrap="square" lIns="0" rIns="0" tIns="0" bIns="0" anchor="ctr">
            <a:spAutoFit/>
          </a:bodyPr>
          <a:lstStyle/>
          <a:p>
            <a:r>
              <a:rPr sz="2800" b="1">
                <a:solidFill>
                  <a:schemeClr val="tx2"/>
                </a:solidFill>
                <a:latin typeface="Cambria"/>
              </a:rPr>
              <a:t>3 of 5</a:t>
            </a:r>
          </a:p>
          <a:p>
            <a:r>
              <a:rPr sz="1500" b="1">
                <a:solidFill>
                  <a:schemeClr val="tx1"/>
                </a:solidFill>
              </a:rPr>
              <a:t>BA positions filled</a:t>
            </a:r>
          </a:p>
          <a:p>
            <a:r>
              <a:rPr sz="1200" b="0">
                <a:solidFill>
                  <a:schemeClr val="accent5"/>
                </a:solidFill>
              </a:rPr>
              <a:t>Safaricom outlets; recruitment suspended in September</a:t>
            </a:r>
          </a:p>
        </p:txBody>
      </p:sp>
      <p:sp>
        <p:nvSpPr>
          <p:cNvPr id="32" name="Internal developer hired card"/>
          <p:cNvSpPr/>
          <p:nvPr/>
        </p:nvSpPr>
        <p:spPr>
          <a:xfrm>
            <a:off x="7498079" y="4389120"/>
            <a:ext cx="414223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nternal developer hired"/>
          <p:cNvSpPr txBox="1"/>
          <p:nvPr/>
        </p:nvSpPr>
        <p:spPr>
          <a:xfrm>
            <a:off x="7726679" y="4480559"/>
            <a:ext cx="3685032" cy="1188720"/>
          </a:xfrm>
          <a:prstGeom prst="rect">
            <a:avLst/>
          </a:prstGeom>
          <a:noFill/>
        </p:spPr>
        <p:txBody>
          <a:bodyPr wrap="square" lIns="0" rIns="0" tIns="0" bIns="0" anchor="ctr">
            <a:spAutoFit/>
          </a:bodyPr>
          <a:lstStyle/>
          <a:p>
            <a:r>
              <a:rPr sz="2800" b="1">
                <a:solidFill>
                  <a:schemeClr val="tx2"/>
                </a:solidFill>
                <a:latin typeface="Cambria"/>
              </a:rPr>
              <a:t>1</a:t>
            </a:r>
          </a:p>
          <a:p>
            <a:r>
              <a:rPr sz="1500" b="1">
                <a:solidFill>
                  <a:schemeClr val="tx1"/>
                </a:solidFill>
              </a:rPr>
              <a:t>Internal developer hired</a:t>
            </a:r>
          </a:p>
          <a:p>
            <a:r>
              <a:rPr sz="1200" b="0">
                <a:solidFill>
                  <a:schemeClr val="accent5"/>
                </a:solidFill>
              </a:rPr>
              <a:t>Consultant, mid-September; total positions to be confirmed</a:t>
            </a:r>
          </a:p>
        </p:txBody>
      </p:sp>
      <p:sp>
        <p:nvSpPr>
          <p:cNvPr id="34" name="Source note"/>
          <p:cNvSpPr txBox="1"/>
          <p:nvPr/>
        </p:nvSpPr>
        <p:spPr>
          <a:xfrm>
            <a:off x="548640" y="6053328"/>
            <a:ext cx="11064240" cy="274320"/>
          </a:xfrm>
          <a:prstGeom prst="rect">
            <a:avLst/>
          </a:prstGeom>
          <a:noFill/>
        </p:spPr>
        <p:txBody>
          <a:bodyPr wrap="square" lIns="0" rIns="0" tIns="0" bIns="0" anchor="t">
            <a:spAutoFit/>
          </a:bodyPr>
          <a:lstStyle/>
          <a:p>
            <a:r>
              <a:rPr sz="1000" b="0" i="1">
                <a:solidFill>
                  <a:schemeClr val="accent5"/>
                </a:solidFill>
              </a:rPr>
              <a:t>Source: Q1 HR Report, July to September 2026. Employee Portal training completed in July for all eligible staff.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People KPIs: 5 actions need recovery plans</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8</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2  Q1 PERFORMANCE REVIEW</a:t>
            </a:r>
          </a:p>
        </p:txBody>
      </p:sp>
      <p:sp>
        <p:nvSpPr>
          <p:cNvPr id="27" name="Survey response card"/>
          <p:cNvSpPr/>
          <p:nvPr/>
        </p:nvSpPr>
        <p:spPr>
          <a:xfrm>
            <a:off x="548640" y="1280160"/>
            <a:ext cx="359359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urvey response"/>
          <p:cNvSpPr txBox="1"/>
          <p:nvPr/>
        </p:nvSpPr>
        <p:spPr>
          <a:xfrm>
            <a:off x="777240" y="1371600"/>
            <a:ext cx="3136392" cy="1188720"/>
          </a:xfrm>
          <a:prstGeom prst="rect">
            <a:avLst/>
          </a:prstGeom>
          <a:noFill/>
        </p:spPr>
        <p:txBody>
          <a:bodyPr wrap="square" lIns="0" rIns="0" tIns="0" bIns="0" anchor="ctr">
            <a:spAutoFit/>
          </a:bodyPr>
          <a:lstStyle/>
          <a:p>
            <a:r>
              <a:rPr sz="2800" b="1">
                <a:solidFill>
                  <a:schemeClr val="tx2"/>
                </a:solidFill>
                <a:latin typeface="Cambria"/>
              </a:rPr>
              <a:t>50%</a:t>
            </a:r>
          </a:p>
          <a:p>
            <a:r>
              <a:rPr sz="1500" b="1">
                <a:solidFill>
                  <a:schemeClr val="tx1"/>
                </a:solidFill>
              </a:rPr>
              <a:t>Survey response</a:t>
            </a:r>
          </a:p>
          <a:p>
            <a:r>
              <a:rPr sz="1200" b="0">
                <a:solidFill>
                  <a:schemeClr val="accent5"/>
                </a:solidFill>
              </a:rPr>
              <a:t>Anonymous; 31 questions in 10 sections</a:t>
            </a:r>
          </a:p>
        </p:txBody>
      </p:sp>
      <p:sp>
        <p:nvSpPr>
          <p:cNvPr id="29" name="Overall satisfaction card"/>
          <p:cNvSpPr/>
          <p:nvPr/>
        </p:nvSpPr>
        <p:spPr>
          <a:xfrm>
            <a:off x="4297680" y="1280160"/>
            <a:ext cx="359359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erall satisfaction"/>
          <p:cNvSpPr txBox="1"/>
          <p:nvPr/>
        </p:nvSpPr>
        <p:spPr>
          <a:xfrm>
            <a:off x="4526280" y="1371600"/>
            <a:ext cx="3136392" cy="1188720"/>
          </a:xfrm>
          <a:prstGeom prst="rect">
            <a:avLst/>
          </a:prstGeom>
          <a:noFill/>
        </p:spPr>
        <p:txBody>
          <a:bodyPr wrap="square" lIns="0" rIns="0" tIns="0" bIns="0" anchor="ctr">
            <a:spAutoFit/>
          </a:bodyPr>
          <a:lstStyle/>
          <a:p>
            <a:r>
              <a:rPr sz="2800" b="1">
                <a:solidFill>
                  <a:srgbClr val="D1495B"/>
                </a:solidFill>
                <a:latin typeface="Cambria"/>
              </a:rPr>
              <a:t>40%</a:t>
            </a:r>
          </a:p>
          <a:p>
            <a:r>
              <a:rPr sz="1500" b="1">
                <a:solidFill>
                  <a:schemeClr val="tx1"/>
                </a:solidFill>
              </a:rPr>
              <a:t>Overall satisfaction</a:t>
            </a:r>
          </a:p>
          <a:p>
            <a:r>
              <a:rPr sz="1200" b="0">
                <a:solidFill>
                  <a:schemeClr val="accent5"/>
                </a:solidFill>
              </a:rPr>
              <a:t>Growth and development rated highest</a:t>
            </a:r>
          </a:p>
        </p:txBody>
      </p:sp>
      <p:sp>
        <p:nvSpPr>
          <p:cNvPr id="31" name="eNPS vs target of 50 card"/>
          <p:cNvSpPr/>
          <p:nvPr/>
        </p:nvSpPr>
        <p:spPr>
          <a:xfrm>
            <a:off x="8046720" y="1280160"/>
            <a:ext cx="359359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NPS vs target of 50"/>
          <p:cNvSpPr txBox="1"/>
          <p:nvPr/>
        </p:nvSpPr>
        <p:spPr>
          <a:xfrm>
            <a:off x="8275320" y="1371600"/>
            <a:ext cx="3136392" cy="1188720"/>
          </a:xfrm>
          <a:prstGeom prst="rect">
            <a:avLst/>
          </a:prstGeom>
          <a:noFill/>
        </p:spPr>
        <p:txBody>
          <a:bodyPr wrap="square" lIns="0" rIns="0" tIns="0" bIns="0" anchor="ctr">
            <a:spAutoFit/>
          </a:bodyPr>
          <a:lstStyle/>
          <a:p>
            <a:r>
              <a:rPr sz="2800" b="1">
                <a:solidFill>
                  <a:srgbClr val="D1495B"/>
                </a:solidFill>
                <a:latin typeface="Cambria"/>
              </a:rPr>
              <a:t>Below 50</a:t>
            </a:r>
          </a:p>
          <a:p>
            <a:r>
              <a:rPr sz="1500" b="1">
                <a:solidFill>
                  <a:schemeClr val="tx1"/>
                </a:solidFill>
              </a:rPr>
              <a:t>eNPS vs target of 50</a:t>
            </a:r>
          </a:p>
          <a:p>
            <a:r>
              <a:rPr sz="1200" b="0">
                <a:solidFill>
                  <a:schemeClr val="accent5"/>
                </a:solidFill>
              </a:rPr>
              <a:t>Compensation and benefits is the main gap</a:t>
            </a:r>
          </a:p>
        </p:txBody>
      </p:sp>
      <p:sp>
        <p:nvSpPr>
          <p:cNvPr id="33" name="On plan card"/>
          <p:cNvSpPr/>
          <p:nvPr/>
        </p:nvSpPr>
        <p:spPr>
          <a:xfrm>
            <a:off x="548640" y="2788920"/>
            <a:ext cx="5440680" cy="31089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n plan heading"/>
          <p:cNvSpPr txBox="1"/>
          <p:nvPr/>
        </p:nvSpPr>
        <p:spPr>
          <a:xfrm>
            <a:off x="777240" y="2926080"/>
            <a:ext cx="4983480" cy="365760"/>
          </a:xfrm>
          <a:prstGeom prst="rect">
            <a:avLst/>
          </a:prstGeom>
          <a:noFill/>
        </p:spPr>
        <p:txBody>
          <a:bodyPr wrap="square" lIns="0" rIns="0" tIns="0" bIns="0" anchor="t">
            <a:spAutoFit/>
          </a:bodyPr>
          <a:lstStyle/>
          <a:p>
            <a:r>
              <a:rPr sz="1700" b="1">
                <a:solidFill>
                  <a:schemeClr val="tx2"/>
                </a:solidFill>
                <a:latin typeface="Cambria"/>
              </a:rPr>
              <a:t>Complete or on plan (10 of 15 due)</a:t>
            </a:r>
          </a:p>
        </p:txBody>
      </p:sp>
      <p:sp>
        <p:nvSpPr>
          <p:cNvPr id="35" name="On plan list"/>
          <p:cNvSpPr txBox="1"/>
          <p:nvPr/>
        </p:nvSpPr>
        <p:spPr>
          <a:xfrm>
            <a:off x="777240" y="3383280"/>
            <a:ext cx="5029200" cy="2468880"/>
          </a:xfrm>
          <a:prstGeom prst="rect">
            <a:avLst/>
          </a:prstGeom>
          <a:noFill/>
        </p:spPr>
        <p:txBody>
          <a:bodyPr wrap="square" lIns="0" rIns="0" tIns="0" bIns="0">
            <a:spAutoFit/>
          </a:bodyPr>
          <a:lstStyle/>
          <a:p>
            <a:pPr marL="228600" indent="-228600">
              <a:spcAft>
                <a:spcPts val="600"/>
              </a:spcAft>
              <a:buChar char="•"/>
            </a:pPr>
            <a:r>
              <a:rPr sz="1400">
                <a:solidFill>
                  <a:schemeClr val="tx1"/>
                </a:solidFill>
              </a:rPr>
              <a:t>Staff survey and bonus system complete</a:t>
            </a:r>
          </a:p>
          <a:p>
            <a:pPr marL="228600" indent="-228600">
              <a:spcAft>
                <a:spcPts val="600"/>
              </a:spcAft>
              <a:buChar char="•"/>
            </a:pPr>
            <a:r>
              <a:rPr sz="1400">
                <a:solidFill>
                  <a:schemeClr val="tx1"/>
                </a:solidFill>
              </a:rPr>
              <a:t>Bonus rules set; staff briefing pending</a:t>
            </a:r>
          </a:p>
          <a:p>
            <a:pPr marL="228600" indent="-228600">
              <a:spcAft>
                <a:spcPts val="600"/>
              </a:spcAft>
              <a:buChar char="•"/>
            </a:pPr>
            <a:r>
              <a:rPr sz="1400">
                <a:solidFill>
                  <a:schemeClr val="tx1"/>
                </a:solidFill>
              </a:rPr>
              <a:t>Onboarding programme and succession plan in place</a:t>
            </a:r>
          </a:p>
          <a:p>
            <a:pPr marL="228600" indent="-228600">
              <a:spcAft>
                <a:spcPts val="600"/>
              </a:spcAft>
              <a:buChar char="•"/>
            </a:pPr>
            <a:r>
              <a:rPr sz="1400">
                <a:solidFill>
                  <a:schemeClr val="tx1"/>
                </a:solidFill>
              </a:rPr>
              <a:t>Department OKRs and SLAs published</a:t>
            </a:r>
          </a:p>
          <a:p>
            <a:pPr marL="228600" indent="-228600">
              <a:spcAft>
                <a:spcPts val="600"/>
              </a:spcAft>
              <a:buChar char="•"/>
            </a:pPr>
            <a:r>
              <a:rPr sz="1400">
                <a:solidFill>
                  <a:schemeClr val="tx1"/>
                </a:solidFill>
              </a:rPr>
              <a:t>Q1 performance review cycle on plan</a:t>
            </a:r>
          </a:p>
        </p:txBody>
      </p:sp>
      <p:sp>
        <p:nvSpPr>
          <p:cNvPr id="36" name="Off plan card"/>
          <p:cNvSpPr/>
          <p:nvPr/>
        </p:nvSpPr>
        <p:spPr>
          <a:xfrm>
            <a:off x="6199632" y="2788920"/>
            <a:ext cx="5440680" cy="310896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ff plan heading"/>
          <p:cNvSpPr txBox="1"/>
          <p:nvPr/>
        </p:nvSpPr>
        <p:spPr>
          <a:xfrm>
            <a:off x="6428232" y="2926080"/>
            <a:ext cx="4983480" cy="365760"/>
          </a:xfrm>
          <a:prstGeom prst="rect">
            <a:avLst/>
          </a:prstGeom>
          <a:noFill/>
        </p:spPr>
        <p:txBody>
          <a:bodyPr wrap="square" lIns="0" rIns="0" tIns="0" bIns="0" anchor="t">
            <a:spAutoFit/>
          </a:bodyPr>
          <a:lstStyle/>
          <a:p>
            <a:r>
              <a:rPr sz="1700" b="1">
                <a:solidFill>
                  <a:srgbClr val="D1495B"/>
                </a:solidFill>
                <a:latin typeface="Cambria"/>
              </a:rPr>
              <a:t>Off plan, no recovery plan (5)</a:t>
            </a:r>
          </a:p>
        </p:txBody>
      </p:sp>
      <p:sp>
        <p:nvSpPr>
          <p:cNvPr id="38" name="Off plan list"/>
          <p:cNvSpPr txBox="1"/>
          <p:nvPr/>
        </p:nvSpPr>
        <p:spPr>
          <a:xfrm>
            <a:off x="6428232" y="3383280"/>
            <a:ext cx="5029200" cy="2468880"/>
          </a:xfrm>
          <a:prstGeom prst="rect">
            <a:avLst/>
          </a:prstGeom>
          <a:noFill/>
        </p:spPr>
        <p:txBody>
          <a:bodyPr wrap="square" lIns="0" rIns="0" tIns="0" bIns="0">
            <a:spAutoFit/>
          </a:bodyPr>
          <a:lstStyle/>
          <a:p>
            <a:pPr marL="228600" indent="-228600">
              <a:spcAft>
                <a:spcPts val="600"/>
              </a:spcAft>
              <a:buChar char="•"/>
            </a:pPr>
            <a:r>
              <a:rPr sz="1400">
                <a:solidFill>
                  <a:schemeClr val="tx1"/>
                </a:solidFill>
              </a:rPr>
              <a:t>Safe Space meetings: schedule the first session</a:t>
            </a:r>
          </a:p>
          <a:p>
            <a:pPr marL="228600" indent="-228600">
              <a:spcAft>
                <a:spcPts val="600"/>
              </a:spcAft>
              <a:buChar char="•"/>
            </a:pPr>
            <a:r>
              <a:rPr sz="1400">
                <a:solidFill>
                  <a:schemeClr val="tx1"/>
                </a:solidFill>
              </a:rPr>
              <a:t>Manager feedback training: agree a date and owner</a:t>
            </a:r>
          </a:p>
          <a:p>
            <a:pPr marL="228600" indent="-228600">
              <a:spcAft>
                <a:spcPts val="600"/>
              </a:spcAft>
              <a:buChar char="•"/>
            </a:pPr>
            <a:r>
              <a:rPr sz="1400">
                <a:solidFill>
                  <a:schemeClr val="tx1"/>
                </a:solidFill>
              </a:rPr>
              <a:t>Rotation pilot: define participants and hosts</a:t>
            </a:r>
          </a:p>
          <a:p>
            <a:pPr marL="228600" indent="-228600">
              <a:spcAft>
                <a:spcPts val="600"/>
              </a:spcAft>
              <a:buChar char="•"/>
            </a:pPr>
            <a:r>
              <a:rPr sz="1400">
                <a:solidFill>
                  <a:schemeClr val="tx1"/>
                </a:solidFill>
              </a:rPr>
              <a:t>Skills-gap assessment for FY26/27</a:t>
            </a:r>
          </a:p>
          <a:p>
            <a:pPr marL="228600" indent="-228600">
              <a:spcAft>
                <a:spcPts val="600"/>
              </a:spcAft>
              <a:buChar char="•"/>
            </a:pPr>
            <a:r>
              <a:rPr sz="1400">
                <a:solidFill>
                  <a:schemeClr val="tx1"/>
                </a:solidFill>
              </a:rPr>
              <a:t>Escalation paths: document for critical functions</a:t>
            </a:r>
          </a:p>
        </p:txBody>
      </p:sp>
      <p:sp>
        <p:nvSpPr>
          <p:cNvPr id="39" name="Source note"/>
          <p:cNvSpPr txBox="1"/>
          <p:nvPr/>
        </p:nvSpPr>
        <p:spPr>
          <a:xfrm>
            <a:off x="548640" y="6053328"/>
            <a:ext cx="11064240" cy="274320"/>
          </a:xfrm>
          <a:prstGeom prst="rect">
            <a:avLst/>
          </a:prstGeom>
          <a:noFill/>
        </p:spPr>
        <p:txBody>
          <a:bodyPr wrap="square" lIns="0" rIns="0" tIns="0" bIns="0" anchor="t">
            <a:spAutoFit/>
          </a:bodyPr>
          <a:lstStyle/>
          <a:p>
            <a:r>
              <a:rPr sz="1000" b="0" i="1">
                <a:solidFill>
                  <a:schemeClr val="accent5"/>
                </a:solidFill>
              </a:rPr>
              <a:t>Source: Q1 HR Report; Q1 FY26/27 KPI Status (objectives 4.1 to 4.4).</a:t>
            </a:r>
          </a:p>
        </p:txBody>
      </p:sp>
    </p:spTree>
  </p:cSld>
  <p:clrMapOvr>
    <a:masterClrMapping/>
  </p:clrMapOvr>
</p:sld>
</file>

<file path=ppt/theme/theme1.xml><?xml version="1.0" encoding="utf-8"?>
<a:theme xmlns:a="http://schemas.openxmlformats.org/drawingml/2006/main" name="LoHo FinOps">
  <a:themeElements>
    <a:clrScheme name="LoHo FinOps">
      <a:dk1>
        <a:srgbClr val="13262B"/>
      </a:dk1>
      <a:lt1>
        <a:srgbClr val="FFFFFF"/>
      </a:lt1>
      <a:dk2>
        <a:srgbClr val="0B3C49"/>
      </a:dk2>
      <a:lt2>
        <a:srgbClr val="EEF4F3"/>
      </a:lt2>
      <a:accent1>
        <a:srgbClr val="1B7F79"/>
      </a:accent1>
      <a:accent2>
        <a:srgbClr val="F2A541"/>
      </a:accent2>
      <a:accent3>
        <a:srgbClr val="D1495B"/>
      </a:accent3>
      <a:accent4>
        <a:srgbClr val="6B8F71"/>
      </a:accent4>
      <a:accent5>
        <a:srgbClr val="5C7C8A"/>
      </a:accent5>
      <a:accent6>
        <a:srgbClr val="A8C5C0"/>
      </a:accent6>
      <a:hlink>
        <a:srgbClr val="1B7F79"/>
      </a:hlink>
      <a:folHlink>
        <a:srgbClr val="5C7C8A"/>
      </a:folHlink>
    </a:clrScheme>
    <a:fontScheme name="LoHo FinO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1387</Words>
  <Application>Microsoft Office PowerPoint</Application>
  <PresentationFormat>Widescreen</PresentationFormat>
  <Paragraphs>235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LoHo FinOps</vt:lpstr>
      <vt:lpstr>Finance &amp; Operations: Q1 review and Q2 outlook</vt:lpstr>
      <vt:lpstr>Q1: Revenue reached 63% of target</vt:lpstr>
      <vt:lpstr>Sales by Product</vt:lpstr>
      <vt:lpstr>Q1 Performance </vt:lpstr>
      <vt:lpstr>Expenses</vt:lpstr>
      <vt:lpstr>Liquidity: obligations far exceed cash</vt:lpstr>
      <vt:lpstr>Q2 target: KES 28.5M, 7.5 times Q1 sales</vt:lpstr>
      <vt:lpstr>Q2 Sales target by Product and month</vt:lpstr>
      <vt:lpstr>Q2 execution: deliverables, owners and measures</vt:lpstr>
      <vt:lpstr>Q2 : October to December</vt:lpstr>
      <vt:lpstr>What we need from others</vt:lpstr>
    </vt:vector>
  </TitlesOfParts>
  <Company>LoHo Learning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Finance &amp; Operations: Q1 FY2026/27 Review and Q2 Outlook</dc:title>
  <dc:subject>PptxGenJS Presentation</dc:subject>
  <dc:creator>Finance &amp; Operations</dc:creator>
  <cp:lastModifiedBy>Joyce Kihara</cp:lastModifiedBy>
  <cp:revision>11</cp:revision>
  <dcterms:created xsi:type="dcterms:W3CDTF">2026-10-08T11:23:17Z</dcterms:created>
  <dcterms:modified xsi:type="dcterms:W3CDTF">2026-10-08T13:09:47Z</dcterms:modified>
</cp:coreProperties>
</file>